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7429500" cy="9944100"/>
  <p:notesSz cx="7429500" cy="99441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7212" y="3082671"/>
            <a:ext cx="6315075" cy="2088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221F1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14425" y="5568696"/>
            <a:ext cx="5200650" cy="248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221F1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221F1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221F1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221F1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1475" y="2287143"/>
            <a:ext cx="3231832" cy="6563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26192" y="2287143"/>
            <a:ext cx="3231832" cy="6563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221F1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9008" y="1173225"/>
            <a:ext cx="5971540" cy="1038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221F1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0108" y="2521965"/>
            <a:ext cx="6251575" cy="5716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221F1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26030" y="9248013"/>
            <a:ext cx="2377440" cy="497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1475" y="9248013"/>
            <a:ext cx="1708785" cy="497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349240" y="9248013"/>
            <a:ext cx="1708785" cy="497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bgreen@nuhs.edu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doi.org/10.1016/j.ijer.2019.04.007" TargetMode="External"/><Relationship Id="rId3" Type="http://schemas.openxmlformats.org/officeDocument/2006/relationships/hyperlink" Target="https://doi.org/10.1177/0022022120901234" TargetMode="Externa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7314" rIns="0" bIns="0" rtlCol="0" vert="horz">
            <a:spAutoFit/>
          </a:bodyPr>
          <a:lstStyle/>
          <a:p>
            <a:pPr marL="12700" marR="5080">
              <a:lnSpc>
                <a:spcPct val="76200"/>
              </a:lnSpc>
              <a:spcBef>
                <a:spcPts val="844"/>
              </a:spcBef>
            </a:pPr>
            <a:r>
              <a:rPr dirty="0" cap="small" spc="150"/>
              <a:t>Writing</a:t>
            </a:r>
            <a:r>
              <a:rPr dirty="0" cap="small" spc="-35"/>
              <a:t> </a:t>
            </a:r>
            <a:r>
              <a:rPr dirty="0" cap="small" spc="125"/>
              <a:t>narrative</a:t>
            </a:r>
            <a:r>
              <a:rPr dirty="0" cap="small" spc="-35"/>
              <a:t> </a:t>
            </a:r>
            <a:r>
              <a:rPr dirty="0" cap="small" spc="105"/>
              <a:t>literature</a:t>
            </a:r>
            <a:r>
              <a:rPr dirty="0" cap="small" spc="-40"/>
              <a:t> </a:t>
            </a:r>
            <a:r>
              <a:rPr dirty="0" cap="small" spc="135"/>
              <a:t>reviews</a:t>
            </a:r>
            <a:r>
              <a:rPr dirty="0" cap="small" spc="-35"/>
              <a:t> </a:t>
            </a:r>
            <a:r>
              <a:rPr dirty="0" cap="small" spc="-130"/>
              <a:t>for </a:t>
            </a:r>
            <a:r>
              <a:rPr dirty="0" cap="small" spc="125"/>
              <a:t>peer-</a:t>
            </a:r>
            <a:r>
              <a:rPr dirty="0" cap="small" spc="190"/>
              <a:t>reviewed</a:t>
            </a:r>
            <a:r>
              <a:rPr dirty="0" cap="small" spc="-10"/>
              <a:t> </a:t>
            </a:r>
            <a:r>
              <a:rPr dirty="0" cap="small" spc="175"/>
              <a:t>journals:secrets</a:t>
            </a:r>
            <a:r>
              <a:rPr dirty="0" cap="small" spc="-15"/>
              <a:t> </a:t>
            </a:r>
            <a:r>
              <a:rPr dirty="0" cap="small" spc="155"/>
              <a:t>of</a:t>
            </a:r>
          </a:p>
          <a:p>
            <a:pPr marL="12700">
              <a:lnSpc>
                <a:spcPts val="2480"/>
              </a:lnSpc>
            </a:pPr>
            <a:r>
              <a:rPr dirty="0" sz="2100" spc="229"/>
              <a:t>THE</a:t>
            </a:r>
            <a:r>
              <a:rPr dirty="0" sz="2100" spc="-45"/>
              <a:t> </a:t>
            </a:r>
            <a:r>
              <a:rPr dirty="0" sz="2100" spc="265"/>
              <a:t>TRADE</a:t>
            </a:r>
            <a:endParaRPr sz="21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95"/>
              </a:spcBef>
            </a:pPr>
            <a:r>
              <a:rPr dirty="0" baseline="29914" sz="975" spc="15"/>
              <a:t>a</a:t>
            </a:r>
            <a:r>
              <a:rPr dirty="0" sz="1000" spc="10"/>
              <a:t>Associate</a:t>
            </a:r>
            <a:r>
              <a:rPr dirty="0" sz="1000" spc="235"/>
              <a:t> </a:t>
            </a:r>
            <a:r>
              <a:rPr dirty="0" sz="1000" spc="10"/>
              <a:t>Editor,</a:t>
            </a:r>
            <a:r>
              <a:rPr dirty="0" sz="1000" spc="270"/>
              <a:t> </a:t>
            </a:r>
            <a:r>
              <a:rPr dirty="0" sz="1000" spc="10"/>
              <a:t>National</a:t>
            </a:r>
            <a:r>
              <a:rPr dirty="0" sz="1000" spc="254"/>
              <a:t> </a:t>
            </a:r>
            <a:r>
              <a:rPr dirty="0" sz="1000" spc="10"/>
              <a:t>University</a:t>
            </a:r>
            <a:r>
              <a:rPr dirty="0" sz="1000" spc="265"/>
              <a:t> </a:t>
            </a:r>
            <a:r>
              <a:rPr dirty="0" sz="1000" spc="10"/>
              <a:t>of</a:t>
            </a:r>
            <a:r>
              <a:rPr dirty="0" sz="1000" spc="270"/>
              <a:t> </a:t>
            </a:r>
            <a:r>
              <a:rPr dirty="0" sz="1000" spc="10"/>
              <a:t>Health</a:t>
            </a:r>
            <a:r>
              <a:rPr dirty="0" sz="1000" spc="270"/>
              <a:t> </a:t>
            </a:r>
            <a:r>
              <a:rPr dirty="0" sz="1000" spc="10"/>
              <a:t>Sciences.</a:t>
            </a:r>
            <a:r>
              <a:rPr dirty="0" sz="1000" spc="270"/>
              <a:t> </a:t>
            </a:r>
            <a:r>
              <a:rPr dirty="0" baseline="29914" sz="975" spc="15"/>
              <a:t>b</a:t>
            </a:r>
            <a:r>
              <a:rPr dirty="0" sz="1000" spc="10"/>
              <a:t>Editor,</a:t>
            </a:r>
            <a:r>
              <a:rPr dirty="0" sz="1000" spc="270"/>
              <a:t> </a:t>
            </a:r>
            <a:r>
              <a:rPr dirty="0" sz="1000" spc="10"/>
              <a:t>National</a:t>
            </a:r>
            <a:r>
              <a:rPr dirty="0" sz="1000" spc="265"/>
              <a:t> </a:t>
            </a:r>
            <a:r>
              <a:rPr dirty="0" sz="1000" spc="10"/>
              <a:t>University</a:t>
            </a:r>
            <a:r>
              <a:rPr dirty="0" sz="1000" spc="265"/>
              <a:t> </a:t>
            </a:r>
            <a:r>
              <a:rPr dirty="0" sz="1000" spc="10"/>
              <a:t>of</a:t>
            </a:r>
            <a:r>
              <a:rPr dirty="0" sz="1000" spc="254"/>
              <a:t> </a:t>
            </a:r>
            <a:r>
              <a:rPr dirty="0" sz="1000" spc="10"/>
              <a:t>Health</a:t>
            </a:r>
            <a:r>
              <a:rPr dirty="0" sz="1000" spc="270"/>
              <a:t> </a:t>
            </a:r>
            <a:r>
              <a:rPr dirty="0" sz="1000" spc="-10"/>
              <a:t>Sciences.</a:t>
            </a:r>
            <a:endParaRPr sz="1000"/>
          </a:p>
          <a:p>
            <a:pPr marL="101600">
              <a:lnSpc>
                <a:spcPct val="100000"/>
              </a:lnSpc>
              <a:spcBef>
                <a:spcPts val="5"/>
              </a:spcBef>
            </a:pPr>
            <a:r>
              <a:rPr dirty="0" baseline="29914" sz="975" spc="44"/>
              <a:t>c</a:t>
            </a:r>
            <a:r>
              <a:rPr dirty="0" sz="1000" spc="30"/>
              <a:t>Vice</a:t>
            </a:r>
            <a:r>
              <a:rPr dirty="0" sz="1000" spc="55"/>
              <a:t> </a:t>
            </a:r>
            <a:r>
              <a:rPr dirty="0" sz="1000" spc="30"/>
              <a:t>President</a:t>
            </a:r>
            <a:r>
              <a:rPr dirty="0" sz="1000" spc="55"/>
              <a:t> </a:t>
            </a:r>
            <a:r>
              <a:rPr dirty="0" sz="1000" spc="30"/>
              <a:t>of</a:t>
            </a:r>
            <a:r>
              <a:rPr dirty="0" sz="1000" spc="60"/>
              <a:t> </a:t>
            </a:r>
            <a:r>
              <a:rPr dirty="0" sz="1000" spc="30"/>
              <a:t>Academic</a:t>
            </a:r>
            <a:r>
              <a:rPr dirty="0" sz="1000" spc="60"/>
              <a:t> </a:t>
            </a:r>
            <a:r>
              <a:rPr dirty="0" sz="1000" spc="30"/>
              <a:t>Affairs</a:t>
            </a:r>
            <a:r>
              <a:rPr dirty="0" sz="1000" spc="60"/>
              <a:t> </a:t>
            </a:r>
            <a:r>
              <a:rPr dirty="0" sz="1000" spc="30"/>
              <a:t>and</a:t>
            </a:r>
            <a:r>
              <a:rPr dirty="0" sz="1000" spc="70"/>
              <a:t> </a:t>
            </a:r>
            <a:r>
              <a:rPr dirty="0" sz="1000" spc="30"/>
              <a:t>Program</a:t>
            </a:r>
            <a:r>
              <a:rPr dirty="0" sz="1000" spc="65"/>
              <a:t> </a:t>
            </a:r>
            <a:r>
              <a:rPr dirty="0" sz="1000" spc="30"/>
              <a:t>Development,</a:t>
            </a:r>
            <a:r>
              <a:rPr dirty="0" sz="1000" spc="60"/>
              <a:t> </a:t>
            </a:r>
            <a:r>
              <a:rPr dirty="0" sz="1000" spc="30"/>
              <a:t>Texas</a:t>
            </a:r>
            <a:r>
              <a:rPr dirty="0" sz="1000" spc="70"/>
              <a:t> </a:t>
            </a:r>
            <a:r>
              <a:rPr dirty="0" sz="1000" spc="30"/>
              <a:t>Chiropractic</a:t>
            </a:r>
            <a:r>
              <a:rPr dirty="0" sz="1000" spc="75"/>
              <a:t> </a:t>
            </a:r>
            <a:r>
              <a:rPr dirty="0" sz="1000" spc="-10"/>
              <a:t>College</a:t>
            </a:r>
            <a:endParaRPr sz="1000"/>
          </a:p>
          <a:p>
            <a:pPr marL="101600" marR="93980">
              <a:lnSpc>
                <a:spcPts val="1190"/>
              </a:lnSpc>
              <a:spcBef>
                <a:spcPts val="45"/>
              </a:spcBef>
            </a:pPr>
            <a:r>
              <a:rPr dirty="0" spc="20"/>
              <a:t>Submit</a:t>
            </a:r>
            <a:r>
              <a:rPr dirty="0" spc="85"/>
              <a:t> </a:t>
            </a:r>
            <a:r>
              <a:rPr dirty="0" spc="20"/>
              <a:t>requests</a:t>
            </a:r>
            <a:r>
              <a:rPr dirty="0" spc="80"/>
              <a:t> </a:t>
            </a:r>
            <a:r>
              <a:rPr dirty="0" spc="20"/>
              <a:t>for</a:t>
            </a:r>
            <a:r>
              <a:rPr dirty="0" spc="85"/>
              <a:t> </a:t>
            </a:r>
            <a:r>
              <a:rPr dirty="0" spc="20"/>
              <a:t>reprints</a:t>
            </a:r>
            <a:r>
              <a:rPr dirty="0" spc="80"/>
              <a:t> </a:t>
            </a:r>
            <a:r>
              <a:rPr dirty="0" spc="20"/>
              <a:t>to:</a:t>
            </a:r>
            <a:r>
              <a:rPr dirty="0" spc="95"/>
              <a:t> </a:t>
            </a:r>
            <a:r>
              <a:rPr dirty="0" spc="20"/>
              <a:t>Dr.</a:t>
            </a:r>
            <a:r>
              <a:rPr dirty="0" spc="100"/>
              <a:t> </a:t>
            </a:r>
            <a:r>
              <a:rPr dirty="0" spc="20"/>
              <a:t>Bart</a:t>
            </a:r>
            <a:r>
              <a:rPr dirty="0" spc="95"/>
              <a:t> </a:t>
            </a:r>
            <a:r>
              <a:rPr dirty="0" spc="20"/>
              <a:t>Green,</a:t>
            </a:r>
            <a:r>
              <a:rPr dirty="0" spc="105"/>
              <a:t> </a:t>
            </a:r>
            <a:r>
              <a:rPr dirty="0" spc="20"/>
              <a:t>National</a:t>
            </a:r>
            <a:r>
              <a:rPr dirty="0" spc="80"/>
              <a:t> </a:t>
            </a:r>
            <a:r>
              <a:rPr dirty="0" spc="20"/>
              <a:t>University</a:t>
            </a:r>
            <a:r>
              <a:rPr dirty="0" spc="100"/>
              <a:t> </a:t>
            </a:r>
            <a:r>
              <a:rPr dirty="0" spc="20"/>
              <a:t>of</a:t>
            </a:r>
            <a:r>
              <a:rPr dirty="0" spc="100"/>
              <a:t> </a:t>
            </a:r>
            <a:r>
              <a:rPr dirty="0" spc="20"/>
              <a:t>Health</a:t>
            </a:r>
            <a:r>
              <a:rPr dirty="0" spc="85"/>
              <a:t> </a:t>
            </a:r>
            <a:r>
              <a:rPr dirty="0" spc="20"/>
              <a:t>Sciences,</a:t>
            </a:r>
            <a:r>
              <a:rPr dirty="0" spc="90"/>
              <a:t> </a:t>
            </a:r>
            <a:r>
              <a:rPr dirty="0" spc="20"/>
              <a:t>200</a:t>
            </a:r>
            <a:r>
              <a:rPr dirty="0" spc="75"/>
              <a:t> </a:t>
            </a:r>
            <a:r>
              <a:rPr dirty="0" spc="20"/>
              <a:t>E.</a:t>
            </a:r>
            <a:r>
              <a:rPr dirty="0" spc="100"/>
              <a:t> </a:t>
            </a:r>
            <a:r>
              <a:rPr dirty="0" spc="20"/>
              <a:t>Roosevelt</a:t>
            </a:r>
            <a:r>
              <a:rPr dirty="0" spc="95"/>
              <a:t> </a:t>
            </a:r>
            <a:r>
              <a:rPr dirty="0" spc="-25"/>
              <a:t>Rd, </a:t>
            </a:r>
            <a:r>
              <a:rPr dirty="0" spc="10"/>
              <a:t>Lombard,</a:t>
            </a:r>
            <a:r>
              <a:rPr dirty="0" spc="180"/>
              <a:t> </a:t>
            </a:r>
            <a:r>
              <a:rPr dirty="0" spc="10"/>
              <a:t>IL</a:t>
            </a:r>
            <a:r>
              <a:rPr dirty="0" spc="195"/>
              <a:t> </a:t>
            </a:r>
            <a:r>
              <a:rPr dirty="0" spc="10"/>
              <a:t>60148,</a:t>
            </a:r>
            <a:r>
              <a:rPr dirty="0" spc="225"/>
              <a:t> </a:t>
            </a:r>
            <a:r>
              <a:rPr dirty="0" spc="-10">
                <a:hlinkClick r:id="rId2"/>
              </a:rPr>
              <a:t>bgreen@nuhs.edu</a:t>
            </a:r>
          </a:p>
          <a:p>
            <a:pPr marL="101600">
              <a:lnSpc>
                <a:spcPts val="1160"/>
              </a:lnSpc>
            </a:pPr>
            <a:r>
              <a:rPr dirty="0" spc="20"/>
              <a:t>Sources</a:t>
            </a:r>
            <a:r>
              <a:rPr dirty="0" spc="110"/>
              <a:t> </a:t>
            </a:r>
            <a:r>
              <a:rPr dirty="0" spc="20"/>
              <a:t>of</a:t>
            </a:r>
            <a:r>
              <a:rPr dirty="0" spc="125"/>
              <a:t> </a:t>
            </a:r>
            <a:r>
              <a:rPr dirty="0" spc="20"/>
              <a:t>support:</a:t>
            </a:r>
            <a:r>
              <a:rPr dirty="0" spc="114"/>
              <a:t> </a:t>
            </a:r>
            <a:r>
              <a:rPr dirty="0" spc="20"/>
              <a:t>This</a:t>
            </a:r>
            <a:r>
              <a:rPr dirty="0" spc="114"/>
              <a:t> </a:t>
            </a:r>
            <a:r>
              <a:rPr dirty="0" spc="20"/>
              <a:t>article</a:t>
            </a:r>
            <a:r>
              <a:rPr dirty="0" spc="130"/>
              <a:t> </a:t>
            </a:r>
            <a:r>
              <a:rPr dirty="0" spc="20"/>
              <a:t>is</a:t>
            </a:r>
            <a:r>
              <a:rPr dirty="0" spc="110"/>
              <a:t> </a:t>
            </a:r>
            <a:r>
              <a:rPr dirty="0" spc="20"/>
              <a:t>reprinted</a:t>
            </a:r>
            <a:r>
              <a:rPr dirty="0" spc="145"/>
              <a:t> </a:t>
            </a:r>
            <a:r>
              <a:rPr dirty="0" spc="20"/>
              <a:t>with</a:t>
            </a:r>
            <a:r>
              <a:rPr dirty="0" spc="125"/>
              <a:t> </a:t>
            </a:r>
            <a:r>
              <a:rPr dirty="0" spc="20"/>
              <a:t>permission.</a:t>
            </a:r>
            <a:r>
              <a:rPr dirty="0" spc="135"/>
              <a:t> </a:t>
            </a:r>
            <a:r>
              <a:rPr dirty="0" spc="20"/>
              <a:t>Its</a:t>
            </a:r>
            <a:r>
              <a:rPr dirty="0" spc="105"/>
              <a:t> </a:t>
            </a:r>
            <a:r>
              <a:rPr dirty="0" spc="20"/>
              <a:t>original</a:t>
            </a:r>
            <a:r>
              <a:rPr dirty="0" spc="130"/>
              <a:t> </a:t>
            </a:r>
            <a:r>
              <a:rPr dirty="0" spc="20"/>
              <a:t>citation</a:t>
            </a:r>
            <a:r>
              <a:rPr dirty="0" spc="125"/>
              <a:t> </a:t>
            </a:r>
            <a:r>
              <a:rPr dirty="0" spc="20"/>
              <a:t>is:</a:t>
            </a:r>
            <a:r>
              <a:rPr dirty="0" spc="125"/>
              <a:t> </a:t>
            </a:r>
            <a:r>
              <a:rPr dirty="0" spc="20"/>
              <a:t>Green</a:t>
            </a:r>
            <a:r>
              <a:rPr dirty="0" spc="130"/>
              <a:t> </a:t>
            </a:r>
            <a:r>
              <a:rPr dirty="0" spc="20"/>
              <a:t>BN,</a:t>
            </a:r>
            <a:r>
              <a:rPr dirty="0" spc="130"/>
              <a:t> </a:t>
            </a:r>
            <a:r>
              <a:rPr dirty="0" spc="20"/>
              <a:t>Johnson</a:t>
            </a:r>
            <a:r>
              <a:rPr dirty="0" spc="140"/>
              <a:t> </a:t>
            </a:r>
            <a:r>
              <a:rPr dirty="0" spc="-25"/>
              <a:t>CD,</a:t>
            </a:r>
          </a:p>
          <a:p>
            <a:pPr marL="101600" marR="97790">
              <a:lnSpc>
                <a:spcPts val="1190"/>
              </a:lnSpc>
              <a:spcBef>
                <a:spcPts val="50"/>
              </a:spcBef>
            </a:pPr>
            <a:r>
              <a:rPr dirty="0" spc="50"/>
              <a:t>Adams</a:t>
            </a:r>
            <a:r>
              <a:rPr dirty="0" spc="405"/>
              <a:t> </a:t>
            </a:r>
            <a:r>
              <a:rPr dirty="0"/>
              <a:t>A.</a:t>
            </a:r>
            <a:r>
              <a:rPr dirty="0" spc="420"/>
              <a:t> </a:t>
            </a:r>
            <a:r>
              <a:rPr dirty="0"/>
              <a:t>Writing</a:t>
            </a:r>
            <a:r>
              <a:rPr dirty="0" spc="405"/>
              <a:t> </a:t>
            </a:r>
            <a:r>
              <a:rPr dirty="0"/>
              <a:t>narrative</a:t>
            </a:r>
            <a:r>
              <a:rPr dirty="0" spc="390"/>
              <a:t> </a:t>
            </a:r>
            <a:r>
              <a:rPr dirty="0"/>
              <a:t>literature</a:t>
            </a:r>
            <a:r>
              <a:rPr dirty="0" spc="395"/>
              <a:t> </a:t>
            </a:r>
            <a:r>
              <a:rPr dirty="0"/>
              <a:t>reviews</a:t>
            </a:r>
            <a:r>
              <a:rPr dirty="0" spc="390"/>
              <a:t> </a:t>
            </a:r>
            <a:r>
              <a:rPr dirty="0"/>
              <a:t>for</a:t>
            </a:r>
            <a:r>
              <a:rPr dirty="0" spc="405"/>
              <a:t> </a:t>
            </a:r>
            <a:r>
              <a:rPr dirty="0"/>
              <a:t>peer-reviewed</a:t>
            </a:r>
            <a:r>
              <a:rPr dirty="0" spc="409"/>
              <a:t> </a:t>
            </a:r>
            <a:r>
              <a:rPr dirty="0"/>
              <a:t>journals:</a:t>
            </a:r>
            <a:r>
              <a:rPr dirty="0" spc="390"/>
              <a:t> </a:t>
            </a:r>
            <a:r>
              <a:rPr dirty="0"/>
              <a:t>secrets</a:t>
            </a:r>
            <a:r>
              <a:rPr dirty="0" spc="390"/>
              <a:t> </a:t>
            </a:r>
            <a:r>
              <a:rPr dirty="0"/>
              <a:t>of</a:t>
            </a:r>
            <a:r>
              <a:rPr dirty="0" spc="409"/>
              <a:t> </a:t>
            </a:r>
            <a:r>
              <a:rPr dirty="0"/>
              <a:t>the</a:t>
            </a:r>
            <a:r>
              <a:rPr dirty="0" spc="390"/>
              <a:t> </a:t>
            </a:r>
            <a:r>
              <a:rPr dirty="0"/>
              <a:t>trade.</a:t>
            </a:r>
            <a:r>
              <a:rPr dirty="0" spc="415"/>
              <a:t> </a:t>
            </a:r>
            <a:r>
              <a:rPr dirty="0"/>
              <a:t>J</a:t>
            </a:r>
            <a:r>
              <a:rPr dirty="0" spc="390"/>
              <a:t> </a:t>
            </a:r>
            <a:r>
              <a:rPr dirty="0" spc="-10"/>
              <a:t>Sports </a:t>
            </a:r>
            <a:r>
              <a:rPr dirty="0"/>
              <a:t>Chiropr</a:t>
            </a:r>
            <a:r>
              <a:rPr dirty="0" spc="350"/>
              <a:t> </a:t>
            </a:r>
            <a:r>
              <a:rPr dirty="0"/>
              <a:t>Rehabil</a:t>
            </a:r>
            <a:r>
              <a:rPr dirty="0" spc="330"/>
              <a:t> </a:t>
            </a:r>
            <a:r>
              <a:rPr dirty="0" spc="35"/>
              <a:t>2001;15:5–</a:t>
            </a:r>
            <a:r>
              <a:rPr dirty="0" spc="-25"/>
              <a:t>19.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310"/>
              </a:spcBef>
            </a:pPr>
          </a:p>
          <a:p>
            <a:pPr marL="254000">
              <a:lnSpc>
                <a:spcPct val="100000"/>
              </a:lnSpc>
            </a:pPr>
            <a:r>
              <a:rPr dirty="0" spc="-10" b="1">
                <a:latin typeface="Times New Roman"/>
                <a:cs typeface="Times New Roman"/>
              </a:rPr>
              <a:t>ABSTRACT</a:t>
            </a:r>
          </a:p>
          <a:p>
            <a:pPr algn="just" marL="254000" marR="248920">
              <a:lnSpc>
                <a:spcPct val="99500"/>
              </a:lnSpc>
              <a:spcBef>
                <a:spcPts val="5"/>
              </a:spcBef>
            </a:pPr>
            <a:r>
              <a:rPr dirty="0" i="1">
                <a:latin typeface="Times New Roman"/>
                <a:cs typeface="Times New Roman"/>
              </a:rPr>
              <a:t>Background: Contemporary school kids</a:t>
            </a:r>
            <a:r>
              <a:rPr dirty="0" spc="-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encounter</a:t>
            </a:r>
            <a:r>
              <a:rPr dirty="0" spc="-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escalating</a:t>
            </a:r>
            <a:r>
              <a:rPr dirty="0" spc="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levels</a:t>
            </a:r>
            <a:r>
              <a:rPr dirty="0" spc="-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of</a:t>
            </a:r>
            <a:r>
              <a:rPr dirty="0" spc="-1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stress,</a:t>
            </a:r>
            <a:r>
              <a:rPr dirty="0" spc="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anxiety, and emotional</a:t>
            </a:r>
            <a:r>
              <a:rPr dirty="0" spc="5" i="1">
                <a:latin typeface="Times New Roman"/>
                <a:cs typeface="Times New Roman"/>
              </a:rPr>
              <a:t> </a:t>
            </a:r>
            <a:r>
              <a:rPr dirty="0" spc="-10" i="1">
                <a:latin typeface="Times New Roman"/>
                <a:cs typeface="Times New Roman"/>
              </a:rPr>
              <a:t>instability,</a:t>
            </a:r>
            <a:r>
              <a:rPr dirty="0" spc="-1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jeopardizing</a:t>
            </a:r>
            <a:r>
              <a:rPr dirty="0" spc="8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their</a:t>
            </a:r>
            <a:r>
              <a:rPr dirty="0" spc="8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mental</a:t>
            </a:r>
            <a:r>
              <a:rPr dirty="0" spc="8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health</a:t>
            </a:r>
            <a:r>
              <a:rPr dirty="0" spc="8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and</a:t>
            </a:r>
            <a:r>
              <a:rPr dirty="0" spc="8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overall</a:t>
            </a:r>
            <a:r>
              <a:rPr dirty="0" spc="8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well-being.</a:t>
            </a:r>
            <a:r>
              <a:rPr dirty="0" spc="8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Traditional</a:t>
            </a:r>
            <a:r>
              <a:rPr dirty="0" spc="8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educational</a:t>
            </a:r>
            <a:r>
              <a:rPr dirty="0" spc="7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systems</a:t>
            </a:r>
            <a:r>
              <a:rPr dirty="0" spc="9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primarily</a:t>
            </a:r>
            <a:r>
              <a:rPr dirty="0" spc="80" i="1">
                <a:latin typeface="Times New Roman"/>
                <a:cs typeface="Times New Roman"/>
              </a:rPr>
              <a:t> </a:t>
            </a:r>
            <a:r>
              <a:rPr dirty="0" spc="-10" i="1">
                <a:latin typeface="Times New Roman"/>
                <a:cs typeface="Times New Roman"/>
              </a:rPr>
              <a:t>emphasize </a:t>
            </a:r>
            <a:r>
              <a:rPr dirty="0" i="1">
                <a:latin typeface="Times New Roman"/>
                <a:cs typeface="Times New Roman"/>
              </a:rPr>
              <a:t>academic</a:t>
            </a:r>
            <a:r>
              <a:rPr dirty="0" spc="16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success,</a:t>
            </a:r>
            <a:r>
              <a:rPr dirty="0" spc="16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frequently</a:t>
            </a:r>
            <a:r>
              <a:rPr dirty="0" spc="15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overlooking</a:t>
            </a:r>
            <a:r>
              <a:rPr dirty="0" spc="16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the</a:t>
            </a:r>
            <a:r>
              <a:rPr dirty="0" spc="16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development</a:t>
            </a:r>
            <a:r>
              <a:rPr dirty="0" spc="15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of</a:t>
            </a:r>
            <a:r>
              <a:rPr dirty="0" spc="16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values,</a:t>
            </a:r>
            <a:r>
              <a:rPr dirty="0" spc="15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emotional</a:t>
            </a:r>
            <a:r>
              <a:rPr dirty="0" spc="15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intelligence,</a:t>
            </a:r>
            <a:r>
              <a:rPr dirty="0" spc="16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and</a:t>
            </a:r>
            <a:r>
              <a:rPr dirty="0" spc="160" i="1">
                <a:latin typeface="Times New Roman"/>
                <a:cs typeface="Times New Roman"/>
              </a:rPr>
              <a:t> </a:t>
            </a:r>
            <a:r>
              <a:rPr dirty="0" spc="-10" i="1">
                <a:latin typeface="Times New Roman"/>
                <a:cs typeface="Times New Roman"/>
              </a:rPr>
              <a:t>resilience. Value-</a:t>
            </a:r>
            <a:r>
              <a:rPr dirty="0" i="1">
                <a:latin typeface="Times New Roman"/>
                <a:cs typeface="Times New Roman"/>
              </a:rPr>
              <a:t>based</a:t>
            </a:r>
            <a:r>
              <a:rPr dirty="0" spc="17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education,</a:t>
            </a:r>
            <a:r>
              <a:rPr dirty="0" spc="17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particularly</a:t>
            </a:r>
            <a:r>
              <a:rPr dirty="0" spc="16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grounded</a:t>
            </a:r>
            <a:r>
              <a:rPr dirty="0" spc="16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in</a:t>
            </a:r>
            <a:r>
              <a:rPr dirty="0" spc="17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traditional</a:t>
            </a:r>
            <a:r>
              <a:rPr dirty="0" spc="16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Indian</a:t>
            </a:r>
            <a:r>
              <a:rPr dirty="0" spc="16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wisdom,</a:t>
            </a:r>
            <a:r>
              <a:rPr dirty="0" spc="17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offers</a:t>
            </a:r>
            <a:r>
              <a:rPr dirty="0" spc="16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</a:t>
            </a:r>
            <a:r>
              <a:rPr dirty="0" spc="16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means</a:t>
            </a:r>
            <a:r>
              <a:rPr dirty="0" spc="16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to</a:t>
            </a:r>
            <a:r>
              <a:rPr dirty="0" spc="16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bridge</a:t>
            </a:r>
            <a:r>
              <a:rPr dirty="0" spc="165" i="1">
                <a:latin typeface="Times New Roman"/>
                <a:cs typeface="Times New Roman"/>
              </a:rPr>
              <a:t> </a:t>
            </a:r>
            <a:r>
              <a:rPr dirty="0" spc="-10" i="1">
                <a:latin typeface="Times New Roman"/>
                <a:cs typeface="Times New Roman"/>
              </a:rPr>
              <a:t>these divides.</a:t>
            </a:r>
          </a:p>
          <a:p>
            <a:pPr>
              <a:lnSpc>
                <a:spcPct val="100000"/>
              </a:lnSpc>
              <a:spcBef>
                <a:spcPts val="130"/>
              </a:spcBef>
            </a:pPr>
          </a:p>
          <a:p>
            <a:pPr algn="just" marL="254000" marR="241935">
              <a:lnSpc>
                <a:spcPct val="99500"/>
              </a:lnSpc>
            </a:pPr>
            <a:r>
              <a:rPr dirty="0" i="1">
                <a:latin typeface="Times New Roman"/>
                <a:cs typeface="Times New Roman"/>
              </a:rPr>
              <a:t>Methods:</a:t>
            </a:r>
            <a:r>
              <a:rPr dirty="0" spc="12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These</a:t>
            </a:r>
            <a:r>
              <a:rPr dirty="0" spc="12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reviews</a:t>
            </a:r>
            <a:r>
              <a:rPr dirty="0" spc="12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aggregated</a:t>
            </a:r>
            <a:r>
              <a:rPr dirty="0" spc="12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literature</a:t>
            </a:r>
            <a:r>
              <a:rPr dirty="0" spc="12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published</a:t>
            </a:r>
            <a:r>
              <a:rPr dirty="0" spc="13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from</a:t>
            </a:r>
            <a:r>
              <a:rPr dirty="0" spc="12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2015</a:t>
            </a:r>
            <a:r>
              <a:rPr dirty="0" spc="12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to</a:t>
            </a:r>
            <a:r>
              <a:rPr dirty="0" spc="13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2025</a:t>
            </a:r>
            <a:r>
              <a:rPr dirty="0" spc="12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from</a:t>
            </a:r>
            <a:r>
              <a:rPr dirty="0" spc="12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databases</a:t>
            </a:r>
            <a:r>
              <a:rPr dirty="0" spc="12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such</a:t>
            </a:r>
            <a:r>
              <a:rPr dirty="0" spc="13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as</a:t>
            </a:r>
            <a:r>
              <a:rPr dirty="0" spc="120" i="1">
                <a:latin typeface="Times New Roman"/>
                <a:cs typeface="Times New Roman"/>
              </a:rPr>
              <a:t> </a:t>
            </a:r>
            <a:r>
              <a:rPr dirty="0" spc="-10" i="1">
                <a:latin typeface="Times New Roman"/>
                <a:cs typeface="Times New Roman"/>
              </a:rPr>
              <a:t>Google</a:t>
            </a:r>
            <a:r>
              <a:rPr dirty="0" spc="-1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Scholar,</a:t>
            </a:r>
            <a:r>
              <a:rPr dirty="0" spc="114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PubMed,</a:t>
            </a:r>
            <a:r>
              <a:rPr dirty="0" spc="114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and</a:t>
            </a:r>
            <a:r>
              <a:rPr dirty="0" spc="114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Semantic</a:t>
            </a:r>
            <a:r>
              <a:rPr dirty="0" spc="114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Scholar.</a:t>
            </a:r>
            <a:r>
              <a:rPr dirty="0" spc="114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Studies</a:t>
            </a:r>
            <a:r>
              <a:rPr dirty="0" spc="11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were</a:t>
            </a:r>
            <a:r>
              <a:rPr dirty="0" spc="114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included</a:t>
            </a:r>
            <a:r>
              <a:rPr dirty="0" spc="12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if</a:t>
            </a:r>
            <a:r>
              <a:rPr dirty="0" spc="11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they</a:t>
            </a:r>
            <a:r>
              <a:rPr dirty="0" spc="12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investigated</a:t>
            </a:r>
            <a:r>
              <a:rPr dirty="0" spc="114" i="1">
                <a:latin typeface="Times New Roman"/>
                <a:cs typeface="Times New Roman"/>
              </a:rPr>
              <a:t> </a:t>
            </a:r>
            <a:r>
              <a:rPr dirty="0" spc="-10" i="1">
                <a:latin typeface="Times New Roman"/>
                <a:cs typeface="Times New Roman"/>
              </a:rPr>
              <a:t>value-</a:t>
            </a:r>
            <a:r>
              <a:rPr dirty="0" i="1">
                <a:latin typeface="Times New Roman"/>
                <a:cs typeface="Times New Roman"/>
              </a:rPr>
              <a:t>based</a:t>
            </a:r>
            <a:r>
              <a:rPr dirty="0" spc="12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or</a:t>
            </a:r>
            <a:r>
              <a:rPr dirty="0" spc="110" i="1">
                <a:latin typeface="Times New Roman"/>
                <a:cs typeface="Times New Roman"/>
              </a:rPr>
              <a:t> </a:t>
            </a:r>
            <a:r>
              <a:rPr dirty="0" spc="-10" i="1">
                <a:latin typeface="Times New Roman"/>
                <a:cs typeface="Times New Roman"/>
              </a:rPr>
              <a:t>life-skills </a:t>
            </a:r>
            <a:r>
              <a:rPr dirty="0" i="1">
                <a:latin typeface="Times New Roman"/>
                <a:cs typeface="Times New Roman"/>
              </a:rPr>
              <a:t>interventions</a:t>
            </a:r>
            <a:r>
              <a:rPr dirty="0" spc="27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for</a:t>
            </a:r>
            <a:r>
              <a:rPr dirty="0" spc="270" i="1">
                <a:latin typeface="Times New Roman"/>
                <a:cs typeface="Times New Roman"/>
              </a:rPr>
              <a:t> </a:t>
            </a:r>
            <a:r>
              <a:rPr dirty="0" spc="-10" i="1">
                <a:latin typeface="Times New Roman"/>
                <a:cs typeface="Times New Roman"/>
              </a:rPr>
              <a:t>school-</a:t>
            </a:r>
            <a:r>
              <a:rPr dirty="0" i="1">
                <a:latin typeface="Times New Roman"/>
                <a:cs typeface="Times New Roman"/>
              </a:rPr>
              <a:t>aged</a:t>
            </a:r>
            <a:r>
              <a:rPr dirty="0" spc="27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students</a:t>
            </a:r>
            <a:r>
              <a:rPr dirty="0" spc="27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with</a:t>
            </a:r>
            <a:r>
              <a:rPr dirty="0" spc="29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results</a:t>
            </a:r>
            <a:r>
              <a:rPr dirty="0" spc="27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pertaining</a:t>
            </a:r>
            <a:r>
              <a:rPr dirty="0" spc="27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to</a:t>
            </a:r>
            <a:r>
              <a:rPr dirty="0" spc="27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mental</a:t>
            </a:r>
            <a:r>
              <a:rPr dirty="0" spc="27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health,</a:t>
            </a:r>
            <a:r>
              <a:rPr dirty="0" spc="27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emotional</a:t>
            </a:r>
            <a:r>
              <a:rPr dirty="0" spc="27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well-being,</a:t>
            </a:r>
            <a:r>
              <a:rPr dirty="0" spc="275" i="1">
                <a:latin typeface="Times New Roman"/>
                <a:cs typeface="Times New Roman"/>
              </a:rPr>
              <a:t> </a:t>
            </a:r>
            <a:r>
              <a:rPr dirty="0" spc="-25" i="1">
                <a:latin typeface="Times New Roman"/>
                <a:cs typeface="Times New Roman"/>
              </a:rPr>
              <a:t>or </a:t>
            </a:r>
            <a:r>
              <a:rPr dirty="0" i="1">
                <a:latin typeface="Times New Roman"/>
                <a:cs typeface="Times New Roman"/>
              </a:rPr>
              <a:t>resilience.</a:t>
            </a:r>
            <a:r>
              <a:rPr dirty="0" spc="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Special</a:t>
            </a:r>
            <a:r>
              <a:rPr dirty="0" spc="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emphasis was</a:t>
            </a:r>
            <a:r>
              <a:rPr dirty="0" spc="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placed</a:t>
            </a:r>
            <a:r>
              <a:rPr dirty="0" spc="1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on</a:t>
            </a:r>
            <a:r>
              <a:rPr dirty="0" spc="1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programs incorporating</a:t>
            </a:r>
            <a:r>
              <a:rPr dirty="0" spc="1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teachings from</a:t>
            </a:r>
            <a:r>
              <a:rPr dirty="0" spc="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Basavanna’s</a:t>
            </a:r>
            <a:r>
              <a:rPr dirty="0" spc="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Vachanas,</a:t>
            </a:r>
            <a:r>
              <a:rPr dirty="0" spc="5" i="1">
                <a:latin typeface="Times New Roman"/>
                <a:cs typeface="Times New Roman"/>
              </a:rPr>
              <a:t> </a:t>
            </a:r>
            <a:r>
              <a:rPr dirty="0" spc="-25" i="1">
                <a:latin typeface="Times New Roman"/>
                <a:cs typeface="Times New Roman"/>
              </a:rPr>
              <a:t>the </a:t>
            </a:r>
            <a:r>
              <a:rPr dirty="0" i="1">
                <a:latin typeface="Times New Roman"/>
                <a:cs typeface="Times New Roman"/>
              </a:rPr>
              <a:t>Hitopadesha,</a:t>
            </a:r>
            <a:r>
              <a:rPr dirty="0" spc="-3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and</a:t>
            </a:r>
            <a:r>
              <a:rPr dirty="0" spc="-2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the</a:t>
            </a:r>
            <a:r>
              <a:rPr dirty="0" spc="-20" i="1">
                <a:latin typeface="Times New Roman"/>
                <a:cs typeface="Times New Roman"/>
              </a:rPr>
              <a:t> </a:t>
            </a:r>
            <a:r>
              <a:rPr dirty="0" spc="-10" i="1">
                <a:latin typeface="Times New Roman"/>
                <a:cs typeface="Times New Roman"/>
              </a:rPr>
              <a:t>Panchatantra.</a:t>
            </a:r>
          </a:p>
          <a:p>
            <a:pPr>
              <a:lnSpc>
                <a:spcPct val="100000"/>
              </a:lnSpc>
              <a:spcBef>
                <a:spcPts val="125"/>
              </a:spcBef>
            </a:pPr>
          </a:p>
          <a:p>
            <a:pPr algn="just" marL="254000" marR="241300">
              <a:lnSpc>
                <a:spcPct val="99500"/>
              </a:lnSpc>
              <a:spcBef>
                <a:spcPts val="5"/>
              </a:spcBef>
            </a:pPr>
            <a:r>
              <a:rPr dirty="0" i="1">
                <a:latin typeface="Times New Roman"/>
                <a:cs typeface="Times New Roman"/>
              </a:rPr>
              <a:t>Findings: Data suggests that </a:t>
            </a:r>
            <a:r>
              <a:rPr dirty="0" spc="-10" i="1">
                <a:latin typeface="Times New Roman"/>
                <a:cs typeface="Times New Roman"/>
              </a:rPr>
              <a:t>value-</a:t>
            </a:r>
            <a:r>
              <a:rPr dirty="0" i="1">
                <a:latin typeface="Times New Roman"/>
                <a:cs typeface="Times New Roman"/>
              </a:rPr>
              <a:t>oriented skill training improves emotional regulation, empathy, </a:t>
            </a:r>
            <a:r>
              <a:rPr dirty="0" spc="-10" i="1">
                <a:latin typeface="Times New Roman"/>
                <a:cs typeface="Times New Roman"/>
              </a:rPr>
              <a:t>self-</a:t>
            </a:r>
            <a:r>
              <a:rPr dirty="0" i="1">
                <a:latin typeface="Times New Roman"/>
                <a:cs typeface="Times New Roman"/>
              </a:rPr>
              <a:t>awareness,</a:t>
            </a:r>
            <a:r>
              <a:rPr dirty="0" spc="7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and</a:t>
            </a:r>
            <a:r>
              <a:rPr dirty="0" spc="7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resilience</a:t>
            </a:r>
            <a:r>
              <a:rPr dirty="0" spc="7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in</a:t>
            </a:r>
            <a:r>
              <a:rPr dirty="0" spc="7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students.</a:t>
            </a:r>
            <a:r>
              <a:rPr dirty="0" spc="7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Narrative</a:t>
            </a:r>
            <a:r>
              <a:rPr dirty="0" spc="7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techniques,</a:t>
            </a:r>
            <a:r>
              <a:rPr dirty="0" spc="8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introspective</a:t>
            </a:r>
            <a:r>
              <a:rPr dirty="0" spc="7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dialogues,</a:t>
            </a:r>
            <a:r>
              <a:rPr dirty="0" spc="6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and</a:t>
            </a:r>
            <a:r>
              <a:rPr dirty="0" spc="7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culturally</a:t>
            </a:r>
            <a:r>
              <a:rPr dirty="0" spc="70" i="1">
                <a:latin typeface="Times New Roman"/>
                <a:cs typeface="Times New Roman"/>
              </a:rPr>
              <a:t> </a:t>
            </a:r>
            <a:r>
              <a:rPr dirty="0" spc="-10" i="1">
                <a:latin typeface="Times New Roman"/>
                <a:cs typeface="Times New Roman"/>
              </a:rPr>
              <a:t>embedded</a:t>
            </a:r>
            <a:r>
              <a:rPr dirty="0" spc="-1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activities</a:t>
            </a:r>
            <a:r>
              <a:rPr dirty="0" spc="35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enhanced</a:t>
            </a:r>
            <a:r>
              <a:rPr dirty="0" spc="36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interpersonal</a:t>
            </a:r>
            <a:r>
              <a:rPr dirty="0" spc="35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interactions,</a:t>
            </a:r>
            <a:r>
              <a:rPr dirty="0" spc="35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alleviated</a:t>
            </a:r>
            <a:r>
              <a:rPr dirty="0" spc="36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anxiety,</a:t>
            </a:r>
            <a:r>
              <a:rPr dirty="0" spc="35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and</a:t>
            </a:r>
            <a:r>
              <a:rPr dirty="0" spc="36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cultivated</a:t>
            </a:r>
            <a:r>
              <a:rPr dirty="0" spc="35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moral</a:t>
            </a:r>
            <a:r>
              <a:rPr dirty="0" spc="35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awareness.</a:t>
            </a:r>
            <a:r>
              <a:rPr dirty="0" spc="355" i="1">
                <a:latin typeface="Times New Roman"/>
                <a:cs typeface="Times New Roman"/>
              </a:rPr>
              <a:t> </a:t>
            </a:r>
            <a:r>
              <a:rPr dirty="0" spc="-25" i="1">
                <a:latin typeface="Times New Roman"/>
                <a:cs typeface="Times New Roman"/>
              </a:rPr>
              <a:t>The </a:t>
            </a:r>
            <a:r>
              <a:rPr dirty="0" i="1">
                <a:latin typeface="Times New Roman"/>
                <a:cs typeface="Times New Roman"/>
              </a:rPr>
              <a:t>incorporation</a:t>
            </a:r>
            <a:r>
              <a:rPr dirty="0" spc="4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of</a:t>
            </a:r>
            <a:r>
              <a:rPr dirty="0" spc="5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indigenous</a:t>
            </a:r>
            <a:r>
              <a:rPr dirty="0" spc="5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knowledge</a:t>
            </a:r>
            <a:r>
              <a:rPr dirty="0" spc="5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enhanced</a:t>
            </a:r>
            <a:r>
              <a:rPr dirty="0" spc="5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pupils'</a:t>
            </a:r>
            <a:r>
              <a:rPr dirty="0" spc="5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cultural</a:t>
            </a:r>
            <a:r>
              <a:rPr dirty="0" spc="5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identification,</a:t>
            </a:r>
            <a:r>
              <a:rPr dirty="0" spc="5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fostering</a:t>
            </a:r>
            <a:r>
              <a:rPr dirty="0" spc="4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</a:t>
            </a:r>
            <a:r>
              <a:rPr dirty="0" spc="5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sense</a:t>
            </a:r>
            <a:r>
              <a:rPr dirty="0" spc="5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of</a:t>
            </a:r>
            <a:r>
              <a:rPr dirty="0" spc="50" i="1">
                <a:latin typeface="Times New Roman"/>
                <a:cs typeface="Times New Roman"/>
              </a:rPr>
              <a:t> </a:t>
            </a:r>
            <a:r>
              <a:rPr dirty="0" spc="-10" i="1">
                <a:latin typeface="Times New Roman"/>
                <a:cs typeface="Times New Roman"/>
              </a:rPr>
              <a:t>belonging </a:t>
            </a:r>
            <a:r>
              <a:rPr dirty="0" i="1">
                <a:latin typeface="Times New Roman"/>
                <a:cs typeface="Times New Roman"/>
              </a:rPr>
              <a:t>and</a:t>
            </a:r>
            <a:r>
              <a:rPr dirty="0" spc="34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psychological</a:t>
            </a:r>
            <a:r>
              <a:rPr dirty="0" spc="34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stability.</a:t>
            </a:r>
            <a:r>
              <a:rPr dirty="0" spc="33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Nonetheless,</a:t>
            </a:r>
            <a:r>
              <a:rPr dirty="0" spc="35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deficiencies</a:t>
            </a:r>
            <a:r>
              <a:rPr dirty="0" spc="35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were</a:t>
            </a:r>
            <a:r>
              <a:rPr dirty="0" spc="34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recognized</a:t>
            </a:r>
            <a:r>
              <a:rPr dirty="0" spc="35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regarding</a:t>
            </a:r>
            <a:r>
              <a:rPr dirty="0" spc="35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longitudinal</a:t>
            </a:r>
            <a:r>
              <a:rPr dirty="0" spc="340" i="1">
                <a:latin typeface="Times New Roman"/>
                <a:cs typeface="Times New Roman"/>
              </a:rPr>
              <a:t> </a:t>
            </a:r>
            <a:r>
              <a:rPr dirty="0" spc="-10" i="1">
                <a:latin typeface="Times New Roman"/>
                <a:cs typeface="Times New Roman"/>
              </a:rPr>
              <a:t>follow-</a:t>
            </a:r>
            <a:r>
              <a:rPr dirty="0" spc="-25" i="1">
                <a:latin typeface="Times New Roman"/>
                <a:cs typeface="Times New Roman"/>
              </a:rPr>
              <a:t>up, </a:t>
            </a:r>
            <a:r>
              <a:rPr dirty="0" i="1">
                <a:latin typeface="Times New Roman"/>
                <a:cs typeface="Times New Roman"/>
              </a:rPr>
              <a:t>standardized</a:t>
            </a:r>
            <a:r>
              <a:rPr dirty="0" spc="-5" i="1">
                <a:latin typeface="Times New Roman"/>
                <a:cs typeface="Times New Roman"/>
              </a:rPr>
              <a:t> </a:t>
            </a:r>
            <a:r>
              <a:rPr dirty="0" spc="-10" i="1">
                <a:latin typeface="Times New Roman"/>
                <a:cs typeface="Times New Roman"/>
              </a:rPr>
              <a:t>assessments </a:t>
            </a:r>
            <a:r>
              <a:rPr dirty="0" i="1">
                <a:latin typeface="Times New Roman"/>
                <a:cs typeface="Times New Roman"/>
              </a:rPr>
              <a:t>of</a:t>
            </a:r>
            <a:r>
              <a:rPr dirty="0" spc="-1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mental</a:t>
            </a:r>
            <a:r>
              <a:rPr dirty="0" spc="-1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health</a:t>
            </a:r>
            <a:r>
              <a:rPr dirty="0" spc="-2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outcomes,</a:t>
            </a:r>
            <a:r>
              <a:rPr dirty="0" spc="-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and</a:t>
            </a:r>
            <a:r>
              <a:rPr dirty="0" spc="-5" i="1">
                <a:latin typeface="Times New Roman"/>
                <a:cs typeface="Times New Roman"/>
              </a:rPr>
              <a:t> </a:t>
            </a:r>
            <a:r>
              <a:rPr dirty="0" spc="-10" i="1">
                <a:latin typeface="Times New Roman"/>
                <a:cs typeface="Times New Roman"/>
              </a:rPr>
              <a:t>extensive</a:t>
            </a:r>
            <a:r>
              <a:rPr dirty="0" spc="-5" i="1">
                <a:latin typeface="Times New Roman"/>
                <a:cs typeface="Times New Roman"/>
              </a:rPr>
              <a:t> </a:t>
            </a:r>
            <a:r>
              <a:rPr dirty="0" spc="-10" i="1">
                <a:latin typeface="Times New Roman"/>
                <a:cs typeface="Times New Roman"/>
              </a:rPr>
              <a:t>implementation.</a:t>
            </a:r>
          </a:p>
          <a:p>
            <a:pPr>
              <a:lnSpc>
                <a:spcPct val="100000"/>
              </a:lnSpc>
              <a:spcBef>
                <a:spcPts val="140"/>
              </a:spcBef>
            </a:pPr>
          </a:p>
          <a:p>
            <a:pPr algn="just" marL="254000" marR="247015">
              <a:lnSpc>
                <a:spcPct val="99200"/>
              </a:lnSpc>
            </a:pPr>
            <a:r>
              <a:rPr dirty="0" i="1">
                <a:latin typeface="Times New Roman"/>
                <a:cs typeface="Times New Roman"/>
              </a:rPr>
              <a:t>Conclusion:</a:t>
            </a:r>
            <a:r>
              <a:rPr dirty="0" spc="140" i="1">
                <a:latin typeface="Times New Roman"/>
                <a:cs typeface="Times New Roman"/>
              </a:rPr>
              <a:t> </a:t>
            </a:r>
            <a:r>
              <a:rPr dirty="0" spc="-10" i="1">
                <a:latin typeface="Times New Roman"/>
                <a:cs typeface="Times New Roman"/>
              </a:rPr>
              <a:t>Value-</a:t>
            </a:r>
            <a:r>
              <a:rPr dirty="0" i="1">
                <a:latin typeface="Times New Roman"/>
                <a:cs typeface="Times New Roman"/>
              </a:rPr>
              <a:t>based</a:t>
            </a:r>
            <a:r>
              <a:rPr dirty="0" spc="15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education,</a:t>
            </a:r>
            <a:r>
              <a:rPr dirty="0" spc="14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anchored</a:t>
            </a:r>
            <a:r>
              <a:rPr dirty="0" spc="15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in</a:t>
            </a:r>
            <a:r>
              <a:rPr dirty="0" spc="13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culturally</a:t>
            </a:r>
            <a:r>
              <a:rPr dirty="0" spc="14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significant</a:t>
            </a:r>
            <a:r>
              <a:rPr dirty="0" spc="13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narratives,</a:t>
            </a:r>
            <a:r>
              <a:rPr dirty="0" spc="14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provides</a:t>
            </a:r>
            <a:r>
              <a:rPr dirty="0" spc="14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</a:t>
            </a:r>
            <a:r>
              <a:rPr dirty="0" spc="140" i="1">
                <a:latin typeface="Times New Roman"/>
                <a:cs typeface="Times New Roman"/>
              </a:rPr>
              <a:t> </a:t>
            </a:r>
            <a:r>
              <a:rPr dirty="0" spc="-10" i="1">
                <a:latin typeface="Times New Roman"/>
                <a:cs typeface="Times New Roman"/>
              </a:rPr>
              <a:t>comprehensive</a:t>
            </a:r>
            <a:r>
              <a:rPr dirty="0" spc="-1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strategy</a:t>
            </a:r>
            <a:r>
              <a:rPr dirty="0" spc="28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for</a:t>
            </a:r>
            <a:r>
              <a:rPr dirty="0" spc="28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enhancing</a:t>
            </a:r>
            <a:r>
              <a:rPr dirty="0" spc="29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student</a:t>
            </a:r>
            <a:r>
              <a:rPr dirty="0" spc="28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mental</a:t>
            </a:r>
            <a:r>
              <a:rPr dirty="0" spc="28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health</a:t>
            </a:r>
            <a:r>
              <a:rPr dirty="0" spc="27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and</a:t>
            </a:r>
            <a:r>
              <a:rPr dirty="0" spc="28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well-being.</a:t>
            </a:r>
            <a:r>
              <a:rPr dirty="0" spc="27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Incorporating</a:t>
            </a:r>
            <a:r>
              <a:rPr dirty="0" spc="29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traditional</a:t>
            </a:r>
            <a:r>
              <a:rPr dirty="0" spc="28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Indian</a:t>
            </a:r>
            <a:r>
              <a:rPr dirty="0" spc="28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texts</a:t>
            </a:r>
            <a:r>
              <a:rPr dirty="0" spc="280" i="1">
                <a:latin typeface="Times New Roman"/>
                <a:cs typeface="Times New Roman"/>
              </a:rPr>
              <a:t> </a:t>
            </a:r>
            <a:r>
              <a:rPr dirty="0" spc="-20" i="1">
                <a:latin typeface="Times New Roman"/>
                <a:cs typeface="Times New Roman"/>
              </a:rPr>
              <a:t>into </a:t>
            </a:r>
            <a:r>
              <a:rPr dirty="0" i="1">
                <a:latin typeface="Times New Roman"/>
                <a:cs typeface="Times New Roman"/>
              </a:rPr>
              <a:t>contemporary</a:t>
            </a:r>
            <a:r>
              <a:rPr dirty="0" spc="6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curricula</a:t>
            </a:r>
            <a:r>
              <a:rPr dirty="0" spc="6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fosters</a:t>
            </a:r>
            <a:r>
              <a:rPr dirty="0" spc="6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emotional</a:t>
            </a:r>
            <a:r>
              <a:rPr dirty="0" spc="6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development</a:t>
            </a:r>
            <a:r>
              <a:rPr dirty="0" spc="6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in</a:t>
            </a:r>
            <a:r>
              <a:rPr dirty="0" spc="4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conjunction</a:t>
            </a:r>
            <a:r>
              <a:rPr dirty="0" spc="6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with</a:t>
            </a:r>
            <a:r>
              <a:rPr dirty="0" spc="6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academic</a:t>
            </a:r>
            <a:r>
              <a:rPr dirty="0" spc="6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advancement.</a:t>
            </a:r>
            <a:r>
              <a:rPr dirty="0" spc="5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This</a:t>
            </a:r>
            <a:r>
              <a:rPr dirty="0" spc="55" i="1">
                <a:latin typeface="Times New Roman"/>
                <a:cs typeface="Times New Roman"/>
              </a:rPr>
              <a:t> </a:t>
            </a:r>
            <a:r>
              <a:rPr dirty="0" spc="-10" i="1">
                <a:latin typeface="Times New Roman"/>
                <a:cs typeface="Times New Roman"/>
              </a:rPr>
              <a:t>study </a:t>
            </a:r>
            <a:r>
              <a:rPr dirty="0" i="1">
                <a:latin typeface="Times New Roman"/>
                <a:cs typeface="Times New Roman"/>
              </a:rPr>
              <a:t>emphasizes</a:t>
            </a:r>
            <a:r>
              <a:rPr dirty="0" spc="7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the</a:t>
            </a:r>
            <a:r>
              <a:rPr dirty="0" spc="8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necessity</a:t>
            </a:r>
            <a:r>
              <a:rPr dirty="0" spc="7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for</a:t>
            </a:r>
            <a:r>
              <a:rPr dirty="0" spc="8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expanded</a:t>
            </a:r>
            <a:r>
              <a:rPr dirty="0" spc="8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policy</a:t>
            </a:r>
            <a:r>
              <a:rPr dirty="0" spc="7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implementation</a:t>
            </a:r>
            <a:r>
              <a:rPr dirty="0" spc="8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and</a:t>
            </a:r>
            <a:r>
              <a:rPr dirty="0" spc="7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additional</a:t>
            </a:r>
            <a:r>
              <a:rPr dirty="0" spc="7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empirical</a:t>
            </a:r>
            <a:r>
              <a:rPr dirty="0" spc="7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investigation</a:t>
            </a:r>
            <a:r>
              <a:rPr dirty="0" spc="7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to</a:t>
            </a:r>
            <a:r>
              <a:rPr dirty="0" spc="80" i="1">
                <a:latin typeface="Times New Roman"/>
                <a:cs typeface="Times New Roman"/>
              </a:rPr>
              <a:t> </a:t>
            </a:r>
            <a:r>
              <a:rPr dirty="0" spc="-10" i="1">
                <a:latin typeface="Times New Roman"/>
                <a:cs typeface="Times New Roman"/>
              </a:rPr>
              <a:t>create </a:t>
            </a:r>
            <a:r>
              <a:rPr dirty="0" i="1">
                <a:latin typeface="Times New Roman"/>
                <a:cs typeface="Times New Roman"/>
              </a:rPr>
              <a:t>sustainable</a:t>
            </a:r>
            <a:r>
              <a:rPr dirty="0" spc="-1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frameworks</a:t>
            </a:r>
            <a:r>
              <a:rPr dirty="0" spc="-2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for</a:t>
            </a:r>
            <a:r>
              <a:rPr dirty="0" spc="-2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fostering</a:t>
            </a:r>
            <a:r>
              <a:rPr dirty="0" spc="-1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resilient,</a:t>
            </a:r>
            <a:r>
              <a:rPr dirty="0" spc="-15" i="1">
                <a:latin typeface="Times New Roman"/>
                <a:cs typeface="Times New Roman"/>
              </a:rPr>
              <a:t> </a:t>
            </a:r>
            <a:r>
              <a:rPr dirty="0" spc="-10" i="1">
                <a:latin typeface="Times New Roman"/>
                <a:cs typeface="Times New Roman"/>
              </a:rPr>
              <a:t>compassionate, </a:t>
            </a:r>
            <a:r>
              <a:rPr dirty="0" i="1">
                <a:latin typeface="Times New Roman"/>
                <a:cs typeface="Times New Roman"/>
              </a:rPr>
              <a:t>and</a:t>
            </a:r>
            <a:r>
              <a:rPr dirty="0" spc="-1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ethically</a:t>
            </a:r>
            <a:r>
              <a:rPr dirty="0" spc="-1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principled</a:t>
            </a:r>
            <a:r>
              <a:rPr dirty="0" spc="-1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young</a:t>
            </a:r>
            <a:r>
              <a:rPr dirty="0" spc="-10" i="1">
                <a:latin typeface="Times New Roman"/>
                <a:cs typeface="Times New Roman"/>
              </a:rPr>
              <a:t> citizens.</a:t>
            </a:r>
          </a:p>
          <a:p>
            <a:pPr>
              <a:lnSpc>
                <a:spcPct val="100000"/>
              </a:lnSpc>
              <a:spcBef>
                <a:spcPts val="185"/>
              </a:spcBef>
            </a:pPr>
          </a:p>
          <a:p>
            <a:pPr algn="just" marL="254000" marR="245745">
              <a:lnSpc>
                <a:spcPts val="1190"/>
              </a:lnSpc>
            </a:pPr>
            <a:r>
              <a:rPr dirty="0" spc="-10" b="1">
                <a:latin typeface="Times New Roman"/>
                <a:cs typeface="Times New Roman"/>
              </a:rPr>
              <a:t>Keywords: </a:t>
            </a:r>
            <a:r>
              <a:rPr dirty="0" spc="-10"/>
              <a:t>Value-based education,</a:t>
            </a:r>
            <a:r>
              <a:rPr dirty="0" spc="-15"/>
              <a:t> </a:t>
            </a:r>
            <a:r>
              <a:rPr dirty="0" spc="-10"/>
              <a:t>mental</a:t>
            </a:r>
            <a:r>
              <a:rPr dirty="0" spc="-15"/>
              <a:t> </a:t>
            </a:r>
            <a:r>
              <a:rPr dirty="0" spc="-10"/>
              <a:t>health,</a:t>
            </a:r>
            <a:r>
              <a:rPr dirty="0" spc="-15"/>
              <a:t> </a:t>
            </a:r>
            <a:r>
              <a:rPr dirty="0" spc="-10"/>
              <a:t>well-being, Indian traditional</a:t>
            </a:r>
            <a:r>
              <a:rPr dirty="0" spc="-15"/>
              <a:t> </a:t>
            </a:r>
            <a:r>
              <a:rPr dirty="0" spc="-10"/>
              <a:t>texts,</a:t>
            </a:r>
            <a:r>
              <a:rPr dirty="0" spc="-15"/>
              <a:t> </a:t>
            </a:r>
            <a:r>
              <a:rPr dirty="0" spc="-10"/>
              <a:t>life skills,</a:t>
            </a:r>
            <a:r>
              <a:rPr dirty="0" spc="-15"/>
              <a:t> </a:t>
            </a:r>
            <a:r>
              <a:rPr dirty="0" spc="-10"/>
              <a:t>resilience, school students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18819" y="457225"/>
            <a:ext cx="6044565" cy="405765"/>
            <a:chOff x="718819" y="457225"/>
            <a:chExt cx="6044565" cy="405765"/>
          </a:xfrm>
        </p:grpSpPr>
        <p:sp>
          <p:nvSpPr>
            <p:cNvPr id="5" name="object 5"/>
            <p:cNvSpPr/>
            <p:nvPr/>
          </p:nvSpPr>
          <p:spPr>
            <a:xfrm>
              <a:off x="718819" y="507911"/>
              <a:ext cx="6044565" cy="304165"/>
            </a:xfrm>
            <a:custGeom>
              <a:avLst/>
              <a:gdLst/>
              <a:ahLst/>
              <a:cxnLst/>
              <a:rect l="l" t="t" r="r" b="b"/>
              <a:pathLst>
                <a:path w="6044565" h="304165">
                  <a:moveTo>
                    <a:pt x="6044564" y="0"/>
                  </a:moveTo>
                  <a:lnTo>
                    <a:pt x="0" y="0"/>
                  </a:lnTo>
                  <a:lnTo>
                    <a:pt x="0" y="304126"/>
                  </a:lnTo>
                  <a:lnTo>
                    <a:pt x="6044564" y="304126"/>
                  </a:lnTo>
                  <a:lnTo>
                    <a:pt x="6044564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18819" y="469899"/>
              <a:ext cx="6044565" cy="380365"/>
            </a:xfrm>
            <a:custGeom>
              <a:avLst/>
              <a:gdLst/>
              <a:ahLst/>
              <a:cxnLst/>
              <a:rect l="l" t="t" r="r" b="b"/>
              <a:pathLst>
                <a:path w="6044565" h="380365">
                  <a:moveTo>
                    <a:pt x="0" y="0"/>
                  </a:moveTo>
                  <a:lnTo>
                    <a:pt x="6044564" y="0"/>
                  </a:lnTo>
                </a:path>
                <a:path w="6044565" h="380365">
                  <a:moveTo>
                    <a:pt x="0" y="380110"/>
                  </a:moveTo>
                  <a:lnTo>
                    <a:pt x="6044564" y="380110"/>
                  </a:lnTo>
                </a:path>
              </a:pathLst>
            </a:custGeom>
            <a:ln w="25349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69565" y="630808"/>
              <a:ext cx="797179" cy="10655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05300" y="607440"/>
              <a:ext cx="130301" cy="13055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976497" y="631951"/>
              <a:ext cx="561340" cy="104775"/>
            </a:xfrm>
            <a:custGeom>
              <a:avLst/>
              <a:gdLst/>
              <a:ahLst/>
              <a:cxnLst/>
              <a:rect l="l" t="t" r="r" b="b"/>
              <a:pathLst>
                <a:path w="561339" h="104775">
                  <a:moveTo>
                    <a:pt x="46100" y="380"/>
                  </a:moveTo>
                  <a:lnTo>
                    <a:pt x="4635" y="380"/>
                  </a:lnTo>
                  <a:lnTo>
                    <a:pt x="3810" y="634"/>
                  </a:lnTo>
                  <a:lnTo>
                    <a:pt x="762" y="2413"/>
                  </a:lnTo>
                  <a:lnTo>
                    <a:pt x="0" y="3937"/>
                  </a:lnTo>
                  <a:lnTo>
                    <a:pt x="126" y="102870"/>
                  </a:lnTo>
                  <a:lnTo>
                    <a:pt x="762" y="103504"/>
                  </a:lnTo>
                  <a:lnTo>
                    <a:pt x="1269" y="103758"/>
                  </a:lnTo>
                  <a:lnTo>
                    <a:pt x="1904" y="103886"/>
                  </a:lnTo>
                  <a:lnTo>
                    <a:pt x="2666" y="104140"/>
                  </a:lnTo>
                  <a:lnTo>
                    <a:pt x="16001" y="104140"/>
                  </a:lnTo>
                  <a:lnTo>
                    <a:pt x="16637" y="103886"/>
                  </a:lnTo>
                  <a:lnTo>
                    <a:pt x="17272" y="103758"/>
                  </a:lnTo>
                  <a:lnTo>
                    <a:pt x="17779" y="103504"/>
                  </a:lnTo>
                  <a:lnTo>
                    <a:pt x="18161" y="103124"/>
                  </a:lnTo>
                  <a:lnTo>
                    <a:pt x="18541" y="102870"/>
                  </a:lnTo>
                  <a:lnTo>
                    <a:pt x="18668" y="64643"/>
                  </a:lnTo>
                  <a:lnTo>
                    <a:pt x="43306" y="64643"/>
                  </a:lnTo>
                  <a:lnTo>
                    <a:pt x="50800" y="63753"/>
                  </a:lnTo>
                  <a:lnTo>
                    <a:pt x="75995" y="53213"/>
                  </a:lnTo>
                  <a:lnTo>
                    <a:pt x="18668" y="53213"/>
                  </a:lnTo>
                  <a:lnTo>
                    <a:pt x="18668" y="11683"/>
                  </a:lnTo>
                  <a:lnTo>
                    <a:pt x="78124" y="11683"/>
                  </a:lnTo>
                  <a:lnTo>
                    <a:pt x="77724" y="11302"/>
                  </a:lnTo>
                  <a:lnTo>
                    <a:pt x="74929" y="8890"/>
                  </a:lnTo>
                  <a:lnTo>
                    <a:pt x="71627" y="6730"/>
                  </a:lnTo>
                  <a:lnTo>
                    <a:pt x="63753" y="3428"/>
                  </a:lnTo>
                  <a:lnTo>
                    <a:pt x="60254" y="2413"/>
                  </a:lnTo>
                  <a:lnTo>
                    <a:pt x="60578" y="2413"/>
                  </a:lnTo>
                  <a:lnTo>
                    <a:pt x="52197" y="1016"/>
                  </a:lnTo>
                  <a:lnTo>
                    <a:pt x="48894" y="634"/>
                  </a:lnTo>
                  <a:lnTo>
                    <a:pt x="46100" y="380"/>
                  </a:lnTo>
                  <a:close/>
                </a:path>
                <a:path w="561339" h="104775">
                  <a:moveTo>
                    <a:pt x="78124" y="11683"/>
                  </a:moveTo>
                  <a:lnTo>
                    <a:pt x="42417" y="11683"/>
                  </a:lnTo>
                  <a:lnTo>
                    <a:pt x="49149" y="12446"/>
                  </a:lnTo>
                  <a:lnTo>
                    <a:pt x="52324" y="13334"/>
                  </a:lnTo>
                  <a:lnTo>
                    <a:pt x="66548" y="27558"/>
                  </a:lnTo>
                  <a:lnTo>
                    <a:pt x="66548" y="34798"/>
                  </a:lnTo>
                  <a:lnTo>
                    <a:pt x="41148" y="53213"/>
                  </a:lnTo>
                  <a:lnTo>
                    <a:pt x="75995" y="53213"/>
                  </a:lnTo>
                  <a:lnTo>
                    <a:pt x="77088" y="52450"/>
                  </a:lnTo>
                  <a:lnTo>
                    <a:pt x="80517" y="48895"/>
                  </a:lnTo>
                  <a:lnTo>
                    <a:pt x="85089" y="40513"/>
                  </a:lnTo>
                  <a:lnTo>
                    <a:pt x="86232" y="35814"/>
                  </a:lnTo>
                  <a:lnTo>
                    <a:pt x="86232" y="26670"/>
                  </a:lnTo>
                  <a:lnTo>
                    <a:pt x="85470" y="23114"/>
                  </a:lnTo>
                  <a:lnTo>
                    <a:pt x="84074" y="19812"/>
                  </a:lnTo>
                  <a:lnTo>
                    <a:pt x="82550" y="16637"/>
                  </a:lnTo>
                  <a:lnTo>
                    <a:pt x="80390" y="13843"/>
                  </a:lnTo>
                  <a:lnTo>
                    <a:pt x="78124" y="11683"/>
                  </a:lnTo>
                  <a:close/>
                </a:path>
                <a:path w="561339" h="104775">
                  <a:moveTo>
                    <a:pt x="153035" y="126"/>
                  </a:moveTo>
                  <a:lnTo>
                    <a:pt x="119633" y="126"/>
                  </a:lnTo>
                  <a:lnTo>
                    <a:pt x="117982" y="507"/>
                  </a:lnTo>
                  <a:lnTo>
                    <a:pt x="116458" y="1397"/>
                  </a:lnTo>
                  <a:lnTo>
                    <a:pt x="115062" y="2158"/>
                  </a:lnTo>
                  <a:lnTo>
                    <a:pt x="114300" y="3682"/>
                  </a:lnTo>
                  <a:lnTo>
                    <a:pt x="114300" y="100583"/>
                  </a:lnTo>
                  <a:lnTo>
                    <a:pt x="115062" y="102107"/>
                  </a:lnTo>
                  <a:lnTo>
                    <a:pt x="116458" y="102870"/>
                  </a:lnTo>
                  <a:lnTo>
                    <a:pt x="117982" y="103758"/>
                  </a:lnTo>
                  <a:lnTo>
                    <a:pt x="119633" y="104140"/>
                  </a:lnTo>
                  <a:lnTo>
                    <a:pt x="151002" y="104140"/>
                  </a:lnTo>
                  <a:lnTo>
                    <a:pt x="190626" y="98678"/>
                  </a:lnTo>
                  <a:lnTo>
                    <a:pt x="201744" y="92582"/>
                  </a:lnTo>
                  <a:lnTo>
                    <a:pt x="132968" y="92582"/>
                  </a:lnTo>
                  <a:lnTo>
                    <a:pt x="132968" y="11683"/>
                  </a:lnTo>
                  <a:lnTo>
                    <a:pt x="202375" y="11683"/>
                  </a:lnTo>
                  <a:lnTo>
                    <a:pt x="199262" y="9271"/>
                  </a:lnTo>
                  <a:lnTo>
                    <a:pt x="161803" y="343"/>
                  </a:lnTo>
                  <a:lnTo>
                    <a:pt x="153035" y="126"/>
                  </a:lnTo>
                  <a:close/>
                </a:path>
                <a:path w="561339" h="104775">
                  <a:moveTo>
                    <a:pt x="202375" y="11683"/>
                  </a:moveTo>
                  <a:lnTo>
                    <a:pt x="161670" y="11683"/>
                  </a:lnTo>
                  <a:lnTo>
                    <a:pt x="169544" y="12573"/>
                  </a:lnTo>
                  <a:lnTo>
                    <a:pt x="181863" y="16637"/>
                  </a:lnTo>
                  <a:lnTo>
                    <a:pt x="186943" y="19303"/>
                  </a:lnTo>
                  <a:lnTo>
                    <a:pt x="190880" y="22859"/>
                  </a:lnTo>
                  <a:lnTo>
                    <a:pt x="194944" y="26416"/>
                  </a:lnTo>
                  <a:lnTo>
                    <a:pt x="197865" y="30606"/>
                  </a:lnTo>
                  <a:lnTo>
                    <a:pt x="201675" y="40258"/>
                  </a:lnTo>
                  <a:lnTo>
                    <a:pt x="202564" y="45593"/>
                  </a:lnTo>
                  <a:lnTo>
                    <a:pt x="202564" y="58293"/>
                  </a:lnTo>
                  <a:lnTo>
                    <a:pt x="168655" y="91694"/>
                  </a:lnTo>
                  <a:lnTo>
                    <a:pt x="161162" y="92582"/>
                  </a:lnTo>
                  <a:lnTo>
                    <a:pt x="201744" y="92582"/>
                  </a:lnTo>
                  <a:lnTo>
                    <a:pt x="209930" y="86487"/>
                  </a:lnTo>
                  <a:lnTo>
                    <a:pt x="214502" y="80899"/>
                  </a:lnTo>
                  <a:lnTo>
                    <a:pt x="217550" y="74168"/>
                  </a:lnTo>
                  <a:lnTo>
                    <a:pt x="220725" y="67437"/>
                  </a:lnTo>
                  <a:lnTo>
                    <a:pt x="222250" y="59563"/>
                  </a:lnTo>
                  <a:lnTo>
                    <a:pt x="222250" y="42799"/>
                  </a:lnTo>
                  <a:lnTo>
                    <a:pt x="220725" y="35814"/>
                  </a:lnTo>
                  <a:lnTo>
                    <a:pt x="214883" y="23368"/>
                  </a:lnTo>
                  <a:lnTo>
                    <a:pt x="210565" y="18033"/>
                  </a:lnTo>
                  <a:lnTo>
                    <a:pt x="202375" y="11683"/>
                  </a:lnTo>
                  <a:close/>
                </a:path>
                <a:path w="561339" h="104775">
                  <a:moveTo>
                    <a:pt x="234526" y="103758"/>
                  </a:moveTo>
                  <a:lnTo>
                    <a:pt x="234060" y="103758"/>
                  </a:lnTo>
                  <a:lnTo>
                    <a:pt x="235838" y="104267"/>
                  </a:lnTo>
                  <a:lnTo>
                    <a:pt x="235373" y="104267"/>
                  </a:lnTo>
                  <a:lnTo>
                    <a:pt x="234526" y="103758"/>
                  </a:lnTo>
                  <a:close/>
                </a:path>
                <a:path w="561339" h="104775">
                  <a:moveTo>
                    <a:pt x="304038" y="380"/>
                  </a:moveTo>
                  <a:lnTo>
                    <a:pt x="283844" y="380"/>
                  </a:lnTo>
                  <a:lnTo>
                    <a:pt x="283210" y="762"/>
                  </a:lnTo>
                  <a:lnTo>
                    <a:pt x="234568" y="99187"/>
                  </a:lnTo>
                  <a:lnTo>
                    <a:pt x="233902" y="100456"/>
                  </a:lnTo>
                  <a:lnTo>
                    <a:pt x="233679" y="101346"/>
                  </a:lnTo>
                  <a:lnTo>
                    <a:pt x="233713" y="101853"/>
                  </a:lnTo>
                  <a:lnTo>
                    <a:pt x="233815" y="103377"/>
                  </a:lnTo>
                  <a:lnTo>
                    <a:pt x="233976" y="103377"/>
                  </a:lnTo>
                  <a:lnTo>
                    <a:pt x="234526" y="103758"/>
                  </a:lnTo>
                  <a:lnTo>
                    <a:pt x="235373" y="104267"/>
                  </a:lnTo>
                  <a:lnTo>
                    <a:pt x="249237" y="104267"/>
                  </a:lnTo>
                  <a:lnTo>
                    <a:pt x="250507" y="103758"/>
                  </a:lnTo>
                  <a:lnTo>
                    <a:pt x="250825" y="103758"/>
                  </a:lnTo>
                  <a:lnTo>
                    <a:pt x="251460" y="103377"/>
                  </a:lnTo>
                  <a:lnTo>
                    <a:pt x="251713" y="102997"/>
                  </a:lnTo>
                  <a:lnTo>
                    <a:pt x="251904" y="102997"/>
                  </a:lnTo>
                  <a:lnTo>
                    <a:pt x="252475" y="102234"/>
                  </a:lnTo>
                  <a:lnTo>
                    <a:pt x="252602" y="101853"/>
                  </a:lnTo>
                  <a:lnTo>
                    <a:pt x="264160" y="76834"/>
                  </a:lnTo>
                  <a:lnTo>
                    <a:pt x="342656" y="76834"/>
                  </a:lnTo>
                  <a:lnTo>
                    <a:pt x="337263" y="65786"/>
                  </a:lnTo>
                  <a:lnTo>
                    <a:pt x="268858" y="65786"/>
                  </a:lnTo>
                  <a:lnTo>
                    <a:pt x="293115" y="13970"/>
                  </a:lnTo>
                  <a:lnTo>
                    <a:pt x="311968" y="13970"/>
                  </a:lnTo>
                  <a:lnTo>
                    <a:pt x="306450" y="2667"/>
                  </a:lnTo>
                  <a:lnTo>
                    <a:pt x="306197" y="2031"/>
                  </a:lnTo>
                  <a:lnTo>
                    <a:pt x="305815" y="1524"/>
                  </a:lnTo>
                  <a:lnTo>
                    <a:pt x="304800" y="762"/>
                  </a:lnTo>
                  <a:lnTo>
                    <a:pt x="304038" y="380"/>
                  </a:lnTo>
                  <a:close/>
                </a:path>
                <a:path w="561339" h="104775">
                  <a:moveTo>
                    <a:pt x="335978" y="103758"/>
                  </a:moveTo>
                  <a:lnTo>
                    <a:pt x="250507" y="103758"/>
                  </a:lnTo>
                  <a:lnTo>
                    <a:pt x="249237" y="104267"/>
                  </a:lnTo>
                  <a:lnTo>
                    <a:pt x="337248" y="104267"/>
                  </a:lnTo>
                  <a:lnTo>
                    <a:pt x="335978" y="103758"/>
                  </a:lnTo>
                  <a:close/>
                </a:path>
                <a:path w="561339" h="104775">
                  <a:moveTo>
                    <a:pt x="342656" y="76834"/>
                  </a:moveTo>
                  <a:lnTo>
                    <a:pt x="322452" y="76834"/>
                  </a:lnTo>
                  <a:lnTo>
                    <a:pt x="334396" y="101853"/>
                  </a:lnTo>
                  <a:lnTo>
                    <a:pt x="337248" y="104267"/>
                  </a:lnTo>
                  <a:lnTo>
                    <a:pt x="352848" y="104267"/>
                  </a:lnTo>
                  <a:lnTo>
                    <a:pt x="353694" y="103758"/>
                  </a:lnTo>
                  <a:lnTo>
                    <a:pt x="354202" y="103377"/>
                  </a:lnTo>
                  <a:lnTo>
                    <a:pt x="354393" y="102997"/>
                  </a:lnTo>
                  <a:lnTo>
                    <a:pt x="354456" y="101346"/>
                  </a:lnTo>
                  <a:lnTo>
                    <a:pt x="354075" y="100456"/>
                  </a:lnTo>
                  <a:lnTo>
                    <a:pt x="353567" y="99187"/>
                  </a:lnTo>
                  <a:lnTo>
                    <a:pt x="342656" y="76834"/>
                  </a:lnTo>
                  <a:close/>
                </a:path>
                <a:path w="561339" h="104775">
                  <a:moveTo>
                    <a:pt x="311968" y="13970"/>
                  </a:moveTo>
                  <a:lnTo>
                    <a:pt x="293115" y="13970"/>
                  </a:lnTo>
                  <a:lnTo>
                    <a:pt x="317626" y="65786"/>
                  </a:lnTo>
                  <a:lnTo>
                    <a:pt x="337263" y="65786"/>
                  </a:lnTo>
                  <a:lnTo>
                    <a:pt x="311968" y="13970"/>
                  </a:lnTo>
                  <a:close/>
                </a:path>
                <a:path w="561339" h="104775">
                  <a:moveTo>
                    <a:pt x="302132" y="0"/>
                  </a:moveTo>
                  <a:lnTo>
                    <a:pt x="285750" y="0"/>
                  </a:lnTo>
                  <a:lnTo>
                    <a:pt x="284416" y="380"/>
                  </a:lnTo>
                  <a:lnTo>
                    <a:pt x="303657" y="380"/>
                  </a:lnTo>
                  <a:lnTo>
                    <a:pt x="302132" y="0"/>
                  </a:lnTo>
                  <a:close/>
                </a:path>
                <a:path w="561339" h="104775">
                  <a:moveTo>
                    <a:pt x="421258" y="11938"/>
                  </a:moveTo>
                  <a:lnTo>
                    <a:pt x="402589" y="11938"/>
                  </a:lnTo>
                  <a:lnTo>
                    <a:pt x="402716" y="102870"/>
                  </a:lnTo>
                  <a:lnTo>
                    <a:pt x="403351" y="103504"/>
                  </a:lnTo>
                  <a:lnTo>
                    <a:pt x="403860" y="103758"/>
                  </a:lnTo>
                  <a:lnTo>
                    <a:pt x="404494" y="103886"/>
                  </a:lnTo>
                  <a:lnTo>
                    <a:pt x="405256" y="104140"/>
                  </a:lnTo>
                  <a:lnTo>
                    <a:pt x="418591" y="104140"/>
                  </a:lnTo>
                  <a:lnTo>
                    <a:pt x="419226" y="103886"/>
                  </a:lnTo>
                  <a:lnTo>
                    <a:pt x="419988" y="103758"/>
                  </a:lnTo>
                  <a:lnTo>
                    <a:pt x="420497" y="103504"/>
                  </a:lnTo>
                  <a:lnTo>
                    <a:pt x="420750" y="103124"/>
                  </a:lnTo>
                  <a:lnTo>
                    <a:pt x="421131" y="102870"/>
                  </a:lnTo>
                  <a:lnTo>
                    <a:pt x="421258" y="11938"/>
                  </a:lnTo>
                  <a:close/>
                </a:path>
                <a:path w="561339" h="104775">
                  <a:moveTo>
                    <a:pt x="461772" y="253"/>
                  </a:moveTo>
                  <a:lnTo>
                    <a:pt x="361950" y="253"/>
                  </a:lnTo>
                  <a:lnTo>
                    <a:pt x="361061" y="634"/>
                  </a:lnTo>
                  <a:lnTo>
                    <a:pt x="360679" y="1016"/>
                  </a:lnTo>
                  <a:lnTo>
                    <a:pt x="360425" y="1524"/>
                  </a:lnTo>
                  <a:lnTo>
                    <a:pt x="360044" y="2031"/>
                  </a:lnTo>
                  <a:lnTo>
                    <a:pt x="359790" y="2667"/>
                  </a:lnTo>
                  <a:lnTo>
                    <a:pt x="359790" y="9525"/>
                  </a:lnTo>
                  <a:lnTo>
                    <a:pt x="360044" y="10159"/>
                  </a:lnTo>
                  <a:lnTo>
                    <a:pt x="360425" y="10541"/>
                  </a:lnTo>
                  <a:lnTo>
                    <a:pt x="360679" y="11049"/>
                  </a:lnTo>
                  <a:lnTo>
                    <a:pt x="361441" y="11556"/>
                  </a:lnTo>
                  <a:lnTo>
                    <a:pt x="362203" y="11938"/>
                  </a:lnTo>
                  <a:lnTo>
                    <a:pt x="461518" y="11938"/>
                  </a:lnTo>
                  <a:lnTo>
                    <a:pt x="464312" y="8000"/>
                  </a:lnTo>
                  <a:lnTo>
                    <a:pt x="464185" y="3428"/>
                  </a:lnTo>
                  <a:lnTo>
                    <a:pt x="462788" y="634"/>
                  </a:lnTo>
                  <a:lnTo>
                    <a:pt x="462533" y="634"/>
                  </a:lnTo>
                  <a:lnTo>
                    <a:pt x="461772" y="253"/>
                  </a:lnTo>
                  <a:close/>
                </a:path>
                <a:path w="561339" h="104775">
                  <a:moveTo>
                    <a:pt x="557783" y="253"/>
                  </a:moveTo>
                  <a:lnTo>
                    <a:pt x="487891" y="253"/>
                  </a:lnTo>
                  <a:lnTo>
                    <a:pt x="486240" y="634"/>
                  </a:lnTo>
                  <a:lnTo>
                    <a:pt x="486573" y="634"/>
                  </a:lnTo>
                  <a:lnTo>
                    <a:pt x="485034" y="1524"/>
                  </a:lnTo>
                  <a:lnTo>
                    <a:pt x="483869" y="2158"/>
                  </a:lnTo>
                  <a:lnTo>
                    <a:pt x="483107" y="3682"/>
                  </a:lnTo>
                  <a:lnTo>
                    <a:pt x="483107" y="100583"/>
                  </a:lnTo>
                  <a:lnTo>
                    <a:pt x="483933" y="102234"/>
                  </a:lnTo>
                  <a:lnTo>
                    <a:pt x="484102" y="102234"/>
                  </a:lnTo>
                  <a:lnTo>
                    <a:pt x="485266" y="102870"/>
                  </a:lnTo>
                  <a:lnTo>
                    <a:pt x="486790" y="103758"/>
                  </a:lnTo>
                  <a:lnTo>
                    <a:pt x="488441" y="104140"/>
                  </a:lnTo>
                  <a:lnTo>
                    <a:pt x="558292" y="104140"/>
                  </a:lnTo>
                  <a:lnTo>
                    <a:pt x="559053" y="103758"/>
                  </a:lnTo>
                  <a:lnTo>
                    <a:pt x="559308" y="103758"/>
                  </a:lnTo>
                  <a:lnTo>
                    <a:pt x="559815" y="103250"/>
                  </a:lnTo>
                  <a:lnTo>
                    <a:pt x="560577" y="102234"/>
                  </a:lnTo>
                  <a:lnTo>
                    <a:pt x="560831" y="101726"/>
                  </a:lnTo>
                  <a:lnTo>
                    <a:pt x="560958" y="100965"/>
                  </a:lnTo>
                  <a:lnTo>
                    <a:pt x="561022" y="100583"/>
                  </a:lnTo>
                  <a:lnTo>
                    <a:pt x="558545" y="92709"/>
                  </a:lnTo>
                  <a:lnTo>
                    <a:pt x="501776" y="92709"/>
                  </a:lnTo>
                  <a:lnTo>
                    <a:pt x="501776" y="55499"/>
                  </a:lnTo>
                  <a:lnTo>
                    <a:pt x="549656" y="55499"/>
                  </a:lnTo>
                  <a:lnTo>
                    <a:pt x="550417" y="55118"/>
                  </a:lnTo>
                  <a:lnTo>
                    <a:pt x="550799" y="55118"/>
                  </a:lnTo>
                  <a:lnTo>
                    <a:pt x="551306" y="54609"/>
                  </a:lnTo>
                  <a:lnTo>
                    <a:pt x="551561" y="54228"/>
                  </a:lnTo>
                  <a:lnTo>
                    <a:pt x="551941" y="53848"/>
                  </a:lnTo>
                  <a:lnTo>
                    <a:pt x="552195" y="53213"/>
                  </a:lnTo>
                  <a:lnTo>
                    <a:pt x="552323" y="52577"/>
                  </a:lnTo>
                  <a:lnTo>
                    <a:pt x="552323" y="47371"/>
                  </a:lnTo>
                  <a:lnTo>
                    <a:pt x="552195" y="46608"/>
                  </a:lnTo>
                  <a:lnTo>
                    <a:pt x="551941" y="46100"/>
                  </a:lnTo>
                  <a:lnTo>
                    <a:pt x="551561" y="45593"/>
                  </a:lnTo>
                  <a:lnTo>
                    <a:pt x="551306" y="45212"/>
                  </a:lnTo>
                  <a:lnTo>
                    <a:pt x="550926" y="44830"/>
                  </a:lnTo>
                  <a:lnTo>
                    <a:pt x="549910" y="44323"/>
                  </a:lnTo>
                  <a:lnTo>
                    <a:pt x="501776" y="44323"/>
                  </a:lnTo>
                  <a:lnTo>
                    <a:pt x="501776" y="11683"/>
                  </a:lnTo>
                  <a:lnTo>
                    <a:pt x="557529" y="11683"/>
                  </a:lnTo>
                  <a:lnTo>
                    <a:pt x="558291" y="11302"/>
                  </a:lnTo>
                  <a:lnTo>
                    <a:pt x="560197" y="7874"/>
                  </a:lnTo>
                  <a:lnTo>
                    <a:pt x="560133" y="3682"/>
                  </a:lnTo>
                  <a:lnTo>
                    <a:pt x="559942" y="2540"/>
                  </a:lnTo>
                  <a:lnTo>
                    <a:pt x="559435" y="1524"/>
                  </a:lnTo>
                  <a:lnTo>
                    <a:pt x="559053" y="1016"/>
                  </a:lnTo>
                  <a:lnTo>
                    <a:pt x="558673" y="634"/>
                  </a:lnTo>
                  <a:lnTo>
                    <a:pt x="557783" y="2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712469" y="2520950"/>
            <a:ext cx="6044565" cy="0"/>
          </a:xfrm>
          <a:custGeom>
            <a:avLst/>
            <a:gdLst/>
            <a:ahLst/>
            <a:cxnLst/>
            <a:rect l="l" t="t" r="r" b="b"/>
            <a:pathLst>
              <a:path w="6044565" h="0">
                <a:moveTo>
                  <a:pt x="0" y="0"/>
                </a:moveTo>
                <a:lnTo>
                  <a:pt x="6044564" y="0"/>
                </a:lnTo>
              </a:path>
            </a:pathLst>
          </a:custGeom>
          <a:ln w="12673">
            <a:solidFill>
              <a:srgbClr val="22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12469" y="3642486"/>
            <a:ext cx="6044565" cy="0"/>
          </a:xfrm>
          <a:custGeom>
            <a:avLst/>
            <a:gdLst/>
            <a:ahLst/>
            <a:cxnLst/>
            <a:rect l="l" t="t" r="r" b="b"/>
            <a:pathLst>
              <a:path w="6044565" h="0">
                <a:moveTo>
                  <a:pt x="0" y="0"/>
                </a:moveTo>
                <a:lnTo>
                  <a:pt x="6044564" y="0"/>
                </a:lnTo>
              </a:path>
            </a:pathLst>
          </a:custGeom>
          <a:ln w="12673">
            <a:solidFill>
              <a:srgbClr val="22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64235" y="8616315"/>
            <a:ext cx="5740400" cy="0"/>
          </a:xfrm>
          <a:custGeom>
            <a:avLst/>
            <a:gdLst/>
            <a:ahLst/>
            <a:cxnLst/>
            <a:rect l="l" t="t" r="r" b="b"/>
            <a:pathLst>
              <a:path w="5740400" h="0">
                <a:moveTo>
                  <a:pt x="0" y="0"/>
                </a:moveTo>
                <a:lnTo>
                  <a:pt x="5740399" y="0"/>
                </a:lnTo>
              </a:path>
            </a:pathLst>
          </a:custGeom>
          <a:ln w="25349">
            <a:solidFill>
              <a:srgbClr val="221F1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63372"/>
            <a:ext cx="10744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221F1F"/>
                </a:solidFill>
                <a:latin typeface="Times New Roman"/>
                <a:cs typeface="Times New Roman"/>
              </a:rPr>
              <a:t>INTRODUCTION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860805"/>
            <a:ext cx="7835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5" b="1">
                <a:solidFill>
                  <a:srgbClr val="221F1F"/>
                </a:solidFill>
                <a:latin typeface="Times New Roman"/>
                <a:cs typeface="Times New Roman"/>
              </a:rPr>
              <a:t>Background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1162558"/>
            <a:ext cx="2964815" cy="32829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2700" marR="5080">
              <a:lnSpc>
                <a:spcPts val="1190"/>
              </a:lnSpc>
              <a:spcBef>
                <a:spcPts val="145"/>
              </a:spcBef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In</a:t>
            </a:r>
            <a:r>
              <a:rPr dirty="0" sz="1000" spc="22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today’s</a:t>
            </a:r>
            <a:r>
              <a:rPr dirty="0" sz="1000" spc="21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fast-paced</a:t>
            </a:r>
            <a:r>
              <a:rPr dirty="0" sz="1000" spc="229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1000" spc="22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competitive</a:t>
            </a:r>
            <a:r>
              <a:rPr dirty="0" sz="1000" spc="229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academic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environment,</a:t>
            </a:r>
            <a:r>
              <a:rPr dirty="0" sz="1000" spc="28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school</a:t>
            </a:r>
            <a:r>
              <a:rPr dirty="0" sz="1000" spc="28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students</a:t>
            </a:r>
            <a:r>
              <a:rPr dirty="0" sz="1000" spc="27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often</a:t>
            </a:r>
            <a:r>
              <a:rPr dirty="0" sz="1000" spc="28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face</a:t>
            </a:r>
            <a:r>
              <a:rPr dirty="0" sz="1000" spc="28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stress,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5480" y="1465834"/>
            <a:ext cx="29629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emotional</a:t>
            </a:r>
            <a:r>
              <a:rPr dirty="0" sz="1000" spc="2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imbalances,</a:t>
            </a:r>
            <a:r>
              <a:rPr dirty="0" sz="1000" spc="2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1000" spc="27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identity</a:t>
            </a:r>
            <a:r>
              <a:rPr dirty="0" sz="1000" spc="2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crises</a:t>
            </a:r>
            <a:r>
              <a:rPr dirty="0" sz="1000" spc="2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that</a:t>
            </a:r>
            <a:r>
              <a:rPr dirty="0" sz="1000" spc="25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affect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5480" y="1616710"/>
            <a:ext cx="29660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1640" algn="l"/>
                <a:tab pos="957580" algn="l"/>
                <a:tab pos="1454150" algn="l"/>
                <a:tab pos="1811655" algn="l"/>
                <a:tab pos="2353310" algn="l"/>
              </a:tabLst>
            </a:pP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their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mental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health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overall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	well-</a:t>
            </a:r>
            <a:r>
              <a:rPr dirty="0" sz="1000" spc="-20">
                <a:solidFill>
                  <a:srgbClr val="221F1F"/>
                </a:solidFill>
                <a:latin typeface="Times New Roman"/>
                <a:cs typeface="Times New Roman"/>
              </a:rPr>
              <a:t>being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5480" y="1767586"/>
            <a:ext cx="29629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(WHO,2021).</a:t>
            </a:r>
            <a:r>
              <a:rPr dirty="0" sz="1000" spc="16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While</a:t>
            </a:r>
            <a:r>
              <a:rPr dirty="0" sz="1000" spc="15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academic</a:t>
            </a:r>
            <a:r>
              <a:rPr dirty="0" sz="1000" spc="15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knowledge</a:t>
            </a:r>
            <a:r>
              <a:rPr dirty="0" sz="1000" spc="15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remains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5480" y="1919986"/>
            <a:ext cx="2964815" cy="32829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2700" marR="5080">
              <a:lnSpc>
                <a:spcPts val="1190"/>
              </a:lnSpc>
              <a:spcBef>
                <a:spcPts val="145"/>
              </a:spcBef>
            </a:pP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crucial,</a:t>
            </a:r>
            <a:r>
              <a:rPr dirty="0" sz="1000" spc="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there</a:t>
            </a:r>
            <a:r>
              <a:rPr dirty="0" sz="1000" spc="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is</a:t>
            </a:r>
            <a:r>
              <a:rPr dirty="0" sz="1000" spc="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a</a:t>
            </a:r>
            <a:r>
              <a:rPr dirty="0" sz="1000" spc="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growing</a:t>
            </a:r>
            <a:r>
              <a:rPr dirty="0" sz="1000" spc="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recognition</a:t>
            </a:r>
            <a:r>
              <a:rPr dirty="0" sz="1000" spc="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1000" spc="7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dirty="0" sz="1000" spc="5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need</a:t>
            </a:r>
            <a:r>
              <a:rPr dirty="0" sz="1000" spc="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for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holistic</a:t>
            </a:r>
            <a:r>
              <a:rPr dirty="0" sz="1000" spc="16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education</a:t>
            </a:r>
            <a:r>
              <a:rPr dirty="0" sz="1000" spc="17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that</a:t>
            </a:r>
            <a:r>
              <a:rPr dirty="0" sz="1000" spc="16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nurtures</a:t>
            </a:r>
            <a:r>
              <a:rPr dirty="0" sz="1000" spc="16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values,</a:t>
            </a:r>
            <a:r>
              <a:rPr dirty="0" sz="1000" spc="17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emotional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5480" y="2223262"/>
            <a:ext cx="29635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50900" algn="l"/>
                <a:tab pos="1205865" algn="l"/>
                <a:tab pos="1544955" algn="l"/>
                <a:tab pos="1992630" algn="l"/>
              </a:tabLst>
            </a:pP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intelligence,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1000" spc="-20">
                <a:solidFill>
                  <a:srgbClr val="221F1F"/>
                </a:solidFill>
                <a:latin typeface="Times New Roman"/>
                <a:cs typeface="Times New Roman"/>
              </a:rPr>
              <a:t>life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skills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1000" spc="35">
                <a:solidFill>
                  <a:srgbClr val="221F1F"/>
                </a:solidFill>
                <a:latin typeface="Times New Roman"/>
                <a:cs typeface="Times New Roman"/>
              </a:rPr>
              <a:t>(UNESCO,2015;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5480" y="2374138"/>
            <a:ext cx="29622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OECD,2018).</a:t>
            </a:r>
            <a:r>
              <a:rPr dirty="0" sz="1000" spc="27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Values</a:t>
            </a:r>
            <a:r>
              <a:rPr dirty="0" sz="1000" spc="26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based</a:t>
            </a:r>
            <a:r>
              <a:rPr dirty="0" sz="1000" spc="27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education</a:t>
            </a:r>
            <a:r>
              <a:rPr dirty="0" sz="1000" spc="27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not</a:t>
            </a:r>
            <a:r>
              <a:rPr dirty="0" sz="1000" spc="26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20">
                <a:solidFill>
                  <a:srgbClr val="221F1F"/>
                </a:solidFill>
                <a:latin typeface="Times New Roman"/>
                <a:cs typeface="Times New Roman"/>
              </a:rPr>
              <a:t>only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5480" y="2526538"/>
            <a:ext cx="2966085" cy="631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99400"/>
              </a:lnSpc>
              <a:spcBef>
                <a:spcPts val="100"/>
              </a:spcBef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builds</a:t>
            </a:r>
            <a:r>
              <a:rPr dirty="0" sz="1000" spc="254">
                <a:solidFill>
                  <a:srgbClr val="221F1F"/>
                </a:solidFill>
                <a:latin typeface="Times New Roman"/>
                <a:cs typeface="Times New Roman"/>
              </a:rPr>
              <a:t> 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moral</a:t>
            </a:r>
            <a:r>
              <a:rPr dirty="0" sz="1000" spc="260">
                <a:solidFill>
                  <a:srgbClr val="221F1F"/>
                </a:solidFill>
                <a:latin typeface="Times New Roman"/>
                <a:cs typeface="Times New Roman"/>
              </a:rPr>
              <a:t> 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character</a:t>
            </a:r>
            <a:r>
              <a:rPr dirty="0" sz="1000" spc="260">
                <a:solidFill>
                  <a:srgbClr val="221F1F"/>
                </a:solidFill>
                <a:latin typeface="Times New Roman"/>
                <a:cs typeface="Times New Roman"/>
              </a:rPr>
              <a:t> 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but</a:t>
            </a:r>
            <a:r>
              <a:rPr dirty="0" sz="1000" spc="254">
                <a:solidFill>
                  <a:srgbClr val="221F1F"/>
                </a:solidFill>
                <a:latin typeface="Times New Roman"/>
                <a:cs typeface="Times New Roman"/>
              </a:rPr>
              <a:t> 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also</a:t>
            </a:r>
            <a:r>
              <a:rPr dirty="0" sz="1000" spc="265">
                <a:solidFill>
                  <a:srgbClr val="221F1F"/>
                </a:solidFill>
                <a:latin typeface="Times New Roman"/>
                <a:cs typeface="Times New Roman"/>
              </a:rPr>
              <a:t>  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enhances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psychological</a:t>
            </a:r>
            <a:r>
              <a:rPr dirty="0" sz="1000" spc="28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resilience</a:t>
            </a:r>
            <a:r>
              <a:rPr dirty="0" sz="1000" spc="28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1000" spc="29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interpersonal</a:t>
            </a:r>
            <a:r>
              <a:rPr dirty="0" sz="1000" spc="29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skills,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which</a:t>
            </a:r>
            <a:r>
              <a:rPr dirty="0" sz="1000" spc="30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are</a:t>
            </a:r>
            <a:r>
              <a:rPr dirty="0" sz="1000" spc="29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essential</a:t>
            </a:r>
            <a:r>
              <a:rPr dirty="0" sz="1000" spc="29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for</a:t>
            </a:r>
            <a:r>
              <a:rPr dirty="0" sz="1000" spc="29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balanced</a:t>
            </a:r>
            <a:r>
              <a:rPr dirty="0" sz="1000" spc="30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development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(Narvaez,2006;</a:t>
            </a:r>
            <a:r>
              <a:rPr dirty="0" sz="1000" spc="2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Nair,2010).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5480" y="3284347"/>
            <a:ext cx="2966085" cy="47942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algn="just" marL="12700" marR="5080">
              <a:lnSpc>
                <a:spcPts val="1190"/>
              </a:lnSpc>
              <a:spcBef>
                <a:spcPts val="145"/>
              </a:spcBef>
            </a:pPr>
            <a:r>
              <a:rPr dirty="0" sz="1000" spc="30">
                <a:solidFill>
                  <a:srgbClr val="221F1F"/>
                </a:solidFill>
                <a:latin typeface="Times New Roman"/>
                <a:cs typeface="Times New Roman"/>
              </a:rPr>
              <a:t>This study focuses on the implementation of a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value-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based</a:t>
            </a:r>
            <a:r>
              <a:rPr dirty="0" sz="1000" spc="2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skill</a:t>
            </a:r>
            <a:r>
              <a:rPr dirty="0" sz="1000" spc="2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training</a:t>
            </a:r>
            <a:r>
              <a:rPr dirty="0" sz="1000" spc="2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program</a:t>
            </a:r>
            <a:r>
              <a:rPr dirty="0" sz="1000" spc="2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rooted</a:t>
            </a:r>
            <a:r>
              <a:rPr dirty="0" sz="1000" spc="2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in</a:t>
            </a:r>
            <a:r>
              <a:rPr dirty="0" sz="1000" spc="2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ancient</a:t>
            </a:r>
            <a:r>
              <a:rPr dirty="0" sz="1000" spc="2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Indian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wisdom</a:t>
            </a:r>
            <a:r>
              <a:rPr dirty="0" sz="1000" spc="250">
                <a:solidFill>
                  <a:srgbClr val="221F1F"/>
                </a:solidFill>
                <a:latin typeface="Times New Roman"/>
                <a:cs typeface="Times New Roman"/>
              </a:rPr>
              <a:t> 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drawn</a:t>
            </a:r>
            <a:r>
              <a:rPr dirty="0" sz="1000" spc="254">
                <a:solidFill>
                  <a:srgbClr val="221F1F"/>
                </a:solidFill>
                <a:latin typeface="Times New Roman"/>
                <a:cs typeface="Times New Roman"/>
              </a:rPr>
              <a:t> 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from</a:t>
            </a:r>
            <a:r>
              <a:rPr dirty="0" sz="1000" spc="250">
                <a:solidFill>
                  <a:srgbClr val="221F1F"/>
                </a:solidFill>
                <a:latin typeface="Times New Roman"/>
                <a:cs typeface="Times New Roman"/>
              </a:rPr>
              <a:t> 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Basavanna’s</a:t>
            </a:r>
            <a:r>
              <a:rPr dirty="0" sz="1000" spc="250">
                <a:solidFill>
                  <a:srgbClr val="221F1F"/>
                </a:solidFill>
                <a:latin typeface="Times New Roman"/>
                <a:cs typeface="Times New Roman"/>
              </a:rPr>
              <a:t>  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vachanas,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5480" y="3738498"/>
            <a:ext cx="2963545" cy="1085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99400"/>
              </a:lnSpc>
              <a:spcBef>
                <a:spcPts val="100"/>
              </a:spcBef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Hitopadesha</a:t>
            </a:r>
            <a:r>
              <a:rPr dirty="0" sz="1000" spc="28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1000" spc="29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dirty="0" sz="1000" spc="30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Panchatantra</a:t>
            </a:r>
            <a:r>
              <a:rPr dirty="0" sz="1000" spc="28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stories</a:t>
            </a:r>
            <a:r>
              <a:rPr dirty="0" sz="1000" spc="29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20">
                <a:solidFill>
                  <a:srgbClr val="221F1F"/>
                </a:solidFill>
                <a:latin typeface="Times New Roman"/>
                <a:cs typeface="Times New Roman"/>
              </a:rPr>
              <a:t>texts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known</a:t>
            </a:r>
            <a:r>
              <a:rPr dirty="0" sz="1000" spc="2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for</a:t>
            </a:r>
            <a:r>
              <a:rPr dirty="0" sz="1000" spc="27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their</a:t>
            </a:r>
            <a:r>
              <a:rPr dirty="0" sz="1000" spc="2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deep</a:t>
            </a:r>
            <a:r>
              <a:rPr dirty="0" sz="1000" spc="27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ethical,</a:t>
            </a:r>
            <a:r>
              <a:rPr dirty="0" sz="1000" spc="2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spiritual,</a:t>
            </a:r>
            <a:r>
              <a:rPr dirty="0" sz="1000" spc="2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1000" spc="2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practical </a:t>
            </a:r>
            <a:r>
              <a:rPr dirty="0" sz="1000" spc="30">
                <a:solidFill>
                  <a:srgbClr val="221F1F"/>
                </a:solidFill>
                <a:latin typeface="Times New Roman"/>
                <a:cs typeface="Times New Roman"/>
              </a:rPr>
              <a:t>life</a:t>
            </a:r>
            <a:r>
              <a:rPr dirty="0" sz="1000" spc="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30">
                <a:solidFill>
                  <a:srgbClr val="221F1F"/>
                </a:solidFill>
                <a:latin typeface="Times New Roman"/>
                <a:cs typeface="Times New Roman"/>
              </a:rPr>
              <a:t>guidance</a:t>
            </a:r>
            <a:r>
              <a:rPr dirty="0" sz="1000" spc="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30">
                <a:solidFill>
                  <a:srgbClr val="221F1F"/>
                </a:solidFill>
                <a:latin typeface="Times New Roman"/>
                <a:cs typeface="Times New Roman"/>
              </a:rPr>
              <a:t>(Ghosh,2014;</a:t>
            </a:r>
            <a:r>
              <a:rPr dirty="0" sz="1000" spc="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30">
                <a:solidFill>
                  <a:srgbClr val="221F1F"/>
                </a:solidFill>
                <a:latin typeface="Times New Roman"/>
                <a:cs typeface="Times New Roman"/>
              </a:rPr>
              <a:t>Hiremath,1996;</a:t>
            </a:r>
            <a:r>
              <a:rPr dirty="0" sz="1000" spc="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30">
                <a:solidFill>
                  <a:srgbClr val="221F1F"/>
                </a:solidFill>
                <a:latin typeface="Times New Roman"/>
                <a:cs typeface="Times New Roman"/>
              </a:rPr>
              <a:t>Singh</a:t>
            </a:r>
            <a:r>
              <a:rPr dirty="0" sz="1000" spc="10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5">
                <a:solidFill>
                  <a:srgbClr val="221F1F"/>
                </a:solidFill>
                <a:latin typeface="Times New Roman"/>
                <a:cs typeface="Times New Roman"/>
              </a:rPr>
              <a:t>&amp;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Misra,2013).</a:t>
            </a:r>
            <a:r>
              <a:rPr dirty="0" sz="1000" spc="39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These</a:t>
            </a:r>
            <a:r>
              <a:rPr dirty="0" sz="1000" spc="40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literary</a:t>
            </a:r>
            <a:r>
              <a:rPr dirty="0" sz="1000" spc="39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1000" spc="40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philosophical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sources</a:t>
            </a:r>
            <a:r>
              <a:rPr dirty="0" sz="1000" spc="3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offer</a:t>
            </a:r>
            <a:r>
              <a:rPr dirty="0" sz="1000" spc="3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rich</a:t>
            </a:r>
            <a:r>
              <a:rPr dirty="0" sz="1000" spc="3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narratives</a:t>
            </a:r>
            <a:r>
              <a:rPr dirty="0" sz="1000" spc="3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1000" spc="3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teachings</a:t>
            </a:r>
            <a:r>
              <a:rPr dirty="0" sz="1000" spc="3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that</a:t>
            </a:r>
            <a:r>
              <a:rPr dirty="0" sz="1000" spc="3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can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influence</a:t>
            </a:r>
            <a:r>
              <a:rPr dirty="0" sz="1000" spc="13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students’</a:t>
            </a:r>
            <a:r>
              <a:rPr dirty="0" sz="1000" spc="15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behavior,</a:t>
            </a:r>
            <a:r>
              <a:rPr dirty="0" sz="1000" spc="14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emotional</a:t>
            </a:r>
            <a:r>
              <a:rPr dirty="0" sz="1000" spc="14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regulation,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1000" spc="330">
                <a:solidFill>
                  <a:srgbClr val="221F1F"/>
                </a:solidFill>
                <a:latin typeface="Times New Roman"/>
                <a:cs typeface="Times New Roman"/>
              </a:rPr>
              <a:t> 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decision-making</a:t>
            </a:r>
            <a:r>
              <a:rPr dirty="0" sz="1000" spc="335">
                <a:solidFill>
                  <a:srgbClr val="221F1F"/>
                </a:solidFill>
                <a:latin typeface="Times New Roman"/>
                <a:cs typeface="Times New Roman"/>
              </a:rPr>
              <a:t> 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positively</a:t>
            </a:r>
            <a:r>
              <a:rPr dirty="0" sz="1000" spc="330">
                <a:solidFill>
                  <a:srgbClr val="221F1F"/>
                </a:solidFill>
                <a:latin typeface="Times New Roman"/>
                <a:cs typeface="Times New Roman"/>
              </a:rPr>
              <a:t> 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(Kumar</a:t>
            </a:r>
            <a:r>
              <a:rPr dirty="0" sz="1000" spc="335">
                <a:solidFill>
                  <a:srgbClr val="221F1F"/>
                </a:solidFill>
                <a:latin typeface="Times New Roman"/>
                <a:cs typeface="Times New Roman"/>
              </a:rPr>
              <a:t>   </a:t>
            </a:r>
            <a:r>
              <a:rPr dirty="0" sz="1000" spc="15">
                <a:solidFill>
                  <a:srgbClr val="221F1F"/>
                </a:solidFill>
                <a:latin typeface="Times New Roman"/>
                <a:cs typeface="Times New Roman"/>
              </a:rPr>
              <a:t>&amp;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5480" y="4799457"/>
            <a:ext cx="2964180" cy="480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99500"/>
              </a:lnSpc>
              <a:spcBef>
                <a:spcPts val="100"/>
              </a:spcBef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Pathak,2017;</a:t>
            </a:r>
            <a:r>
              <a:rPr dirty="0" sz="1000" spc="4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Singh</a:t>
            </a:r>
            <a:r>
              <a:rPr dirty="0" sz="1000" spc="12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65">
                <a:solidFill>
                  <a:srgbClr val="221F1F"/>
                </a:solidFill>
                <a:latin typeface="Times New Roman"/>
                <a:cs typeface="Times New Roman"/>
              </a:rPr>
              <a:t>&amp;</a:t>
            </a:r>
            <a:r>
              <a:rPr dirty="0" sz="1000" spc="12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Misra,2013)</a:t>
            </a:r>
            <a:r>
              <a:rPr dirty="0" sz="1000" spc="13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By</a:t>
            </a:r>
            <a:r>
              <a:rPr dirty="0" sz="1000" spc="13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integrating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such</a:t>
            </a:r>
            <a:r>
              <a:rPr dirty="0" sz="1000" spc="41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value-laden</a:t>
            </a:r>
            <a:r>
              <a:rPr dirty="0" sz="1000" spc="41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content</a:t>
            </a:r>
            <a:r>
              <a:rPr dirty="0" sz="1000" spc="4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into</a:t>
            </a:r>
            <a:r>
              <a:rPr dirty="0" sz="1000" spc="41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life</a:t>
            </a:r>
            <a:r>
              <a:rPr dirty="0" sz="1000" spc="41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skills</a:t>
            </a:r>
            <a:r>
              <a:rPr dirty="0" sz="1000" spc="4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education,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this</a:t>
            </a:r>
            <a:r>
              <a:rPr dirty="0" sz="1000" spc="30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research</a:t>
            </a:r>
            <a:r>
              <a:rPr dirty="0" sz="1000" spc="3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aims</a:t>
            </a:r>
            <a:r>
              <a:rPr dirty="0" sz="1000" spc="30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to</a:t>
            </a:r>
            <a:r>
              <a:rPr dirty="0" sz="1000" spc="3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assess</a:t>
            </a:r>
            <a:r>
              <a:rPr dirty="0" sz="1000" spc="2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its</a:t>
            </a:r>
            <a:r>
              <a:rPr dirty="0" sz="1000" spc="2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impact</a:t>
            </a:r>
            <a:r>
              <a:rPr dirty="0" sz="1000" spc="2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on</a:t>
            </a:r>
            <a:r>
              <a:rPr dirty="0" sz="1000" spc="33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students’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5480" y="5253609"/>
            <a:ext cx="2967355" cy="1541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99500"/>
              </a:lnSpc>
              <a:spcBef>
                <a:spcPts val="100"/>
              </a:spcBef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mental</a:t>
            </a:r>
            <a:r>
              <a:rPr dirty="0" sz="1000" spc="27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health,</a:t>
            </a:r>
            <a:r>
              <a:rPr dirty="0" sz="1000" spc="28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emotional</a:t>
            </a:r>
            <a:r>
              <a:rPr dirty="0" sz="1000" spc="28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well-being</a:t>
            </a:r>
            <a:r>
              <a:rPr dirty="0" sz="1000" spc="29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1000" spc="28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20">
                <a:solidFill>
                  <a:srgbClr val="221F1F"/>
                </a:solidFill>
                <a:latin typeface="Times New Roman"/>
                <a:cs typeface="Times New Roman"/>
              </a:rPr>
              <a:t>moral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development</a:t>
            </a:r>
            <a:r>
              <a:rPr dirty="0" sz="1000" spc="1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45">
                <a:solidFill>
                  <a:srgbClr val="221F1F"/>
                </a:solidFill>
                <a:latin typeface="Times New Roman"/>
                <a:cs typeface="Times New Roman"/>
              </a:rPr>
              <a:t>(UNICEF,2012;</a:t>
            </a:r>
            <a:r>
              <a:rPr dirty="0" sz="1000" spc="1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Singh</a:t>
            </a:r>
            <a:r>
              <a:rPr dirty="0" sz="1000" spc="15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65">
                <a:solidFill>
                  <a:srgbClr val="221F1F"/>
                </a:solidFill>
                <a:latin typeface="Times New Roman"/>
                <a:cs typeface="Times New Roman"/>
              </a:rPr>
              <a:t>&amp;</a:t>
            </a:r>
            <a:r>
              <a:rPr dirty="0" sz="1000" spc="15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Misra</a:t>
            </a:r>
            <a:r>
              <a:rPr dirty="0" sz="1000" spc="1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2013).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dirty="0" sz="1000" spc="10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primary</a:t>
            </a:r>
            <a:r>
              <a:rPr dirty="0" sz="1000" spc="1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objective</a:t>
            </a:r>
            <a:r>
              <a:rPr dirty="0" sz="1000" spc="10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1000" spc="1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dirty="0" sz="1000" spc="10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study</a:t>
            </a:r>
            <a:r>
              <a:rPr dirty="0" sz="1000" spc="1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is</a:t>
            </a:r>
            <a:r>
              <a:rPr dirty="0" sz="1000" spc="1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to</a:t>
            </a:r>
            <a:r>
              <a:rPr dirty="0" sz="1000" spc="1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evaluate</a:t>
            </a:r>
            <a:r>
              <a:rPr dirty="0" sz="1000" spc="10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5">
                <a:solidFill>
                  <a:srgbClr val="221F1F"/>
                </a:solidFill>
                <a:latin typeface="Times New Roman"/>
                <a:cs typeface="Times New Roman"/>
              </a:rPr>
              <a:t>how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these</a:t>
            </a:r>
            <a:r>
              <a:rPr dirty="0" sz="1000" spc="2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culturally</a:t>
            </a:r>
            <a:r>
              <a:rPr dirty="0" sz="1000" spc="2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1000" spc="2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ethically</a:t>
            </a:r>
            <a:r>
              <a:rPr dirty="0" sz="1000" spc="2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enriched</a:t>
            </a:r>
            <a:r>
              <a:rPr dirty="0" sz="1000" spc="2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teachings</a:t>
            </a:r>
            <a:r>
              <a:rPr dirty="0" sz="1000" spc="229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can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foster</a:t>
            </a:r>
            <a:r>
              <a:rPr dirty="0" sz="1000" spc="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inner</a:t>
            </a:r>
            <a:r>
              <a:rPr dirty="0" sz="1000" spc="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strength</a:t>
            </a:r>
            <a:r>
              <a:rPr dirty="0" sz="1000" spc="8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empathy,</a:t>
            </a:r>
            <a:r>
              <a:rPr dirty="0" sz="1000" spc="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1000" spc="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a</a:t>
            </a:r>
            <a:r>
              <a:rPr dirty="0" sz="1000" spc="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sense</a:t>
            </a:r>
            <a:r>
              <a:rPr dirty="0" sz="1000" spc="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1000" spc="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purpose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among</a:t>
            </a:r>
            <a:r>
              <a:rPr dirty="0" sz="1000" spc="1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young</a:t>
            </a:r>
            <a:r>
              <a:rPr dirty="0" sz="1000" spc="1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learners</a:t>
            </a:r>
            <a:r>
              <a:rPr dirty="0" sz="1000" spc="1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(Narvaez,2006;</a:t>
            </a:r>
            <a:r>
              <a:rPr dirty="0" sz="1000" spc="1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Nair</a:t>
            </a:r>
            <a:r>
              <a:rPr dirty="0" sz="1000" spc="1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2010).</a:t>
            </a:r>
            <a:r>
              <a:rPr dirty="0" sz="1000" spc="1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It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further</a:t>
            </a:r>
            <a:r>
              <a:rPr dirty="0" sz="1000" spc="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aims</a:t>
            </a:r>
            <a:r>
              <a:rPr dirty="0" sz="1000" spc="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to</a:t>
            </a:r>
            <a:r>
              <a:rPr dirty="0" sz="1000" spc="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highlight</a:t>
            </a:r>
            <a:r>
              <a:rPr dirty="0" sz="1000" spc="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dirty="0" sz="1000" spc="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importance</a:t>
            </a:r>
            <a:r>
              <a:rPr dirty="0" sz="1000" spc="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1000" spc="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traditional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knowledge</a:t>
            </a:r>
            <a:r>
              <a:rPr dirty="0" sz="1000" spc="2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in</a:t>
            </a:r>
            <a:r>
              <a:rPr dirty="0" sz="1000" spc="25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shaping</a:t>
            </a:r>
            <a:r>
              <a:rPr dirty="0" sz="1000" spc="2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modern</a:t>
            </a:r>
            <a:r>
              <a:rPr dirty="0" sz="1000" spc="2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educational</a:t>
            </a:r>
            <a:r>
              <a:rPr dirty="0" sz="1000" spc="2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strategies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for</a:t>
            </a:r>
            <a:r>
              <a:rPr dirty="0" sz="1000" spc="19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sustainable</a:t>
            </a:r>
            <a:r>
              <a:rPr dirty="0" sz="1000" spc="19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emotional</a:t>
            </a:r>
            <a:r>
              <a:rPr dirty="0" sz="1000" spc="19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wellness</a:t>
            </a:r>
            <a:r>
              <a:rPr dirty="0" sz="1000" spc="19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1000" spc="19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character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formation</a:t>
            </a:r>
            <a:r>
              <a:rPr dirty="0" sz="1000" spc="17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45">
                <a:solidFill>
                  <a:srgbClr val="221F1F"/>
                </a:solidFill>
                <a:latin typeface="Times New Roman"/>
                <a:cs typeface="Times New Roman"/>
              </a:rPr>
              <a:t>(UNESCO,2015;</a:t>
            </a:r>
            <a:r>
              <a:rPr dirty="0" sz="1000" spc="1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Ghosh,2014).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6712" y="6837624"/>
            <a:ext cx="3012440" cy="201676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750"/>
              </a:spcBef>
            </a:pPr>
            <a:r>
              <a:rPr dirty="0" sz="1100" b="1">
                <a:latin typeface="Times New Roman"/>
                <a:cs typeface="Times New Roman"/>
              </a:rPr>
              <a:t>1.1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Statement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of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the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Research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Problem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9400"/>
              </a:lnSpc>
              <a:spcBef>
                <a:spcPts val="585"/>
              </a:spcBef>
            </a:pP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Modern</a:t>
            </a:r>
            <a:r>
              <a:rPr dirty="0" sz="1000" spc="4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education</a:t>
            </a:r>
            <a:r>
              <a:rPr dirty="0" sz="1000" spc="48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systems</a:t>
            </a:r>
            <a:r>
              <a:rPr dirty="0" sz="1000" spc="4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predominantly</a:t>
            </a:r>
            <a:r>
              <a:rPr dirty="0" sz="1000" spc="4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focus</a:t>
            </a:r>
            <a:r>
              <a:rPr dirty="0" sz="1000" spc="45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on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cognitive</a:t>
            </a:r>
            <a:r>
              <a:rPr dirty="0" sz="1000" spc="17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development,</a:t>
            </a:r>
            <a:r>
              <a:rPr dirty="0" sz="1000" spc="19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academic</a:t>
            </a:r>
            <a:r>
              <a:rPr dirty="0" sz="1000" spc="18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performance,</a:t>
            </a:r>
            <a:r>
              <a:rPr dirty="0" sz="1000" spc="19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and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technical</a:t>
            </a:r>
            <a:r>
              <a:rPr dirty="0" sz="1000" spc="24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competencies,</a:t>
            </a:r>
            <a:r>
              <a:rPr dirty="0" sz="1000" spc="23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often</a:t>
            </a:r>
            <a:r>
              <a:rPr dirty="0" sz="1000" spc="24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at</a:t>
            </a:r>
            <a:r>
              <a:rPr dirty="0" sz="1000" spc="23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dirty="0" sz="1000" spc="24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expense</a:t>
            </a:r>
            <a:r>
              <a:rPr dirty="0" sz="1000" spc="24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of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emotional</a:t>
            </a:r>
            <a:r>
              <a:rPr dirty="0" sz="1000" spc="36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intelligence</a:t>
            </a:r>
            <a:r>
              <a:rPr dirty="0" sz="1000" spc="36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1000" spc="37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moral</a:t>
            </a:r>
            <a:r>
              <a:rPr dirty="0" sz="1000" spc="36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values.</a:t>
            </a:r>
            <a:r>
              <a:rPr dirty="0" sz="1000" spc="36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20">
                <a:solidFill>
                  <a:srgbClr val="221F1F"/>
                </a:solidFill>
                <a:latin typeface="Times New Roman"/>
                <a:cs typeface="Times New Roman"/>
              </a:rPr>
              <a:t>This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imbalance</a:t>
            </a:r>
            <a:r>
              <a:rPr dirty="0" sz="1000" spc="32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has</a:t>
            </a:r>
            <a:r>
              <a:rPr dirty="0" sz="1000" spc="32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contributed</a:t>
            </a:r>
            <a:r>
              <a:rPr dirty="0" sz="1000" spc="33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to</a:t>
            </a:r>
            <a:r>
              <a:rPr dirty="0" sz="1000" spc="32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increasing</a:t>
            </a:r>
            <a:r>
              <a:rPr dirty="0" sz="1000" spc="33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stress,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anxiety,</a:t>
            </a:r>
            <a:r>
              <a:rPr dirty="0" sz="1000" spc="11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behavioral</a:t>
            </a:r>
            <a:r>
              <a:rPr dirty="0" sz="1000" spc="1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issues,</a:t>
            </a:r>
            <a:r>
              <a:rPr dirty="0" sz="1000" spc="1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1000" spc="11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a</a:t>
            </a:r>
            <a:r>
              <a:rPr dirty="0" sz="1000" spc="1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noticeable</a:t>
            </a:r>
            <a:r>
              <a:rPr dirty="0" sz="1000" spc="1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decline</a:t>
            </a:r>
            <a:r>
              <a:rPr dirty="0" sz="1000" spc="1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in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empathy,</a:t>
            </a:r>
            <a:r>
              <a:rPr dirty="0" sz="1000" spc="1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self-awareness,</a:t>
            </a:r>
            <a:r>
              <a:rPr dirty="0" sz="1000" spc="13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1000" spc="1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interpersonal</a:t>
            </a:r>
            <a:r>
              <a:rPr dirty="0" sz="1000" spc="13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sensitivity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among</a:t>
            </a:r>
            <a:r>
              <a:rPr dirty="0" sz="1000" spc="22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schoolaged</a:t>
            </a:r>
            <a:r>
              <a:rPr dirty="0" sz="1000" spc="22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children.</a:t>
            </a:r>
            <a:r>
              <a:rPr dirty="0" sz="1000" spc="229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While</a:t>
            </a:r>
            <a:r>
              <a:rPr dirty="0" sz="1000" spc="21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mental</a:t>
            </a:r>
            <a:r>
              <a:rPr dirty="0" sz="1000" spc="21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health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concerns</a:t>
            </a:r>
            <a:r>
              <a:rPr dirty="0" sz="1000" spc="3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in</a:t>
            </a:r>
            <a:r>
              <a:rPr dirty="0" sz="1000" spc="35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schools</a:t>
            </a:r>
            <a:r>
              <a:rPr dirty="0" sz="1000" spc="3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are</a:t>
            </a:r>
            <a:r>
              <a:rPr dirty="0" sz="1000" spc="3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increasingly</a:t>
            </a:r>
            <a:r>
              <a:rPr dirty="0" sz="1000" spc="35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acknowledged,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efforts</a:t>
            </a:r>
            <a:r>
              <a:rPr dirty="0" sz="1000" spc="4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to</a:t>
            </a:r>
            <a:r>
              <a:rPr dirty="0" sz="1000" spc="4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address</a:t>
            </a:r>
            <a:r>
              <a:rPr dirty="0" sz="1000" spc="4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them</a:t>
            </a:r>
            <a:r>
              <a:rPr dirty="0" sz="1000" spc="4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frequently</a:t>
            </a:r>
            <a:r>
              <a:rPr dirty="0" sz="1000" spc="4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lack</a:t>
            </a:r>
            <a:r>
              <a:rPr dirty="0" sz="1000" spc="48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integration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with</a:t>
            </a:r>
            <a:r>
              <a:rPr dirty="0" sz="1000" spc="2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culturally</a:t>
            </a:r>
            <a:r>
              <a:rPr dirty="0" sz="1000" spc="2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grounded,</a:t>
            </a:r>
            <a:r>
              <a:rPr dirty="0" sz="1000" spc="2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value-based</a:t>
            </a:r>
            <a:r>
              <a:rPr dirty="0" sz="1000" spc="2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approaches.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6712" y="8980423"/>
            <a:ext cx="3011805" cy="32829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2700" marR="5080">
              <a:lnSpc>
                <a:spcPts val="1190"/>
              </a:lnSpc>
              <a:spcBef>
                <a:spcPts val="145"/>
              </a:spcBef>
              <a:tabLst>
                <a:tab pos="590550" algn="l"/>
                <a:tab pos="1111250" algn="l"/>
                <a:tab pos="1482090" algn="l"/>
                <a:tab pos="1999614" algn="l"/>
                <a:tab pos="2270760" algn="l"/>
                <a:tab pos="2797175" algn="l"/>
              </a:tabLst>
            </a:pP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Despite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India's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1000" spc="-20">
                <a:solidFill>
                  <a:srgbClr val="221F1F"/>
                </a:solidFill>
                <a:latin typeface="Times New Roman"/>
                <a:cs typeface="Times New Roman"/>
              </a:rPr>
              <a:t>rich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legacy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ethical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and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philosophical</a:t>
            </a:r>
            <a:r>
              <a:rPr dirty="0" sz="1000" spc="20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teachings,</a:t>
            </a:r>
            <a:r>
              <a:rPr dirty="0" sz="1000" spc="204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traditional</a:t>
            </a:r>
            <a:r>
              <a:rPr dirty="0" sz="1000" spc="20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literary</a:t>
            </a:r>
            <a:r>
              <a:rPr dirty="0" sz="1000" spc="204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sources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21734" y="563372"/>
            <a:ext cx="3091180" cy="2904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99400"/>
              </a:lnSpc>
              <a:spcBef>
                <a:spcPts val="100"/>
              </a:spcBef>
            </a:pP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such</a:t>
            </a:r>
            <a:r>
              <a:rPr dirty="0" sz="1000" spc="3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as</a:t>
            </a:r>
            <a:r>
              <a:rPr dirty="0" sz="1000" spc="3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Basavanna’s</a:t>
            </a:r>
            <a:r>
              <a:rPr dirty="0" sz="1000" spc="3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Vachanas,</a:t>
            </a:r>
            <a:r>
              <a:rPr dirty="0" sz="1000" spc="3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dirty="0" sz="1000" spc="3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Hitopadesha,</a:t>
            </a:r>
            <a:r>
              <a:rPr dirty="0" sz="1000" spc="3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and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dirty="0" sz="1000" spc="4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Panchatantra</a:t>
            </a:r>
            <a:r>
              <a:rPr dirty="0" sz="1000" spc="45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remain</a:t>
            </a:r>
            <a:r>
              <a:rPr dirty="0" sz="1000" spc="4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underutilized</a:t>
            </a:r>
            <a:r>
              <a:rPr dirty="0" sz="1000" spc="4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in</a:t>
            </a:r>
            <a:r>
              <a:rPr dirty="0" sz="1000" spc="4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mainstream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education.</a:t>
            </a:r>
            <a:r>
              <a:rPr dirty="0" sz="1000" spc="17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These</a:t>
            </a:r>
            <a:r>
              <a:rPr dirty="0" sz="1000" spc="16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texts</a:t>
            </a:r>
            <a:r>
              <a:rPr dirty="0" sz="1000" spc="17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offer</a:t>
            </a:r>
            <a:r>
              <a:rPr dirty="0" sz="1000" spc="17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profound</a:t>
            </a:r>
            <a:r>
              <a:rPr dirty="0" sz="1000" spc="17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insights</a:t>
            </a:r>
            <a:r>
              <a:rPr dirty="0" sz="1000" spc="17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20">
                <a:solidFill>
                  <a:srgbClr val="221F1F"/>
                </a:solidFill>
                <a:latin typeface="Times New Roman"/>
                <a:cs typeface="Times New Roman"/>
              </a:rPr>
              <a:t>into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moral</a:t>
            </a:r>
            <a:r>
              <a:rPr dirty="0" sz="1000" spc="35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conduct,</a:t>
            </a:r>
            <a:r>
              <a:rPr dirty="0" sz="1000" spc="3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emotional</a:t>
            </a:r>
            <a:r>
              <a:rPr dirty="0" sz="1000" spc="3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resilience,</a:t>
            </a:r>
            <a:r>
              <a:rPr dirty="0" sz="1000" spc="3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decision-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making,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1000" spc="24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human</a:t>
            </a:r>
            <a:r>
              <a:rPr dirty="0" sz="1000" spc="254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values</a:t>
            </a:r>
            <a:r>
              <a:rPr dirty="0" sz="1000" spc="24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qualities</a:t>
            </a:r>
            <a:r>
              <a:rPr dirty="0" sz="1000" spc="24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essential</a:t>
            </a:r>
            <a:r>
              <a:rPr dirty="0" sz="1000" spc="24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for</a:t>
            </a:r>
            <a:r>
              <a:rPr dirty="0" sz="1000" spc="25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holistic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development.</a:t>
            </a:r>
            <a:r>
              <a:rPr dirty="0" sz="1000" spc="3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Yet,</a:t>
            </a:r>
            <a:r>
              <a:rPr dirty="0" sz="1000" spc="28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their</a:t>
            </a:r>
            <a:r>
              <a:rPr dirty="0" sz="1000" spc="2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potential</a:t>
            </a:r>
            <a:r>
              <a:rPr dirty="0" sz="1000" spc="2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as</a:t>
            </a:r>
            <a:r>
              <a:rPr dirty="0" sz="1000" spc="2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tools</a:t>
            </a:r>
            <a:r>
              <a:rPr dirty="0" sz="1000" spc="2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for</a:t>
            </a:r>
            <a:r>
              <a:rPr dirty="0" sz="1000" spc="2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mental-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health</a:t>
            </a:r>
            <a:r>
              <a:rPr dirty="0" sz="1000" spc="16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promotion</a:t>
            </a:r>
            <a:r>
              <a:rPr dirty="0" sz="1000" spc="16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1000" spc="17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emotional</a:t>
            </a:r>
            <a:r>
              <a:rPr dirty="0" sz="1000" spc="16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well-being</a:t>
            </a:r>
            <a:r>
              <a:rPr dirty="0" sz="1000" spc="16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remains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largely</a:t>
            </a:r>
            <a:r>
              <a:rPr dirty="0" sz="1000" spc="30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untapped</a:t>
            </a:r>
            <a:r>
              <a:rPr dirty="0" sz="1000" spc="31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in</a:t>
            </a:r>
            <a:r>
              <a:rPr dirty="0" sz="1000" spc="31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contemporary</a:t>
            </a:r>
            <a:r>
              <a:rPr dirty="0" sz="1000" spc="31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curricula.</a:t>
            </a:r>
            <a:r>
              <a:rPr dirty="0" sz="1000" spc="30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The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central</a:t>
            </a:r>
            <a:r>
              <a:rPr dirty="0" sz="1000" spc="11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research</a:t>
            </a:r>
            <a:r>
              <a:rPr dirty="0" sz="1000" spc="11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problem</a:t>
            </a:r>
            <a:r>
              <a:rPr dirty="0" sz="1000" spc="1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addressed</a:t>
            </a:r>
            <a:r>
              <a:rPr dirty="0" sz="1000" spc="1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in</a:t>
            </a:r>
            <a:r>
              <a:rPr dirty="0" sz="1000" spc="11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this</a:t>
            </a:r>
            <a:r>
              <a:rPr dirty="0" sz="1000" spc="1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study</a:t>
            </a:r>
            <a:r>
              <a:rPr dirty="0" sz="1000" spc="1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is:</a:t>
            </a:r>
            <a:r>
              <a:rPr dirty="0" sz="1000" spc="1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Can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value-based</a:t>
            </a:r>
            <a:r>
              <a:rPr dirty="0" sz="1000" spc="24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skill</a:t>
            </a:r>
            <a:r>
              <a:rPr dirty="0" sz="1000" spc="23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training</a:t>
            </a:r>
            <a:r>
              <a:rPr dirty="0" sz="1000" spc="24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derived</a:t>
            </a:r>
            <a:r>
              <a:rPr dirty="0" sz="1000" spc="229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from</a:t>
            </a:r>
            <a:r>
              <a:rPr dirty="0" sz="1000" spc="23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traditional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Indian</a:t>
            </a:r>
            <a:r>
              <a:rPr dirty="0" sz="1000" spc="25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texts</a:t>
            </a:r>
            <a:r>
              <a:rPr dirty="0" sz="1000" spc="2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effectively</a:t>
            </a:r>
            <a:r>
              <a:rPr dirty="0" sz="1000" spc="25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enhance</a:t>
            </a:r>
            <a:r>
              <a:rPr dirty="0" sz="1000" spc="2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dirty="0" sz="1000" spc="2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mental</a:t>
            </a:r>
            <a:r>
              <a:rPr dirty="0" sz="1000" spc="2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health</a:t>
            </a:r>
            <a:r>
              <a:rPr dirty="0" sz="1000" spc="25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and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emotional</a:t>
            </a:r>
            <a:r>
              <a:rPr dirty="0" sz="1000" spc="8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well-being</a:t>
            </a:r>
            <a:r>
              <a:rPr dirty="0" sz="1000" spc="8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1000" spc="8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school</a:t>
            </a:r>
            <a:r>
              <a:rPr dirty="0" sz="1000" spc="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students.</a:t>
            </a:r>
            <a:r>
              <a:rPr dirty="0" sz="1000" spc="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This</a:t>
            </a:r>
            <a:r>
              <a:rPr dirty="0" sz="1000" spc="24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seeks</a:t>
            </a:r>
            <a:r>
              <a:rPr dirty="0" sz="1000" spc="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to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bridge</a:t>
            </a:r>
            <a:r>
              <a:rPr dirty="0" sz="1000" spc="7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dirty="0" sz="1000" spc="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gap</a:t>
            </a:r>
            <a:r>
              <a:rPr dirty="0" sz="1000" spc="8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between</a:t>
            </a:r>
            <a:r>
              <a:rPr dirty="0" sz="1000" spc="8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traditional</a:t>
            </a:r>
            <a:r>
              <a:rPr dirty="0" sz="1000" spc="8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221F1F"/>
                </a:solidFill>
                <a:latin typeface="Times New Roman"/>
                <a:cs typeface="Times New Roman"/>
              </a:rPr>
              <a:t>wisdom</a:t>
            </a:r>
            <a:r>
              <a:rPr dirty="0" sz="1000" spc="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1000" spc="8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modern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educational needs by implementing a structured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value-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based</a:t>
            </a:r>
            <a:r>
              <a:rPr dirty="0" sz="1000" spc="21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training</a:t>
            </a:r>
            <a:r>
              <a:rPr dirty="0" sz="1000" spc="2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program</a:t>
            </a:r>
            <a:r>
              <a:rPr dirty="0" sz="1000" spc="2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rooted</a:t>
            </a:r>
            <a:r>
              <a:rPr dirty="0" sz="1000" spc="2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in</a:t>
            </a:r>
            <a:r>
              <a:rPr dirty="0" sz="1000" spc="2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these</a:t>
            </a:r>
            <a:r>
              <a:rPr dirty="0" sz="1000" spc="2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texts.</a:t>
            </a:r>
            <a:r>
              <a:rPr dirty="0" sz="1000" spc="21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It</a:t>
            </a:r>
            <a:r>
              <a:rPr dirty="0" sz="1000" spc="2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aims</a:t>
            </a:r>
            <a:r>
              <a:rPr dirty="0" sz="1000" spc="229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to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examine</a:t>
            </a:r>
            <a:r>
              <a:rPr dirty="0" sz="1000" spc="21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whether</a:t>
            </a:r>
            <a:r>
              <a:rPr dirty="0" sz="1000" spc="204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systematic</a:t>
            </a:r>
            <a:r>
              <a:rPr dirty="0" sz="1000" spc="19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exposure</a:t>
            </a:r>
            <a:r>
              <a:rPr dirty="0" sz="1000" spc="19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to</a:t>
            </a:r>
            <a:r>
              <a:rPr dirty="0" sz="1000" spc="21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culturally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relevant</a:t>
            </a:r>
            <a:r>
              <a:rPr dirty="0" sz="1000" spc="26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moral</a:t>
            </a:r>
            <a:r>
              <a:rPr dirty="0" sz="1000" spc="27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teachings</a:t>
            </a:r>
            <a:r>
              <a:rPr dirty="0" sz="1000" spc="27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can</a:t>
            </a:r>
            <a:r>
              <a:rPr dirty="0" sz="1000" spc="27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positively</a:t>
            </a:r>
            <a:r>
              <a:rPr dirty="0" sz="1000" spc="26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influence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students'</a:t>
            </a:r>
            <a:r>
              <a:rPr dirty="0" sz="1000" spc="18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psychological</a:t>
            </a:r>
            <a:r>
              <a:rPr dirty="0" sz="1000" spc="18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health,</a:t>
            </a:r>
            <a:r>
              <a:rPr dirty="0" sz="1000" spc="21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emotional</a:t>
            </a:r>
            <a:r>
              <a:rPr dirty="0" sz="1000" spc="19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regulation,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empathy,</a:t>
            </a:r>
            <a:r>
              <a:rPr dirty="0" sz="1000" spc="1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1000" spc="20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behavior</a:t>
            </a:r>
            <a:r>
              <a:rPr dirty="0" sz="1000" spc="2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in</a:t>
            </a:r>
            <a:r>
              <a:rPr dirty="0" sz="1000" spc="20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measurable</a:t>
            </a:r>
            <a:r>
              <a:rPr dirty="0" sz="1000" spc="20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21F1F"/>
                </a:solidFill>
                <a:latin typeface="Times New Roman"/>
                <a:cs typeface="Times New Roman"/>
              </a:rPr>
              <a:t>ways.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21734" y="3510097"/>
            <a:ext cx="3091815" cy="216916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750"/>
              </a:spcBef>
            </a:pPr>
            <a:r>
              <a:rPr dirty="0" sz="1100" b="1">
                <a:latin typeface="Times New Roman"/>
                <a:cs typeface="Times New Roman"/>
              </a:rPr>
              <a:t>1.2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Objectives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of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the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Study</a:t>
            </a:r>
            <a:endParaRPr sz="1100">
              <a:latin typeface="Times New Roman"/>
              <a:cs typeface="Times New Roman"/>
            </a:endParaRPr>
          </a:p>
          <a:p>
            <a:pPr algn="just" marL="12700" marR="8255">
              <a:lnSpc>
                <a:spcPct val="99500"/>
              </a:lnSpc>
              <a:spcBef>
                <a:spcPts val="585"/>
              </a:spcBef>
            </a:pP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primary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aim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this</a:t>
            </a:r>
            <a:r>
              <a:rPr dirty="0" sz="1000" spc="-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study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is</a:t>
            </a:r>
            <a:r>
              <a:rPr dirty="0" sz="1000" spc="-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examine</a:t>
            </a:r>
            <a:r>
              <a:rPr dirty="0" sz="1000" spc="-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4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effectiveness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34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value-</a:t>
            </a:r>
            <a:r>
              <a:rPr dirty="0" sz="1000">
                <a:latin typeface="Times New Roman"/>
                <a:cs typeface="Times New Roman"/>
              </a:rPr>
              <a:t>based</a:t>
            </a:r>
            <a:r>
              <a:rPr dirty="0" sz="1000" spc="3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skill</a:t>
            </a:r>
            <a:r>
              <a:rPr dirty="0" sz="1000" spc="3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training</a:t>
            </a:r>
            <a:r>
              <a:rPr dirty="0" sz="1000" spc="3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on</a:t>
            </a:r>
            <a:r>
              <a:rPr dirty="0" sz="1000" spc="3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3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mental</a:t>
            </a:r>
            <a:r>
              <a:rPr dirty="0" sz="1000" spc="3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health</a:t>
            </a:r>
            <a:r>
              <a:rPr dirty="0" sz="1000" spc="34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and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19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well-</a:t>
            </a:r>
            <a:r>
              <a:rPr dirty="0" sz="1000">
                <a:latin typeface="Times New Roman"/>
                <a:cs typeface="Times New Roman"/>
              </a:rPr>
              <a:t>being</a:t>
            </a:r>
            <a:r>
              <a:rPr dirty="0" sz="1000" spc="2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1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school</a:t>
            </a:r>
            <a:r>
              <a:rPr dirty="0" sz="1000" spc="1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students</a:t>
            </a:r>
            <a:r>
              <a:rPr dirty="0" sz="1000" spc="1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by</a:t>
            </a:r>
            <a:r>
              <a:rPr dirty="0" sz="1000" spc="20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incorporating </a:t>
            </a:r>
            <a:r>
              <a:rPr dirty="0" sz="1000">
                <a:latin typeface="Times New Roman"/>
                <a:cs typeface="Times New Roman"/>
              </a:rPr>
              <a:t>teachings</a:t>
            </a:r>
            <a:r>
              <a:rPr dirty="0" sz="1000" spc="14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from</a:t>
            </a:r>
            <a:r>
              <a:rPr dirty="0" sz="1000" spc="15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traditional</a:t>
            </a:r>
            <a:r>
              <a:rPr dirty="0" sz="1000" spc="14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Indian</a:t>
            </a:r>
            <a:r>
              <a:rPr dirty="0" sz="1000" spc="15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texts.</a:t>
            </a:r>
            <a:r>
              <a:rPr dirty="0" sz="1000" spc="14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150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specific </a:t>
            </a:r>
            <a:r>
              <a:rPr dirty="0" sz="1000">
                <a:latin typeface="Times New Roman"/>
                <a:cs typeface="Times New Roman"/>
              </a:rPr>
              <a:t>objectives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are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follows:</a:t>
            </a:r>
            <a:endParaRPr sz="1000">
              <a:latin typeface="Times New Roman"/>
              <a:cs typeface="Times New Roman"/>
            </a:endParaRPr>
          </a:p>
          <a:p>
            <a:pPr algn="just" marL="144145" indent="-131445">
              <a:lnSpc>
                <a:spcPts val="1190"/>
              </a:lnSpc>
              <a:buChar char="•"/>
              <a:tabLst>
                <a:tab pos="144145" algn="l"/>
              </a:tabLst>
            </a:pP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assess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impact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value-</a:t>
            </a:r>
            <a:r>
              <a:rPr dirty="0" sz="1000">
                <a:latin typeface="Times New Roman"/>
                <a:cs typeface="Times New Roman"/>
              </a:rPr>
              <a:t>based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skill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training,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using</a:t>
            </a:r>
            <a:endParaRPr sz="10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9500"/>
              </a:lnSpc>
              <a:spcBef>
                <a:spcPts val="5"/>
              </a:spcBef>
            </a:pPr>
            <a:r>
              <a:rPr dirty="0" sz="1000">
                <a:latin typeface="Times New Roman"/>
                <a:cs typeface="Times New Roman"/>
              </a:rPr>
              <a:t>Basavanna’s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Vachanas,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Hitopadesha,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9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Panchatantra stories,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on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mental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health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overall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well-</a:t>
            </a:r>
            <a:r>
              <a:rPr dirty="0" sz="1000">
                <a:latin typeface="Times New Roman"/>
                <a:cs typeface="Times New Roman"/>
              </a:rPr>
              <a:t>being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school students.</a:t>
            </a:r>
            <a:endParaRPr sz="1000">
              <a:latin typeface="Times New Roman"/>
              <a:cs typeface="Times New Roman"/>
            </a:endParaRPr>
          </a:p>
          <a:p>
            <a:pPr algn="just" marL="90805" indent="-78105">
              <a:lnSpc>
                <a:spcPts val="1190"/>
              </a:lnSpc>
              <a:buChar char="•"/>
              <a:tabLst>
                <a:tab pos="90805" algn="l"/>
              </a:tabLst>
            </a:pP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enhance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students'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intelligence,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empathy,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and</a:t>
            </a:r>
            <a:endParaRPr sz="1000">
              <a:latin typeface="Times New Roman"/>
              <a:cs typeface="Times New Roman"/>
            </a:endParaRPr>
          </a:p>
          <a:p>
            <a:pPr algn="just" marL="12700" marR="8255">
              <a:lnSpc>
                <a:spcPts val="1190"/>
              </a:lnSpc>
              <a:spcBef>
                <a:spcPts val="50"/>
              </a:spcBef>
            </a:pPr>
            <a:r>
              <a:rPr dirty="0" sz="1000">
                <a:latin typeface="Times New Roman"/>
                <a:cs typeface="Times New Roman"/>
              </a:rPr>
              <a:t>moral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behavior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through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culturally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rooted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life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skills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education </a:t>
            </a:r>
            <a:r>
              <a:rPr dirty="0" sz="1000">
                <a:latin typeface="Times New Roman"/>
                <a:cs typeface="Times New Roman"/>
              </a:rPr>
              <a:t>derived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from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these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traditional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texts.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21734" y="5832927"/>
            <a:ext cx="3089910" cy="1866264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750"/>
              </a:spcBef>
            </a:pPr>
            <a:r>
              <a:rPr dirty="0" sz="1100" b="1">
                <a:latin typeface="Times New Roman"/>
                <a:cs typeface="Times New Roman"/>
              </a:rPr>
              <a:t>1.3</a:t>
            </a:r>
            <a:r>
              <a:rPr dirty="0" sz="1100" spc="-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Definition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of</a:t>
            </a:r>
            <a:r>
              <a:rPr dirty="0" sz="1100" spc="-1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Key</a:t>
            </a:r>
            <a:r>
              <a:rPr dirty="0" sz="1100" spc="-5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Times New Roman"/>
                <a:cs typeface="Times New Roman"/>
              </a:rPr>
              <a:t>Terms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ts val="1195"/>
              </a:lnSpc>
              <a:spcBef>
                <a:spcPts val="580"/>
              </a:spcBef>
            </a:pPr>
            <a:r>
              <a:rPr dirty="0" sz="1000">
                <a:latin typeface="Times New Roman"/>
                <a:cs typeface="Times New Roman"/>
              </a:rPr>
              <a:t>1. </a:t>
            </a:r>
            <a:r>
              <a:rPr dirty="0" sz="1000" spc="-10">
                <a:latin typeface="Times New Roman"/>
                <a:cs typeface="Times New Roman"/>
              </a:rPr>
              <a:t>Value-</a:t>
            </a:r>
            <a:r>
              <a:rPr dirty="0" sz="1000">
                <a:latin typeface="Times New Roman"/>
                <a:cs typeface="Times New Roman"/>
              </a:rPr>
              <a:t>Based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Skill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Training</a:t>
            </a: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195"/>
              </a:lnSpc>
            </a:pPr>
            <a:r>
              <a:rPr dirty="0" sz="1000">
                <a:latin typeface="Times New Roman"/>
                <a:cs typeface="Times New Roman"/>
              </a:rPr>
              <a:t>An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educational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approach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that</a:t>
            </a:r>
            <a:r>
              <a:rPr dirty="0" sz="1000" spc="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integrates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moral,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ethical,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and</a:t>
            </a:r>
            <a:endParaRPr sz="10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9400"/>
              </a:lnSpc>
              <a:spcBef>
                <a:spcPts val="10"/>
              </a:spcBef>
            </a:pPr>
            <a:r>
              <a:rPr dirty="0" sz="1000">
                <a:latin typeface="Times New Roman"/>
                <a:cs typeface="Times New Roman"/>
              </a:rPr>
              <a:t>life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skills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development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through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culturally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relevant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content.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this</a:t>
            </a:r>
            <a:r>
              <a:rPr dirty="0" sz="1000" spc="1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study,</a:t>
            </a:r>
            <a:r>
              <a:rPr dirty="0" sz="1000" spc="1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it</a:t>
            </a:r>
            <a:r>
              <a:rPr dirty="0" sz="1000" spc="1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involves</a:t>
            </a:r>
            <a:r>
              <a:rPr dirty="0" sz="1000" spc="1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teaching</a:t>
            </a:r>
            <a:r>
              <a:rPr dirty="0" sz="1000" spc="1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values</a:t>
            </a:r>
            <a:r>
              <a:rPr dirty="0" sz="1000" spc="1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such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as</a:t>
            </a:r>
            <a:r>
              <a:rPr dirty="0" sz="1000" spc="1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honesty, </a:t>
            </a:r>
            <a:r>
              <a:rPr dirty="0" sz="1000">
                <a:latin typeface="Times New Roman"/>
                <a:cs typeface="Times New Roman"/>
              </a:rPr>
              <a:t>empathy,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patience,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self-</a:t>
            </a:r>
            <a:r>
              <a:rPr dirty="0" sz="1000">
                <a:latin typeface="Times New Roman"/>
                <a:cs typeface="Times New Roman"/>
              </a:rPr>
              <a:t>discipline</a:t>
            </a:r>
            <a:r>
              <a:rPr dirty="0" sz="1000" spc="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using</a:t>
            </a:r>
            <a:r>
              <a:rPr dirty="0" sz="1000" spc="1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narratives</a:t>
            </a:r>
            <a:r>
              <a:rPr dirty="0" sz="1000" spc="9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and </a:t>
            </a:r>
            <a:r>
              <a:rPr dirty="0" sz="1000" spc="-10">
                <a:latin typeface="Times New Roman"/>
                <a:cs typeface="Times New Roman"/>
              </a:rPr>
              <a:t>teachings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from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Basavanna’s Vachanas,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Hitopadesha,</a:t>
            </a:r>
            <a:r>
              <a:rPr dirty="0" sz="100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and </a:t>
            </a:r>
            <a:r>
              <a:rPr dirty="0" sz="1000">
                <a:latin typeface="Times New Roman"/>
                <a:cs typeface="Times New Roman"/>
              </a:rPr>
              <a:t>Panchatantra</a:t>
            </a:r>
            <a:r>
              <a:rPr dirty="0" sz="1000" spc="3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stories.</a:t>
            </a:r>
            <a:r>
              <a:rPr dirty="0" sz="1000" spc="3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3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training</a:t>
            </a:r>
            <a:r>
              <a:rPr dirty="0" sz="1000" spc="3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is</a:t>
            </a:r>
            <a:r>
              <a:rPr dirty="0" sz="1000" spc="3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delivered</a:t>
            </a:r>
            <a:r>
              <a:rPr dirty="0" sz="1000" spc="38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through </a:t>
            </a:r>
            <a:r>
              <a:rPr dirty="0" sz="1000">
                <a:latin typeface="Times New Roman"/>
                <a:cs typeface="Times New Roman"/>
              </a:rPr>
              <a:t>storytelling,</a:t>
            </a:r>
            <a:r>
              <a:rPr dirty="0" sz="1000" spc="3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group</a:t>
            </a:r>
            <a:r>
              <a:rPr dirty="0" sz="1000" spc="3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discussions,</a:t>
            </a:r>
            <a:r>
              <a:rPr dirty="0" sz="1000" spc="3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3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reflective</a:t>
            </a:r>
            <a:r>
              <a:rPr dirty="0" sz="1000" spc="38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activities </a:t>
            </a:r>
            <a:r>
              <a:rPr dirty="0" sz="1000">
                <a:latin typeface="Times New Roman"/>
                <a:cs typeface="Times New Roman"/>
              </a:rPr>
              <a:t>designed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help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students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internalize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values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apply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them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everyday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life.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21734" y="7824978"/>
            <a:ext cx="3089275" cy="13893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ts val="1195"/>
              </a:lnSpc>
              <a:spcBef>
                <a:spcPts val="95"/>
              </a:spcBef>
            </a:pPr>
            <a:r>
              <a:rPr dirty="0" sz="1000">
                <a:latin typeface="Times New Roman"/>
                <a:cs typeface="Times New Roman"/>
              </a:rPr>
              <a:t>2.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Mental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Health</a:t>
            </a:r>
            <a:endParaRPr sz="1000">
              <a:latin typeface="Times New Roman"/>
              <a:cs typeface="Times New Roman"/>
            </a:endParaRPr>
          </a:p>
          <a:p>
            <a:pPr algn="just" marL="12700" marR="5080">
              <a:lnSpc>
                <a:spcPts val="1190"/>
              </a:lnSpc>
              <a:spcBef>
                <a:spcPts val="40"/>
              </a:spcBef>
            </a:pPr>
            <a:r>
              <a:rPr dirty="0" sz="1000">
                <a:latin typeface="Times New Roman"/>
                <a:cs typeface="Times New Roman"/>
              </a:rPr>
              <a:t>Refers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psychological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state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students </a:t>
            </a:r>
            <a:r>
              <a:rPr dirty="0" sz="1000">
                <a:latin typeface="Times New Roman"/>
                <a:cs typeface="Times New Roman"/>
              </a:rPr>
              <a:t>that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affects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how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they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manage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stress,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interact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with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others,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and</a:t>
            </a:r>
            <a:endParaRPr sz="1000">
              <a:latin typeface="Times New Roman"/>
              <a:cs typeface="Times New Roman"/>
            </a:endParaRPr>
          </a:p>
          <a:p>
            <a:pPr algn="just" marL="12700" marR="7620">
              <a:lnSpc>
                <a:spcPts val="1190"/>
              </a:lnSpc>
              <a:spcBef>
                <a:spcPts val="10"/>
              </a:spcBef>
            </a:pPr>
            <a:r>
              <a:rPr dirty="0" sz="1000">
                <a:latin typeface="Times New Roman"/>
                <a:cs typeface="Times New Roman"/>
              </a:rPr>
              <a:t>make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decisions.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context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this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research,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it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includes emotional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stability,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levels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10">
                <a:latin typeface="Times New Roman"/>
                <a:cs typeface="Times New Roman"/>
              </a:rPr>
              <a:t> anxiety,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stress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coping skills,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and</a:t>
            </a: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155"/>
              </a:lnSpc>
            </a:pPr>
            <a:r>
              <a:rPr dirty="0" sz="1000" spc="-10">
                <a:latin typeface="Times New Roman"/>
                <a:cs typeface="Times New Roman"/>
              </a:rPr>
              <a:t>self-</a:t>
            </a:r>
            <a:r>
              <a:rPr dirty="0" sz="1000">
                <a:latin typeface="Times New Roman"/>
                <a:cs typeface="Times New Roman"/>
              </a:rPr>
              <a:t>perception.</a:t>
            </a:r>
            <a:r>
              <a:rPr dirty="0" sz="1000" spc="20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2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healthy</a:t>
            </a:r>
            <a:r>
              <a:rPr dirty="0" sz="1000" spc="2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mental</a:t>
            </a:r>
            <a:r>
              <a:rPr dirty="0" sz="1000" spc="2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state</a:t>
            </a:r>
            <a:r>
              <a:rPr dirty="0" sz="1000" spc="2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is</a:t>
            </a:r>
            <a:r>
              <a:rPr dirty="0" sz="1000" spc="2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indicated</a:t>
            </a:r>
            <a:r>
              <a:rPr dirty="0" sz="1000" spc="2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by</a:t>
            </a:r>
            <a:r>
              <a:rPr dirty="0" sz="1000" spc="204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Times New Roman"/>
                <a:cs typeface="Times New Roman"/>
              </a:rPr>
              <a:t>a</a:t>
            </a:r>
            <a:endParaRPr sz="1000">
              <a:latin typeface="Times New Roman"/>
              <a:cs typeface="Times New Roman"/>
            </a:endParaRPr>
          </a:p>
          <a:p>
            <a:pPr algn="just" marL="12700" marR="5715">
              <a:lnSpc>
                <a:spcPct val="99500"/>
              </a:lnSpc>
            </a:pPr>
            <a:r>
              <a:rPr dirty="0" sz="1000">
                <a:latin typeface="Times New Roman"/>
                <a:cs typeface="Times New Roman"/>
              </a:rPr>
              <a:t>student’s</a:t>
            </a:r>
            <a:r>
              <a:rPr dirty="0" sz="1000" spc="2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ability</a:t>
            </a:r>
            <a:r>
              <a:rPr dirty="0" sz="1000" spc="2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2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regulate</a:t>
            </a:r>
            <a:r>
              <a:rPr dirty="0" sz="1000" spc="2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emotions,</a:t>
            </a:r>
            <a:r>
              <a:rPr dirty="0" sz="1000" spc="2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maintain</a:t>
            </a:r>
            <a:r>
              <a:rPr dirty="0" sz="1000" spc="29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positive </a:t>
            </a:r>
            <a:r>
              <a:rPr dirty="0" sz="1000">
                <a:latin typeface="Times New Roman"/>
                <a:cs typeface="Times New Roman"/>
              </a:rPr>
              <a:t>relationships,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perform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effectively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both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academic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and </a:t>
            </a:r>
            <a:r>
              <a:rPr dirty="0" sz="1000">
                <a:latin typeface="Times New Roman"/>
                <a:cs typeface="Times New Roman"/>
              </a:rPr>
              <a:t>social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settings.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6712" y="436879"/>
            <a:ext cx="3018790" cy="1087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ts val="1195"/>
              </a:lnSpc>
              <a:spcBef>
                <a:spcPts val="95"/>
              </a:spcBef>
            </a:pPr>
            <a:r>
              <a:rPr dirty="0" sz="1000">
                <a:latin typeface="Times New Roman"/>
                <a:cs typeface="Times New Roman"/>
              </a:rPr>
              <a:t>3.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Student </a:t>
            </a:r>
            <a:r>
              <a:rPr dirty="0" sz="1000" spc="-10">
                <a:latin typeface="Times New Roman"/>
                <a:cs typeface="Times New Roman"/>
              </a:rPr>
              <a:t>Well-</a:t>
            </a:r>
            <a:r>
              <a:rPr dirty="0" sz="1000" spc="-20">
                <a:latin typeface="Times New Roman"/>
                <a:cs typeface="Times New Roman"/>
              </a:rPr>
              <a:t>being</a:t>
            </a: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195"/>
              </a:lnSpc>
            </a:pP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this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study,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student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well-</a:t>
            </a:r>
            <a:r>
              <a:rPr dirty="0" sz="1000">
                <a:latin typeface="Times New Roman"/>
                <a:cs typeface="Times New Roman"/>
              </a:rPr>
              <a:t>being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refers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their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overall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sense</a:t>
            </a:r>
            <a:endParaRPr sz="10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9500"/>
              </a:lnSpc>
              <a:spcBef>
                <a:spcPts val="10"/>
              </a:spcBef>
            </a:pP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32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happiness,</a:t>
            </a:r>
            <a:r>
              <a:rPr dirty="0" sz="1000" spc="320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self-</a:t>
            </a:r>
            <a:r>
              <a:rPr dirty="0" sz="1000">
                <a:latin typeface="Times New Roman"/>
                <a:cs typeface="Times New Roman"/>
              </a:rPr>
              <a:t>confidence,</a:t>
            </a:r>
            <a:r>
              <a:rPr dirty="0" sz="1000" spc="32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320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security, connectedness </a:t>
            </a:r>
            <a:r>
              <a:rPr dirty="0" sz="1000">
                <a:latin typeface="Times New Roman"/>
                <a:cs typeface="Times New Roman"/>
              </a:rPr>
              <a:t>with peers, and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general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outlook on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life.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It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is </a:t>
            </a:r>
            <a:r>
              <a:rPr dirty="0" sz="1000">
                <a:latin typeface="Times New Roman"/>
                <a:cs typeface="Times New Roman"/>
              </a:rPr>
              <a:t>shaped</a:t>
            </a:r>
            <a:r>
              <a:rPr dirty="0" sz="1000" spc="4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by</a:t>
            </a:r>
            <a:r>
              <a:rPr dirty="0" sz="1000" spc="4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internal</a:t>
            </a:r>
            <a:r>
              <a:rPr dirty="0" sz="1000" spc="4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factors</a:t>
            </a:r>
            <a:r>
              <a:rPr dirty="0" sz="1000" spc="4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(such</a:t>
            </a:r>
            <a:r>
              <a:rPr dirty="0" sz="1000" spc="4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as</a:t>
            </a:r>
            <a:r>
              <a:rPr dirty="0" sz="1000" spc="4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self-</a:t>
            </a:r>
            <a:r>
              <a:rPr dirty="0" sz="1000">
                <a:latin typeface="Times New Roman"/>
                <a:cs typeface="Times New Roman"/>
              </a:rPr>
              <a:t>esteem</a:t>
            </a:r>
            <a:r>
              <a:rPr dirty="0" sz="1000" spc="44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and </a:t>
            </a:r>
            <a:r>
              <a:rPr dirty="0" sz="1000">
                <a:latin typeface="Times New Roman"/>
                <a:cs typeface="Times New Roman"/>
              </a:rPr>
              <a:t>resilience) and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external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influences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(such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as family </a:t>
            </a:r>
            <a:r>
              <a:rPr dirty="0" sz="1000" spc="-10">
                <a:latin typeface="Times New Roman"/>
                <a:cs typeface="Times New Roman"/>
              </a:rPr>
              <a:t>support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school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environment).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6712" y="1648714"/>
            <a:ext cx="3017520" cy="1087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imes New Roman"/>
                <a:cs typeface="Times New Roman"/>
              </a:rPr>
              <a:t>4.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School</a:t>
            </a:r>
            <a:r>
              <a:rPr dirty="0" sz="1000" spc="-10">
                <a:latin typeface="Times New Roman"/>
                <a:cs typeface="Times New Roman"/>
              </a:rPr>
              <a:t> Students</a:t>
            </a:r>
            <a:endParaRPr sz="10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9400"/>
              </a:lnSpc>
              <a:spcBef>
                <a:spcPts val="5"/>
              </a:spcBef>
            </a:pPr>
            <a:r>
              <a:rPr dirty="0" sz="1000">
                <a:latin typeface="Times New Roman"/>
                <a:cs typeface="Times New Roman"/>
              </a:rPr>
              <a:t>Children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aged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between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10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16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years,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enrolled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middle </a:t>
            </a:r>
            <a:r>
              <a:rPr dirty="0" sz="1000">
                <a:latin typeface="Times New Roman"/>
                <a:cs typeface="Times New Roman"/>
              </a:rPr>
              <a:t>or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high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school,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who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are the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participants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this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study. </a:t>
            </a:r>
            <a:r>
              <a:rPr dirty="0" sz="1000" spc="-20">
                <a:latin typeface="Times New Roman"/>
                <a:cs typeface="Times New Roman"/>
              </a:rPr>
              <a:t>This </a:t>
            </a:r>
            <a:r>
              <a:rPr dirty="0" sz="1000">
                <a:latin typeface="Times New Roman"/>
                <a:cs typeface="Times New Roman"/>
              </a:rPr>
              <a:t>age</a:t>
            </a:r>
            <a:r>
              <a:rPr dirty="0" sz="1000" spc="4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group</a:t>
            </a:r>
            <a:r>
              <a:rPr dirty="0" sz="1000" spc="4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is</a:t>
            </a:r>
            <a:r>
              <a:rPr dirty="0" sz="1000" spc="4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characterized</a:t>
            </a:r>
            <a:r>
              <a:rPr dirty="0" sz="1000" spc="4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by</a:t>
            </a:r>
            <a:r>
              <a:rPr dirty="0" sz="1000" spc="4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significant</a:t>
            </a:r>
            <a:r>
              <a:rPr dirty="0" sz="1000" spc="45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emotional, </a:t>
            </a:r>
            <a:r>
              <a:rPr dirty="0" sz="1000">
                <a:latin typeface="Times New Roman"/>
                <a:cs typeface="Times New Roman"/>
              </a:rPr>
              <a:t>cognitive,</a:t>
            </a:r>
            <a:r>
              <a:rPr dirty="0" sz="1000" spc="2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2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social</a:t>
            </a:r>
            <a:r>
              <a:rPr dirty="0" sz="1000" spc="2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development,</a:t>
            </a:r>
            <a:r>
              <a:rPr dirty="0" sz="1000" spc="2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making</a:t>
            </a:r>
            <a:r>
              <a:rPr dirty="0" sz="1000" spc="2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them</a:t>
            </a:r>
            <a:r>
              <a:rPr dirty="0" sz="1000" spc="29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ideal </a:t>
            </a:r>
            <a:r>
              <a:rPr dirty="0" sz="1000">
                <a:latin typeface="Times New Roman"/>
                <a:cs typeface="Times New Roman"/>
              </a:rPr>
              <a:t>candidates</a:t>
            </a:r>
            <a:r>
              <a:rPr dirty="0" sz="1000" spc="229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for</a:t>
            </a:r>
            <a:r>
              <a:rPr dirty="0" sz="1000" spc="2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value-</a:t>
            </a:r>
            <a:r>
              <a:rPr dirty="0" sz="1000">
                <a:latin typeface="Times New Roman"/>
                <a:cs typeface="Times New Roman"/>
              </a:rPr>
              <a:t>based</a:t>
            </a:r>
            <a:r>
              <a:rPr dirty="0" sz="1000" spc="2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training</a:t>
            </a:r>
            <a:r>
              <a:rPr dirty="0" sz="1000" spc="2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aimed</a:t>
            </a:r>
            <a:r>
              <a:rPr dirty="0" sz="1000" spc="2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at</a:t>
            </a:r>
            <a:r>
              <a:rPr dirty="0" sz="1000" spc="2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enhancing </a:t>
            </a:r>
            <a:r>
              <a:rPr dirty="0" sz="1000">
                <a:latin typeface="Times New Roman"/>
                <a:cs typeface="Times New Roman"/>
              </a:rPr>
              <a:t>moral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reasoning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maturity.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6712" y="2862199"/>
            <a:ext cx="3016885" cy="15398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ts val="1195"/>
              </a:lnSpc>
              <a:spcBef>
                <a:spcPts val="95"/>
              </a:spcBef>
            </a:pPr>
            <a:r>
              <a:rPr dirty="0" sz="1000">
                <a:latin typeface="Times New Roman"/>
                <a:cs typeface="Times New Roman"/>
              </a:rPr>
              <a:t>5.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Traditional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Indian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Texts</a:t>
            </a:r>
            <a:endParaRPr sz="10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9400"/>
              </a:lnSpc>
            </a:pPr>
            <a:r>
              <a:rPr dirty="0" sz="1000">
                <a:latin typeface="Times New Roman"/>
                <a:cs typeface="Times New Roman"/>
              </a:rPr>
              <a:t>Refers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classical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Indian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literary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philosophical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works </a:t>
            </a:r>
            <a:r>
              <a:rPr dirty="0" sz="1000">
                <a:latin typeface="Times New Roman"/>
                <a:cs typeface="Times New Roman"/>
              </a:rPr>
              <a:t>that</a:t>
            </a:r>
            <a:r>
              <a:rPr dirty="0" sz="1000" spc="1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offer</a:t>
            </a:r>
            <a:r>
              <a:rPr dirty="0" sz="1000" spc="1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moral,</a:t>
            </a:r>
            <a:r>
              <a:rPr dirty="0" sz="1000" spc="1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ethical,</a:t>
            </a:r>
            <a:r>
              <a:rPr dirty="0" sz="1000" spc="1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spiritual</a:t>
            </a:r>
            <a:r>
              <a:rPr dirty="0" sz="1000" spc="1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guidance.</a:t>
            </a:r>
            <a:r>
              <a:rPr dirty="0" sz="1000" spc="1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19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this </a:t>
            </a:r>
            <a:r>
              <a:rPr dirty="0" sz="1000">
                <a:latin typeface="Times New Roman"/>
                <a:cs typeface="Times New Roman"/>
              </a:rPr>
              <a:t>study,</a:t>
            </a:r>
            <a:r>
              <a:rPr dirty="0" sz="1000" spc="3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3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focus</a:t>
            </a:r>
            <a:r>
              <a:rPr dirty="0" sz="1000" spc="3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is</a:t>
            </a:r>
            <a:r>
              <a:rPr dirty="0" sz="1000" spc="3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on</a:t>
            </a:r>
            <a:r>
              <a:rPr dirty="0" sz="1000" spc="3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Basavanna’s</a:t>
            </a:r>
            <a:r>
              <a:rPr dirty="0" sz="1000" spc="3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Vachanas</a:t>
            </a:r>
            <a:r>
              <a:rPr dirty="0" sz="1000" spc="34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(poetic </a:t>
            </a:r>
            <a:r>
              <a:rPr dirty="0" sz="1000">
                <a:latin typeface="Times New Roman"/>
                <a:cs typeface="Times New Roman"/>
              </a:rPr>
              <a:t>expressions</a:t>
            </a:r>
            <a:r>
              <a:rPr dirty="0" sz="1000" spc="25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promoting</a:t>
            </a:r>
            <a:r>
              <a:rPr dirty="0" sz="1000" spc="2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equality</a:t>
            </a:r>
            <a:r>
              <a:rPr dirty="0" sz="1000" spc="2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2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righteousness),</a:t>
            </a:r>
            <a:r>
              <a:rPr dirty="0" sz="1000" spc="26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the </a:t>
            </a:r>
            <a:r>
              <a:rPr dirty="0" sz="1000">
                <a:latin typeface="Times New Roman"/>
                <a:cs typeface="Times New Roman"/>
              </a:rPr>
              <a:t>Hitopadesha</a:t>
            </a:r>
            <a:r>
              <a:rPr dirty="0" sz="1000" spc="1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(a</a:t>
            </a:r>
            <a:r>
              <a:rPr dirty="0" sz="1000" spc="1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collection</a:t>
            </a:r>
            <a:r>
              <a:rPr dirty="0" sz="1000" spc="1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instructive</a:t>
            </a:r>
            <a:r>
              <a:rPr dirty="0" sz="1000" spc="10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animal</a:t>
            </a:r>
            <a:r>
              <a:rPr dirty="0" sz="1000" spc="1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fables</a:t>
            </a:r>
            <a:r>
              <a:rPr dirty="0" sz="1000" spc="10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on </a:t>
            </a:r>
            <a:r>
              <a:rPr dirty="0" sz="1000">
                <a:latin typeface="Times New Roman"/>
                <a:cs typeface="Times New Roman"/>
              </a:rPr>
              <a:t>politics</a:t>
            </a:r>
            <a:r>
              <a:rPr dirty="0" sz="1000" spc="2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2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ethics),</a:t>
            </a:r>
            <a:r>
              <a:rPr dirty="0" sz="1000" spc="2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2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2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Panchatantra</a:t>
            </a:r>
            <a:r>
              <a:rPr dirty="0" sz="1000" spc="2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(stories</a:t>
            </a:r>
            <a:r>
              <a:rPr dirty="0" sz="1000" spc="29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that </a:t>
            </a:r>
            <a:r>
              <a:rPr dirty="0" sz="1000">
                <a:latin typeface="Times New Roman"/>
                <a:cs typeface="Times New Roman"/>
              </a:rPr>
              <a:t>impart</a:t>
            </a:r>
            <a:r>
              <a:rPr dirty="0" sz="1000" spc="1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practical</a:t>
            </a:r>
            <a:r>
              <a:rPr dirty="0" sz="1000" spc="1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wisdom</a:t>
            </a:r>
            <a:r>
              <a:rPr dirty="0" sz="1000" spc="1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moral</a:t>
            </a:r>
            <a:r>
              <a:rPr dirty="0" sz="1000" spc="1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values).</a:t>
            </a:r>
            <a:r>
              <a:rPr dirty="0" sz="1000" spc="1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These</a:t>
            </a:r>
            <a:r>
              <a:rPr dirty="0" sz="1000" spc="17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texts </a:t>
            </a:r>
            <a:r>
              <a:rPr dirty="0" sz="1000">
                <a:latin typeface="Times New Roman"/>
                <a:cs typeface="Times New Roman"/>
              </a:rPr>
              <a:t>serve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as the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foundational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material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for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delivering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culturally </a:t>
            </a:r>
            <a:r>
              <a:rPr dirty="0" sz="1000">
                <a:latin typeface="Times New Roman"/>
                <a:cs typeface="Times New Roman"/>
              </a:rPr>
              <a:t>meaningful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life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lessons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students.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6712" y="4528185"/>
            <a:ext cx="12839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Times New Roman"/>
                <a:cs typeface="Times New Roman"/>
              </a:rPr>
              <a:t>1.4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Research</a:t>
            </a:r>
            <a:r>
              <a:rPr dirty="0" sz="1000" spc="-30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Questions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6712" y="4831461"/>
            <a:ext cx="3018155" cy="1541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imes New Roman"/>
                <a:cs typeface="Times New Roman"/>
              </a:rPr>
              <a:t>This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study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is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guided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by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following</a:t>
            </a:r>
            <a:r>
              <a:rPr dirty="0" sz="1000" spc="-10">
                <a:latin typeface="Times New Roman"/>
                <a:cs typeface="Times New Roman"/>
              </a:rPr>
              <a:t> research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questions:</a:t>
            </a:r>
            <a:endParaRPr sz="1000">
              <a:latin typeface="Times New Roman"/>
              <a:cs typeface="Times New Roman"/>
            </a:endParaRPr>
          </a:p>
          <a:p>
            <a:pPr algn="just" marL="12700" marR="6350" indent="136525">
              <a:lnSpc>
                <a:spcPts val="1190"/>
              </a:lnSpc>
              <a:spcBef>
                <a:spcPts val="50"/>
              </a:spcBef>
              <a:buChar char="•"/>
              <a:tabLst>
                <a:tab pos="149225" algn="l"/>
              </a:tabLst>
            </a:pPr>
            <a:r>
              <a:rPr dirty="0" sz="1000">
                <a:latin typeface="Times New Roman"/>
                <a:cs typeface="Times New Roman"/>
              </a:rPr>
              <a:t>How</a:t>
            </a:r>
            <a:r>
              <a:rPr dirty="0" sz="1000" spc="459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effective</a:t>
            </a:r>
            <a:r>
              <a:rPr dirty="0" sz="1000" spc="4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is</a:t>
            </a:r>
            <a:r>
              <a:rPr dirty="0" sz="1000" spc="45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value-</a:t>
            </a:r>
            <a:r>
              <a:rPr dirty="0" sz="1000">
                <a:latin typeface="Times New Roman"/>
                <a:cs typeface="Times New Roman"/>
              </a:rPr>
              <a:t>based</a:t>
            </a:r>
            <a:r>
              <a:rPr dirty="0" sz="1000" spc="4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skill</a:t>
            </a:r>
            <a:r>
              <a:rPr dirty="0" sz="1000" spc="459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training,</a:t>
            </a:r>
            <a:r>
              <a:rPr dirty="0" sz="1000" spc="45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using </a:t>
            </a:r>
            <a:r>
              <a:rPr dirty="0" sz="1000">
                <a:latin typeface="Times New Roman"/>
                <a:cs typeface="Times New Roman"/>
              </a:rPr>
              <a:t>Basavanna’s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vachanas,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Hitopadesha,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Panchatantra </a:t>
            </a:r>
            <a:r>
              <a:rPr dirty="0" sz="1000">
                <a:latin typeface="Times New Roman"/>
                <a:cs typeface="Times New Roman"/>
              </a:rPr>
              <a:t>stories,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improving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mental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health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school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students?</a:t>
            </a:r>
            <a:endParaRPr sz="1000">
              <a:latin typeface="Times New Roman"/>
              <a:cs typeface="Times New Roman"/>
            </a:endParaRPr>
          </a:p>
          <a:p>
            <a:pPr algn="just" marL="12700" marR="5080" indent="86360">
              <a:lnSpc>
                <a:spcPts val="1190"/>
              </a:lnSpc>
              <a:spcBef>
                <a:spcPts val="5"/>
              </a:spcBef>
              <a:buChar char="•"/>
              <a:tabLst>
                <a:tab pos="99060" algn="l"/>
              </a:tabLst>
            </a:pPr>
            <a:r>
              <a:rPr dirty="0" sz="1000">
                <a:latin typeface="Times New Roman"/>
                <a:cs typeface="Times New Roman"/>
              </a:rPr>
              <a:t>What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impact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does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value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based-</a:t>
            </a:r>
            <a:r>
              <a:rPr dirty="0" sz="1000">
                <a:latin typeface="Times New Roman"/>
                <a:cs typeface="Times New Roman"/>
              </a:rPr>
              <a:t>based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skill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training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have </a:t>
            </a:r>
            <a:r>
              <a:rPr dirty="0" sz="1000">
                <a:latin typeface="Times New Roman"/>
                <a:cs typeface="Times New Roman"/>
              </a:rPr>
              <a:t>on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well-</a:t>
            </a:r>
            <a:r>
              <a:rPr dirty="0" sz="1000">
                <a:latin typeface="Times New Roman"/>
                <a:cs typeface="Times New Roman"/>
              </a:rPr>
              <a:t>being,</a:t>
            </a:r>
            <a:r>
              <a:rPr dirty="0" sz="1000" spc="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empathy,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self-awareness</a:t>
            </a: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155"/>
              </a:lnSpc>
            </a:pP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school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students?</a:t>
            </a:r>
            <a:endParaRPr sz="1000">
              <a:latin typeface="Times New Roman"/>
              <a:cs typeface="Times New Roman"/>
            </a:endParaRPr>
          </a:p>
          <a:p>
            <a:pPr algn="just" marL="12700" marR="6985" indent="72390">
              <a:lnSpc>
                <a:spcPct val="99500"/>
              </a:lnSpc>
              <a:buChar char="•"/>
              <a:tabLst>
                <a:tab pos="85090" algn="l"/>
              </a:tabLst>
            </a:pP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what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extent</a:t>
            </a:r>
            <a:r>
              <a:rPr dirty="0" sz="1000" spc="-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does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incorporation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traditional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moral </a:t>
            </a:r>
            <a:r>
              <a:rPr dirty="0" sz="1000">
                <a:latin typeface="Times New Roman"/>
                <a:cs typeface="Times New Roman"/>
              </a:rPr>
              <a:t>teachings</a:t>
            </a:r>
            <a:r>
              <a:rPr dirty="0" sz="1000" spc="25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influence</a:t>
            </a:r>
            <a:r>
              <a:rPr dirty="0" sz="1000" spc="25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25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behavior,</a:t>
            </a:r>
            <a:r>
              <a:rPr dirty="0" sz="1000" spc="25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decision</a:t>
            </a:r>
            <a:r>
              <a:rPr dirty="0" sz="1000" spc="2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making</a:t>
            </a:r>
            <a:r>
              <a:rPr dirty="0" sz="1000" spc="26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and </a:t>
            </a:r>
            <a:r>
              <a:rPr dirty="0" sz="1000">
                <a:latin typeface="Times New Roman"/>
                <a:cs typeface="Times New Roman"/>
              </a:rPr>
              <a:t>interpersonal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relationships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students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school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setting?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6712" y="6499098"/>
            <a:ext cx="3018155" cy="16922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ts val="1195"/>
              </a:lnSpc>
              <a:spcBef>
                <a:spcPts val="95"/>
              </a:spcBef>
            </a:pPr>
            <a:r>
              <a:rPr dirty="0" sz="1000" b="1">
                <a:latin typeface="Times New Roman"/>
                <a:cs typeface="Times New Roman"/>
              </a:rPr>
              <a:t>1.5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Significance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of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the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Study</a:t>
            </a:r>
            <a:endParaRPr sz="10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9400"/>
              </a:lnSpc>
            </a:pPr>
            <a:r>
              <a:rPr dirty="0" sz="1000" spc="-10">
                <a:latin typeface="Times New Roman"/>
                <a:cs typeface="Times New Roman"/>
              </a:rPr>
              <a:t>The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significance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this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study</a:t>
            </a:r>
            <a:r>
              <a:rPr dirty="0" sz="1000" spc="-20">
                <a:latin typeface="Times New Roman"/>
                <a:cs typeface="Times New Roman"/>
              </a:rPr>
              <a:t> lies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its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innovative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approach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3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integrating</a:t>
            </a:r>
            <a:r>
              <a:rPr dirty="0" sz="1000" spc="3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traditional</a:t>
            </a:r>
            <a:r>
              <a:rPr dirty="0" sz="1000" spc="3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Indian</a:t>
            </a:r>
            <a:r>
              <a:rPr dirty="0" sz="1000" spc="3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wisdom</a:t>
            </a:r>
            <a:r>
              <a:rPr dirty="0" sz="1000" spc="3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into</a:t>
            </a:r>
            <a:r>
              <a:rPr dirty="0" sz="1000" spc="39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modern </a:t>
            </a:r>
            <a:r>
              <a:rPr dirty="0" sz="1000">
                <a:latin typeface="Times New Roman"/>
                <a:cs typeface="Times New Roman"/>
              </a:rPr>
              <a:t>educational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practices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promote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mental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health,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emotional </a:t>
            </a:r>
            <a:r>
              <a:rPr dirty="0" sz="1000">
                <a:latin typeface="Times New Roman"/>
                <a:cs typeface="Times New Roman"/>
              </a:rPr>
              <a:t>intelligence,</a:t>
            </a:r>
            <a:r>
              <a:rPr dirty="0" sz="1000" spc="17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70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value-</a:t>
            </a:r>
            <a:r>
              <a:rPr dirty="0" sz="1000">
                <a:latin typeface="Times New Roman"/>
                <a:cs typeface="Times New Roman"/>
              </a:rPr>
              <a:t>oriented</a:t>
            </a:r>
            <a:r>
              <a:rPr dirty="0" sz="1000" spc="18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development</a:t>
            </a:r>
            <a:r>
              <a:rPr dirty="0" sz="1000" spc="175">
                <a:latin typeface="Times New Roman"/>
                <a:cs typeface="Times New Roman"/>
              </a:rPr>
              <a:t>  </a:t>
            </a:r>
            <a:r>
              <a:rPr dirty="0" sz="1000" spc="-20">
                <a:latin typeface="Times New Roman"/>
                <a:cs typeface="Times New Roman"/>
              </a:rPr>
              <a:t>among </a:t>
            </a:r>
            <a:r>
              <a:rPr dirty="0" sz="1000">
                <a:latin typeface="Times New Roman"/>
                <a:cs typeface="Times New Roman"/>
              </a:rPr>
              <a:t>school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students.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current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academic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landscape,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where </a:t>
            </a:r>
            <a:r>
              <a:rPr dirty="0" sz="1000">
                <a:latin typeface="Times New Roman"/>
                <a:cs typeface="Times New Roman"/>
              </a:rPr>
              <a:t>performance</a:t>
            </a:r>
            <a:r>
              <a:rPr dirty="0" sz="1000" spc="19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pressure</a:t>
            </a:r>
            <a:r>
              <a:rPr dirty="0" sz="1000" spc="19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9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digital</a:t>
            </a:r>
            <a:r>
              <a:rPr dirty="0" sz="1000" spc="19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distractions</a:t>
            </a:r>
            <a:r>
              <a:rPr dirty="0" sz="1000" spc="190">
                <a:latin typeface="Times New Roman"/>
                <a:cs typeface="Times New Roman"/>
              </a:rPr>
              <a:t>  </a:t>
            </a:r>
            <a:r>
              <a:rPr dirty="0" sz="1000" spc="-20">
                <a:latin typeface="Times New Roman"/>
                <a:cs typeface="Times New Roman"/>
              </a:rPr>
              <a:t>have </a:t>
            </a:r>
            <a:r>
              <a:rPr dirty="0" sz="1000">
                <a:latin typeface="Times New Roman"/>
                <a:cs typeface="Times New Roman"/>
              </a:rPr>
              <a:t>heightened</a:t>
            </a:r>
            <a:r>
              <a:rPr dirty="0" sz="1000" spc="4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4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stress</a:t>
            </a:r>
            <a:r>
              <a:rPr dirty="0" sz="1000" spc="4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4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social</a:t>
            </a:r>
            <a:r>
              <a:rPr dirty="0" sz="1000" spc="44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disconnection </a:t>
            </a:r>
            <a:r>
              <a:rPr dirty="0" sz="1000">
                <a:latin typeface="Times New Roman"/>
                <a:cs typeface="Times New Roman"/>
              </a:rPr>
              <a:t>among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children,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there is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pressing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need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for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education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that </a:t>
            </a:r>
            <a:r>
              <a:rPr dirty="0" sz="1000">
                <a:latin typeface="Times New Roman"/>
                <a:cs typeface="Times New Roman"/>
              </a:rPr>
              <a:t>nurtures</a:t>
            </a:r>
            <a:r>
              <a:rPr dirty="0" sz="1000" spc="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not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just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intellect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but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inner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well-being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and </a:t>
            </a:r>
            <a:r>
              <a:rPr dirty="0" sz="1000">
                <a:latin typeface="Times New Roman"/>
                <a:cs typeface="Times New Roman"/>
              </a:rPr>
              <a:t>moral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compass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learners.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6712" y="8317483"/>
            <a:ext cx="3018790" cy="1085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9940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This</a:t>
            </a:r>
            <a:r>
              <a:rPr dirty="0" sz="1000" spc="30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study</a:t>
            </a:r>
            <a:r>
              <a:rPr dirty="0" sz="1000" spc="3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underscores</a:t>
            </a:r>
            <a:r>
              <a:rPr dirty="0" sz="1000" spc="3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2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importance</a:t>
            </a:r>
            <a:r>
              <a:rPr dirty="0" sz="1000" spc="30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3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value-</a:t>
            </a:r>
            <a:r>
              <a:rPr dirty="0" sz="1000" spc="-10">
                <a:latin typeface="Times New Roman"/>
                <a:cs typeface="Times New Roman"/>
              </a:rPr>
              <a:t>based </a:t>
            </a:r>
            <a:r>
              <a:rPr dirty="0" sz="1000">
                <a:latin typeface="Times New Roman"/>
                <a:cs typeface="Times New Roman"/>
              </a:rPr>
              <a:t>education</a:t>
            </a:r>
            <a:r>
              <a:rPr dirty="0" sz="1000" spc="1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as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1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practical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solution</a:t>
            </a:r>
            <a:r>
              <a:rPr dirty="0" sz="1000" spc="1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1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these</a:t>
            </a:r>
            <a:r>
              <a:rPr dirty="0" sz="1000" spc="1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challenges.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By </a:t>
            </a:r>
            <a:r>
              <a:rPr dirty="0" sz="1000" spc="-10">
                <a:latin typeface="Times New Roman"/>
                <a:cs typeface="Times New Roman"/>
              </a:rPr>
              <a:t>drawing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from Basavanna’s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Vachanas,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Hitopadesha, </a:t>
            </a:r>
            <a:r>
              <a:rPr dirty="0" sz="1000" spc="-25">
                <a:latin typeface="Times New Roman"/>
                <a:cs typeface="Times New Roman"/>
              </a:rPr>
              <a:t>and </a:t>
            </a:r>
            <a:r>
              <a:rPr dirty="0" sz="1000">
                <a:latin typeface="Times New Roman"/>
                <a:cs typeface="Times New Roman"/>
              </a:rPr>
              <a:t>Panchatantra</a:t>
            </a:r>
            <a:r>
              <a:rPr dirty="0" sz="1000" spc="4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stories,</a:t>
            </a:r>
            <a:r>
              <a:rPr dirty="0" sz="1000" spc="4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4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training</a:t>
            </a:r>
            <a:r>
              <a:rPr dirty="0" sz="1000" spc="4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program</a:t>
            </a:r>
            <a:r>
              <a:rPr dirty="0" sz="1000" spc="44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introduces </a:t>
            </a:r>
            <a:r>
              <a:rPr dirty="0" sz="1000">
                <a:latin typeface="Times New Roman"/>
                <a:cs typeface="Times New Roman"/>
              </a:rPr>
              <a:t>ethical</a:t>
            </a:r>
            <a:r>
              <a:rPr dirty="0" sz="1000" spc="3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reflection,</a:t>
            </a:r>
            <a:r>
              <a:rPr dirty="0" sz="1000" spc="30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2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literacy,</a:t>
            </a:r>
            <a:r>
              <a:rPr dirty="0" sz="1000" spc="30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30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interpersonal </a:t>
            </a:r>
            <a:r>
              <a:rPr dirty="0" sz="1000">
                <a:latin typeface="Times New Roman"/>
                <a:cs typeface="Times New Roman"/>
              </a:rPr>
              <a:t>skills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relatable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culturally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grounded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way.</a:t>
            </a: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190"/>
              </a:lnSpc>
            </a:pP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research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contributes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following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key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areas: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21734" y="587755"/>
            <a:ext cx="3091180" cy="936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130175">
              <a:lnSpc>
                <a:spcPct val="99600"/>
              </a:lnSpc>
              <a:spcBef>
                <a:spcPts val="100"/>
              </a:spcBef>
              <a:buChar char="•"/>
              <a:tabLst>
                <a:tab pos="142875" algn="l"/>
              </a:tabLst>
            </a:pPr>
            <a:r>
              <a:rPr dirty="0" sz="1000">
                <a:latin typeface="Times New Roman"/>
                <a:cs typeface="Times New Roman"/>
              </a:rPr>
              <a:t>Bridging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Traditional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Wisdom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Modern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Pedagogy: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The </a:t>
            </a:r>
            <a:r>
              <a:rPr dirty="0" sz="1000">
                <a:latin typeface="Times New Roman"/>
                <a:cs typeface="Times New Roman"/>
              </a:rPr>
              <a:t>study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revives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classical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Indian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texts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not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merely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as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historical </a:t>
            </a:r>
            <a:r>
              <a:rPr dirty="0" sz="1000">
                <a:latin typeface="Times New Roman"/>
                <a:cs typeface="Times New Roman"/>
              </a:rPr>
              <a:t>literature,</a:t>
            </a:r>
            <a:r>
              <a:rPr dirty="0" sz="1000" spc="4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but</a:t>
            </a:r>
            <a:r>
              <a:rPr dirty="0" sz="1000" spc="4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as</a:t>
            </a:r>
            <a:r>
              <a:rPr dirty="0" sz="1000" spc="4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living</a:t>
            </a:r>
            <a:r>
              <a:rPr dirty="0" sz="1000" spc="4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educational</a:t>
            </a:r>
            <a:r>
              <a:rPr dirty="0" sz="1000" spc="4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tools</a:t>
            </a:r>
            <a:r>
              <a:rPr dirty="0" sz="1000" spc="4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relevant</a:t>
            </a:r>
            <a:r>
              <a:rPr dirty="0" sz="1000" spc="42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for </a:t>
            </a:r>
            <a:r>
              <a:rPr dirty="0" sz="1000">
                <a:latin typeface="Times New Roman"/>
                <a:cs typeface="Times New Roman"/>
              </a:rPr>
              <a:t>contemporary</a:t>
            </a:r>
            <a:r>
              <a:rPr dirty="0" sz="1000" spc="2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25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2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psychological</a:t>
            </a:r>
            <a:r>
              <a:rPr dirty="0" sz="1000" spc="25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development. </a:t>
            </a:r>
            <a:r>
              <a:rPr dirty="0" sz="1000">
                <a:latin typeface="Times New Roman"/>
                <a:cs typeface="Times New Roman"/>
              </a:rPr>
              <a:t>This</a:t>
            </a:r>
            <a:r>
              <a:rPr dirty="0" sz="1000" spc="2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paves</a:t>
            </a:r>
            <a:r>
              <a:rPr dirty="0" sz="1000" spc="2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229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way</a:t>
            </a:r>
            <a:r>
              <a:rPr dirty="0" sz="1000" spc="2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for</a:t>
            </a:r>
            <a:r>
              <a:rPr dirty="0" sz="1000" spc="229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curriculum</a:t>
            </a:r>
            <a:r>
              <a:rPr dirty="0" sz="1000" spc="229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innovation</a:t>
            </a:r>
            <a:r>
              <a:rPr dirty="0" sz="1000" spc="229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rooted</a:t>
            </a:r>
            <a:r>
              <a:rPr dirty="0" sz="1000" spc="229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in </a:t>
            </a:r>
            <a:r>
              <a:rPr dirty="0" sz="1000">
                <a:latin typeface="Times New Roman"/>
                <a:cs typeface="Times New Roman"/>
              </a:rPr>
              <a:t>Indian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ethos.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21734" y="1648714"/>
            <a:ext cx="3089910" cy="784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191135">
              <a:lnSpc>
                <a:spcPct val="99500"/>
              </a:lnSpc>
              <a:spcBef>
                <a:spcPts val="100"/>
              </a:spcBef>
              <a:buChar char="•"/>
              <a:tabLst>
                <a:tab pos="203835" algn="l"/>
              </a:tabLst>
            </a:pPr>
            <a:r>
              <a:rPr dirty="0" sz="1000">
                <a:latin typeface="Times New Roman"/>
                <a:cs typeface="Times New Roman"/>
              </a:rPr>
              <a:t>Promoting</a:t>
            </a:r>
            <a:r>
              <a:rPr dirty="0" sz="1000" spc="31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Holistic</a:t>
            </a:r>
            <a:r>
              <a:rPr dirty="0" sz="1000" spc="31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Child</a:t>
            </a:r>
            <a:r>
              <a:rPr dirty="0" sz="1000" spc="32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Development:</a:t>
            </a:r>
            <a:r>
              <a:rPr dirty="0" sz="1000" spc="315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Unlike </a:t>
            </a:r>
            <a:r>
              <a:rPr dirty="0" sz="1000">
                <a:latin typeface="Times New Roman"/>
                <a:cs typeface="Times New Roman"/>
              </a:rPr>
              <a:t>conventional</a:t>
            </a:r>
            <a:r>
              <a:rPr dirty="0" sz="1000" spc="1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models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that</a:t>
            </a:r>
            <a:r>
              <a:rPr dirty="0" sz="1000" spc="1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prioritize</a:t>
            </a:r>
            <a:r>
              <a:rPr dirty="0" sz="1000" spc="1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academic</a:t>
            </a:r>
            <a:r>
              <a:rPr dirty="0" sz="1000" spc="1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achievement </a:t>
            </a:r>
            <a:r>
              <a:rPr dirty="0" sz="1000">
                <a:latin typeface="Times New Roman"/>
                <a:cs typeface="Times New Roman"/>
              </a:rPr>
              <a:t>alone,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this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intervention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model</a:t>
            </a:r>
            <a:r>
              <a:rPr dirty="0" sz="1000" spc="-4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encourages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holistic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growth</a:t>
            </a:r>
            <a:r>
              <a:rPr dirty="0" sz="1000" spc="-25">
                <a:latin typeface="Times New Roman"/>
                <a:cs typeface="Times New Roman"/>
              </a:rPr>
              <a:t> by </a:t>
            </a:r>
            <a:r>
              <a:rPr dirty="0" sz="1000">
                <a:latin typeface="Times New Roman"/>
                <a:cs typeface="Times New Roman"/>
              </a:rPr>
              <a:t>fostering</a:t>
            </a:r>
            <a:r>
              <a:rPr dirty="0" sz="1000" spc="200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self-</a:t>
            </a:r>
            <a:r>
              <a:rPr dirty="0" sz="1000">
                <a:latin typeface="Times New Roman"/>
                <a:cs typeface="Times New Roman"/>
              </a:rPr>
              <a:t>awareness,</a:t>
            </a:r>
            <a:r>
              <a:rPr dirty="0" sz="1000" spc="204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20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regulation,</a:t>
            </a:r>
            <a:r>
              <a:rPr dirty="0" sz="1000" spc="204">
                <a:latin typeface="Times New Roman"/>
                <a:cs typeface="Times New Roman"/>
              </a:rPr>
              <a:t>  </a:t>
            </a:r>
            <a:r>
              <a:rPr dirty="0" sz="1000" spc="-20">
                <a:latin typeface="Times New Roman"/>
                <a:cs typeface="Times New Roman"/>
              </a:rPr>
              <a:t>moral </a:t>
            </a:r>
            <a:r>
              <a:rPr dirty="0" sz="1000">
                <a:latin typeface="Times New Roman"/>
                <a:cs typeface="Times New Roman"/>
              </a:rPr>
              <a:t>sensitivity,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social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responsibility.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21734" y="2558541"/>
            <a:ext cx="3091815" cy="935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162560">
              <a:lnSpc>
                <a:spcPct val="99500"/>
              </a:lnSpc>
              <a:spcBef>
                <a:spcPts val="100"/>
              </a:spcBef>
              <a:buChar char="•"/>
              <a:tabLst>
                <a:tab pos="175260" algn="l"/>
              </a:tabLst>
            </a:pPr>
            <a:r>
              <a:rPr dirty="0" sz="1000">
                <a:latin typeface="Times New Roman"/>
                <a:cs typeface="Times New Roman"/>
              </a:rPr>
              <a:t>Guidance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for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Educators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Policymakers: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findings </a:t>
            </a:r>
            <a:r>
              <a:rPr dirty="0" sz="1000">
                <a:latin typeface="Times New Roman"/>
                <a:cs typeface="Times New Roman"/>
              </a:rPr>
              <a:t>offer</a:t>
            </a:r>
            <a:r>
              <a:rPr dirty="0" sz="1000" spc="43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valuable</a:t>
            </a:r>
            <a:r>
              <a:rPr dirty="0" sz="1000" spc="4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insights</a:t>
            </a:r>
            <a:r>
              <a:rPr dirty="0" sz="1000" spc="4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into</a:t>
            </a:r>
            <a:r>
              <a:rPr dirty="0" sz="1000" spc="4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how</a:t>
            </a:r>
            <a:r>
              <a:rPr dirty="0" sz="1000" spc="4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culturally</a:t>
            </a:r>
            <a:r>
              <a:rPr dirty="0" sz="1000" spc="434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responsive </a:t>
            </a:r>
            <a:r>
              <a:rPr dirty="0" sz="1000">
                <a:latin typeface="Times New Roman"/>
                <a:cs typeface="Times New Roman"/>
              </a:rPr>
              <a:t>teaching</a:t>
            </a:r>
            <a:r>
              <a:rPr dirty="0" sz="1000" spc="2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methods</a:t>
            </a:r>
            <a:r>
              <a:rPr dirty="0" sz="1000" spc="2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can</a:t>
            </a:r>
            <a:r>
              <a:rPr dirty="0" sz="1000" spc="2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be</a:t>
            </a:r>
            <a:r>
              <a:rPr dirty="0" sz="1000" spc="2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systematically</a:t>
            </a:r>
            <a:r>
              <a:rPr dirty="0" sz="1000" spc="2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implemented</a:t>
            </a:r>
            <a:r>
              <a:rPr dirty="0" sz="1000" spc="27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in </a:t>
            </a:r>
            <a:r>
              <a:rPr dirty="0" sz="1000">
                <a:latin typeface="Times New Roman"/>
                <a:cs typeface="Times New Roman"/>
              </a:rPr>
              <a:t>schools,</a:t>
            </a:r>
            <a:r>
              <a:rPr dirty="0" sz="1000" spc="2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supporting</a:t>
            </a:r>
            <a:r>
              <a:rPr dirty="0" sz="1000" spc="2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25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goals</a:t>
            </a:r>
            <a:r>
              <a:rPr dirty="0" sz="1000" spc="2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25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25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National</a:t>
            </a:r>
            <a:r>
              <a:rPr dirty="0" sz="1000" spc="254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Education </a:t>
            </a:r>
            <a:r>
              <a:rPr dirty="0" sz="1000">
                <a:latin typeface="Times New Roman"/>
                <a:cs typeface="Times New Roman"/>
              </a:rPr>
              <a:t>Policy</a:t>
            </a:r>
            <a:r>
              <a:rPr dirty="0" sz="1000" spc="4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(NEP)</a:t>
            </a:r>
            <a:r>
              <a:rPr dirty="0" sz="1000" spc="4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2020,</a:t>
            </a:r>
            <a:r>
              <a:rPr dirty="0" sz="1000" spc="4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which</a:t>
            </a:r>
            <a:r>
              <a:rPr dirty="0" sz="1000" spc="4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advocates</a:t>
            </a:r>
            <a:r>
              <a:rPr dirty="0" sz="1000" spc="4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for</a:t>
            </a:r>
            <a:r>
              <a:rPr dirty="0" sz="1000" spc="47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value-based </a:t>
            </a:r>
            <a:r>
              <a:rPr dirty="0" sz="1000">
                <a:latin typeface="Times New Roman"/>
                <a:cs typeface="Times New Roman"/>
              </a:rPr>
              <a:t>education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life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skills.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21734" y="3619627"/>
            <a:ext cx="3089275" cy="7823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 indent="162560">
              <a:lnSpc>
                <a:spcPct val="99200"/>
              </a:lnSpc>
              <a:spcBef>
                <a:spcPts val="105"/>
              </a:spcBef>
              <a:buChar char="•"/>
              <a:tabLst>
                <a:tab pos="175260" algn="l"/>
              </a:tabLst>
            </a:pPr>
            <a:r>
              <a:rPr dirty="0" sz="1000">
                <a:latin typeface="Times New Roman"/>
                <a:cs typeface="Times New Roman"/>
              </a:rPr>
              <a:t>Mental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Health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Awareness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Resilience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Building: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At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Times New Roman"/>
                <a:cs typeface="Times New Roman"/>
              </a:rPr>
              <a:t>a</a:t>
            </a:r>
            <a:r>
              <a:rPr dirty="0" sz="1000">
                <a:latin typeface="Times New Roman"/>
                <a:cs typeface="Times New Roman"/>
              </a:rPr>
              <a:t> time</a:t>
            </a:r>
            <a:r>
              <a:rPr dirty="0" sz="1000" spc="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when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student</a:t>
            </a:r>
            <a:r>
              <a:rPr dirty="0" sz="1000" spc="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mental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health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is</a:t>
            </a:r>
            <a:r>
              <a:rPr dirty="0" sz="1000" spc="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growing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concern,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this </a:t>
            </a:r>
            <a:r>
              <a:rPr dirty="0" sz="1000">
                <a:latin typeface="Times New Roman"/>
                <a:cs typeface="Times New Roman"/>
              </a:rPr>
              <a:t>study</a:t>
            </a:r>
            <a:r>
              <a:rPr dirty="0" sz="1000" spc="2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highlights</a:t>
            </a:r>
            <a:r>
              <a:rPr dirty="0" sz="1000" spc="2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preventive</a:t>
            </a:r>
            <a:r>
              <a:rPr dirty="0" sz="1000" spc="229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2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developmental</a:t>
            </a:r>
            <a:r>
              <a:rPr dirty="0" sz="1000" spc="2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strategies </a:t>
            </a:r>
            <a:r>
              <a:rPr dirty="0" sz="1000">
                <a:latin typeface="Times New Roman"/>
                <a:cs typeface="Times New Roman"/>
              </a:rPr>
              <a:t>rooted</a:t>
            </a:r>
            <a:r>
              <a:rPr dirty="0" sz="1000" spc="4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4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indigenous</a:t>
            </a:r>
            <a:r>
              <a:rPr dirty="0" sz="1000" spc="4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knowledge</a:t>
            </a:r>
            <a:r>
              <a:rPr dirty="0" sz="1000" spc="4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systems,</a:t>
            </a:r>
            <a:r>
              <a:rPr dirty="0" sz="1000" spc="45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encouraging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resilience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from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young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age.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21734" y="4528185"/>
            <a:ext cx="3089910" cy="1390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6350" indent="76835">
              <a:lnSpc>
                <a:spcPct val="99500"/>
              </a:lnSpc>
              <a:spcBef>
                <a:spcPts val="100"/>
              </a:spcBef>
              <a:buChar char="•"/>
              <a:tabLst>
                <a:tab pos="89535" algn="l"/>
              </a:tabLst>
            </a:pPr>
            <a:r>
              <a:rPr dirty="0" sz="1000">
                <a:latin typeface="Times New Roman"/>
                <a:cs typeface="Times New Roman"/>
              </a:rPr>
              <a:t>Preservation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Cultural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Heritage: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Through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application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1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ancient</a:t>
            </a:r>
            <a:r>
              <a:rPr dirty="0" sz="1000" spc="1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Indian</a:t>
            </a:r>
            <a:r>
              <a:rPr dirty="0" sz="1000" spc="1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texts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modern</a:t>
            </a:r>
            <a:r>
              <a:rPr dirty="0" sz="1000" spc="1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education,</a:t>
            </a:r>
            <a:r>
              <a:rPr dirty="0" sz="1000" spc="1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this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research </a:t>
            </a:r>
            <a:r>
              <a:rPr dirty="0" sz="1000">
                <a:latin typeface="Times New Roman"/>
                <a:cs typeface="Times New Roman"/>
              </a:rPr>
              <a:t>supports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preservation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and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continued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relevance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cultural </a:t>
            </a:r>
            <a:r>
              <a:rPr dirty="0" sz="1000">
                <a:latin typeface="Times New Roman"/>
                <a:cs typeface="Times New Roman"/>
              </a:rPr>
              <a:t>heritage,</a:t>
            </a:r>
            <a:r>
              <a:rPr dirty="0" sz="1000" spc="1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encouraging</a:t>
            </a:r>
            <a:r>
              <a:rPr dirty="0" sz="1000" spc="10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pride</a:t>
            </a:r>
            <a:r>
              <a:rPr dirty="0" sz="1000" spc="1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10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practical</a:t>
            </a:r>
            <a:r>
              <a:rPr dirty="0" sz="1000" spc="1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use</a:t>
            </a:r>
            <a:r>
              <a:rPr dirty="0" sz="1000" spc="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10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India’s </a:t>
            </a:r>
            <a:r>
              <a:rPr dirty="0" sz="1000">
                <a:latin typeface="Times New Roman"/>
                <a:cs typeface="Times New Roman"/>
              </a:rPr>
              <a:t>philosophical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literary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traditions.</a:t>
            </a: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190"/>
              </a:lnSpc>
            </a:pP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summary,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this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study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not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only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addresses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urgent</a:t>
            </a:r>
            <a:r>
              <a:rPr dirty="0" sz="1000" spc="-4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need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for</a:t>
            </a:r>
            <a:endParaRPr sz="1000">
              <a:latin typeface="Times New Roman"/>
              <a:cs typeface="Times New Roman"/>
            </a:endParaRPr>
          </a:p>
          <a:p>
            <a:pPr algn="just" marL="12700" marR="6350">
              <a:lnSpc>
                <a:spcPct val="99500"/>
              </a:lnSpc>
              <a:spcBef>
                <a:spcPts val="5"/>
              </a:spcBef>
            </a:pPr>
            <a:r>
              <a:rPr dirty="0" sz="1000">
                <a:latin typeface="Times New Roman"/>
                <a:cs typeface="Times New Roman"/>
              </a:rPr>
              <a:t>value</a:t>
            </a:r>
            <a:r>
              <a:rPr dirty="0" sz="1000" spc="1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education</a:t>
            </a:r>
            <a:r>
              <a:rPr dirty="0" sz="1000" spc="1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1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schools</a:t>
            </a:r>
            <a:r>
              <a:rPr dirty="0" sz="1000" spc="1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but</a:t>
            </a:r>
            <a:r>
              <a:rPr dirty="0" sz="1000" spc="1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also</a:t>
            </a:r>
            <a:r>
              <a:rPr dirty="0" sz="1000" spc="1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proposes</a:t>
            </a:r>
            <a:r>
              <a:rPr dirty="0" sz="1000" spc="1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18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culturally </a:t>
            </a:r>
            <a:r>
              <a:rPr dirty="0" sz="1000">
                <a:latin typeface="Times New Roman"/>
                <a:cs typeface="Times New Roman"/>
              </a:rPr>
              <a:t>sustainable</a:t>
            </a:r>
            <a:r>
              <a:rPr dirty="0" sz="1000" spc="29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model</a:t>
            </a:r>
            <a:r>
              <a:rPr dirty="0" sz="1000" spc="29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for</a:t>
            </a:r>
            <a:r>
              <a:rPr dirty="0" sz="1000" spc="29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nurturing</a:t>
            </a:r>
            <a:r>
              <a:rPr dirty="0" sz="1000" spc="30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mentally</a:t>
            </a:r>
            <a:r>
              <a:rPr dirty="0" sz="1000" spc="290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healthy, </a:t>
            </a:r>
            <a:r>
              <a:rPr dirty="0" sz="1000">
                <a:latin typeface="Times New Roman"/>
                <a:cs typeface="Times New Roman"/>
              </a:rPr>
              <a:t>emotionally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balanced,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morally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sound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young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citizens.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21734" y="6043041"/>
            <a:ext cx="17595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Times New Roman"/>
                <a:cs typeface="Times New Roman"/>
              </a:rPr>
              <a:t>2.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REVIEW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OF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LITERATURE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21734" y="6346698"/>
            <a:ext cx="3093720" cy="1541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9940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significance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mental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health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well-</a:t>
            </a:r>
            <a:r>
              <a:rPr dirty="0" sz="1000" spc="-20">
                <a:latin typeface="Times New Roman"/>
                <a:cs typeface="Times New Roman"/>
              </a:rPr>
              <a:t>being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schoolaged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children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has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become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increasingly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prominent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1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contemporary</a:t>
            </a:r>
            <a:r>
              <a:rPr dirty="0" sz="1000" spc="10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educational</a:t>
            </a:r>
            <a:r>
              <a:rPr dirty="0" sz="1000" spc="10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research.</a:t>
            </a:r>
            <a:r>
              <a:rPr dirty="0" sz="1000" spc="1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10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stability, self-</a:t>
            </a:r>
            <a:r>
              <a:rPr dirty="0" sz="1000">
                <a:latin typeface="Times New Roman"/>
                <a:cs typeface="Times New Roman"/>
              </a:rPr>
              <a:t>awareness,</a:t>
            </a:r>
            <a:r>
              <a:rPr dirty="0" sz="1000" spc="15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5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psychological</a:t>
            </a:r>
            <a:r>
              <a:rPr dirty="0" sz="1000" spc="15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resilience</a:t>
            </a:r>
            <a:r>
              <a:rPr dirty="0" sz="1000" spc="15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are</a:t>
            </a:r>
            <a:r>
              <a:rPr dirty="0" sz="1000" spc="150">
                <a:latin typeface="Times New Roman"/>
                <a:cs typeface="Times New Roman"/>
              </a:rPr>
              <a:t>  </a:t>
            </a:r>
            <a:r>
              <a:rPr dirty="0" sz="1000" spc="-25">
                <a:latin typeface="Times New Roman"/>
                <a:cs typeface="Times New Roman"/>
              </a:rPr>
              <a:t>now </a:t>
            </a:r>
            <a:r>
              <a:rPr dirty="0" sz="1000">
                <a:latin typeface="Times New Roman"/>
                <a:cs typeface="Times New Roman"/>
              </a:rPr>
              <a:t>recognized</a:t>
            </a:r>
            <a:r>
              <a:rPr dirty="0" sz="1000" spc="1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as</a:t>
            </a:r>
            <a:r>
              <a:rPr dirty="0" sz="1000" spc="1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essential</a:t>
            </a:r>
            <a:r>
              <a:rPr dirty="0" sz="1000" spc="1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contributors</a:t>
            </a:r>
            <a:r>
              <a:rPr dirty="0" sz="1000" spc="1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1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academic</a:t>
            </a:r>
            <a:r>
              <a:rPr dirty="0" sz="1000" spc="17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success, </a:t>
            </a:r>
            <a:r>
              <a:rPr dirty="0" sz="1000">
                <a:latin typeface="Times New Roman"/>
                <a:cs typeface="Times New Roman"/>
              </a:rPr>
              <a:t>social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competence,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long-</a:t>
            </a:r>
            <a:r>
              <a:rPr dirty="0" sz="1000">
                <a:latin typeface="Times New Roman"/>
                <a:cs typeface="Times New Roman"/>
              </a:rPr>
              <a:t>term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personal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growth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(Smith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Times New Roman"/>
                <a:cs typeface="Times New Roman"/>
              </a:rPr>
              <a:t>&amp;</a:t>
            </a:r>
            <a:r>
              <a:rPr dirty="0" sz="1000">
                <a:latin typeface="Times New Roman"/>
                <a:cs typeface="Times New Roman"/>
              </a:rPr>
              <a:t> Jones,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2018).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However,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traditional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academic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curricula</a:t>
            </a:r>
            <a:r>
              <a:rPr dirty="0" sz="1000" spc="-10">
                <a:latin typeface="Times New Roman"/>
                <a:cs typeface="Times New Roman"/>
              </a:rPr>
              <a:t> often </a:t>
            </a:r>
            <a:r>
              <a:rPr dirty="0" sz="1000">
                <a:latin typeface="Times New Roman"/>
                <a:cs typeface="Times New Roman"/>
              </a:rPr>
              <a:t>focus heavily on cognitive development, sidelining </a:t>
            </a:r>
            <a:r>
              <a:rPr dirty="0" sz="1000" spc="-10">
                <a:latin typeface="Times New Roman"/>
                <a:cs typeface="Times New Roman"/>
              </a:rPr>
              <a:t>value-</a:t>
            </a:r>
            <a:r>
              <a:rPr dirty="0" sz="1000">
                <a:latin typeface="Times New Roman"/>
                <a:cs typeface="Times New Roman"/>
              </a:rPr>
              <a:t>based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education</a:t>
            </a:r>
            <a:r>
              <a:rPr dirty="0" sz="1000" spc="-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that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can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contribute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meaningfully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child's </a:t>
            </a:r>
            <a:r>
              <a:rPr dirty="0" sz="1000">
                <a:latin typeface="Times New Roman"/>
                <a:cs typeface="Times New Roman"/>
              </a:rPr>
              <a:t>inner</a:t>
            </a:r>
            <a:r>
              <a:rPr dirty="0" sz="1000" spc="-10">
                <a:latin typeface="Times New Roman"/>
                <a:cs typeface="Times New Roman"/>
              </a:rPr>
              <a:t> well-</a:t>
            </a:r>
            <a:r>
              <a:rPr dirty="0" sz="1000">
                <a:latin typeface="Times New Roman"/>
                <a:cs typeface="Times New Roman"/>
              </a:rPr>
              <a:t>being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moral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foundation.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21734" y="8013954"/>
            <a:ext cx="3091180" cy="13893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ts val="1195"/>
              </a:lnSpc>
              <a:spcBef>
                <a:spcPts val="95"/>
              </a:spcBef>
            </a:pPr>
            <a:r>
              <a:rPr dirty="0" sz="1000" b="1">
                <a:latin typeface="Times New Roman"/>
                <a:cs typeface="Times New Roman"/>
              </a:rPr>
              <a:t>2.1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Importance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of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Mental</a:t>
            </a:r>
            <a:r>
              <a:rPr dirty="0" sz="1000" spc="-3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Health</a:t>
            </a:r>
            <a:r>
              <a:rPr dirty="0" sz="1000" spc="-3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in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Education</a:t>
            </a: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195"/>
              </a:lnSpc>
            </a:pP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strong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correlation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has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been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observed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between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emotional</a:t>
            </a:r>
            <a:endParaRPr sz="10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9300"/>
              </a:lnSpc>
              <a:spcBef>
                <a:spcPts val="10"/>
              </a:spcBef>
            </a:pPr>
            <a:r>
              <a:rPr dirty="0" sz="1000">
                <a:latin typeface="Times New Roman"/>
                <a:cs typeface="Times New Roman"/>
              </a:rPr>
              <a:t>health</a:t>
            </a:r>
            <a:r>
              <a:rPr dirty="0" sz="1000" spc="3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3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learning</a:t>
            </a:r>
            <a:r>
              <a:rPr dirty="0" sz="1000" spc="3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effectiveness.</a:t>
            </a:r>
            <a:r>
              <a:rPr dirty="0" sz="1000" spc="3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According</a:t>
            </a:r>
            <a:r>
              <a:rPr dirty="0" sz="1000" spc="3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33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Kumar </a:t>
            </a:r>
            <a:r>
              <a:rPr dirty="0" sz="1000">
                <a:latin typeface="Times New Roman"/>
                <a:cs typeface="Times New Roman"/>
              </a:rPr>
              <a:t>(2020),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students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who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participate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structured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and </a:t>
            </a:r>
            <a:r>
              <a:rPr dirty="0" sz="1000">
                <a:latin typeface="Times New Roman"/>
                <a:cs typeface="Times New Roman"/>
              </a:rPr>
              <a:t>ethical</a:t>
            </a:r>
            <a:r>
              <a:rPr dirty="0" sz="1000" spc="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education</a:t>
            </a:r>
            <a:r>
              <a:rPr dirty="0" sz="1000" spc="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programs</a:t>
            </a:r>
            <a:r>
              <a:rPr dirty="0" sz="1000" spc="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show</a:t>
            </a:r>
            <a:r>
              <a:rPr dirty="0" sz="1000" spc="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notable</a:t>
            </a:r>
            <a:r>
              <a:rPr dirty="0" sz="1000" spc="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improvements</a:t>
            </a:r>
            <a:r>
              <a:rPr dirty="0" sz="1000" spc="9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in </a:t>
            </a:r>
            <a:r>
              <a:rPr dirty="0" sz="1000" spc="-10">
                <a:latin typeface="Times New Roman"/>
                <a:cs typeface="Times New Roman"/>
              </a:rPr>
              <a:t>self-</a:t>
            </a:r>
            <a:r>
              <a:rPr dirty="0" sz="1000">
                <a:latin typeface="Times New Roman"/>
                <a:cs typeface="Times New Roman"/>
              </a:rPr>
              <a:t>regulation,</a:t>
            </a:r>
            <a:r>
              <a:rPr dirty="0" sz="1000" spc="11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empathy,</a:t>
            </a:r>
            <a:r>
              <a:rPr dirty="0" sz="1000" spc="1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cooperation.</a:t>
            </a:r>
            <a:r>
              <a:rPr dirty="0" sz="1000" spc="1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These</a:t>
            </a:r>
            <a:r>
              <a:rPr dirty="0" sz="1000" spc="1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elements </a:t>
            </a:r>
            <a:r>
              <a:rPr dirty="0" sz="1000">
                <a:latin typeface="Times New Roman"/>
                <a:cs typeface="Times New Roman"/>
              </a:rPr>
              <a:t>are</a:t>
            </a:r>
            <a:r>
              <a:rPr dirty="0" sz="1000" spc="1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especially</a:t>
            </a:r>
            <a:r>
              <a:rPr dirty="0" sz="1000" spc="11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important</a:t>
            </a:r>
            <a:r>
              <a:rPr dirty="0" sz="1000" spc="1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11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developing</a:t>
            </a:r>
            <a:r>
              <a:rPr dirty="0" sz="1000" spc="1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prosocial</a:t>
            </a:r>
            <a:r>
              <a:rPr dirty="0" sz="1000" spc="114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behavior, </a:t>
            </a:r>
            <a:r>
              <a:rPr dirty="0" sz="1000">
                <a:latin typeface="Times New Roman"/>
                <a:cs typeface="Times New Roman"/>
              </a:rPr>
              <a:t>which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not only enhances peer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relationships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but also </a:t>
            </a:r>
            <a:r>
              <a:rPr dirty="0" sz="1000" spc="-10">
                <a:latin typeface="Times New Roman"/>
                <a:cs typeface="Times New Roman"/>
              </a:rPr>
              <a:t>reduces </a:t>
            </a:r>
            <a:r>
              <a:rPr dirty="0" sz="1000">
                <a:latin typeface="Times New Roman"/>
                <a:cs typeface="Times New Roman"/>
              </a:rPr>
              <a:t>incidents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10">
                <a:latin typeface="Times New Roman"/>
                <a:cs typeface="Times New Roman"/>
              </a:rPr>
              <a:t> aggression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anxiety.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6712" y="563372"/>
            <a:ext cx="3016885" cy="935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9940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Sharma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(2019)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argues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that schools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which embed life</a:t>
            </a:r>
            <a:r>
              <a:rPr dirty="0" sz="1000" spc="-10">
                <a:latin typeface="Times New Roman"/>
                <a:cs typeface="Times New Roman"/>
              </a:rPr>
              <a:t> skills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ethical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storytelling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into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curriculum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produce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more </a:t>
            </a:r>
            <a:r>
              <a:rPr dirty="0" sz="1000">
                <a:latin typeface="Times New Roman"/>
                <a:cs typeface="Times New Roman"/>
              </a:rPr>
              <a:t>balanced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resilient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students.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Storytelling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from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familiar </a:t>
            </a:r>
            <a:r>
              <a:rPr dirty="0" sz="1000">
                <a:latin typeface="Times New Roman"/>
                <a:cs typeface="Times New Roman"/>
              </a:rPr>
              <a:t>cultural</a:t>
            </a:r>
            <a:r>
              <a:rPr dirty="0" sz="1000" spc="4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contexts</a:t>
            </a:r>
            <a:r>
              <a:rPr dirty="0" sz="1000" spc="4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encourage</a:t>
            </a:r>
            <a:r>
              <a:rPr dirty="0" sz="1000" spc="4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internalization</a:t>
            </a:r>
            <a:r>
              <a:rPr dirty="0" sz="1000" spc="43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434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values, </a:t>
            </a:r>
            <a:r>
              <a:rPr dirty="0" sz="1000">
                <a:latin typeface="Times New Roman"/>
                <a:cs typeface="Times New Roman"/>
              </a:rPr>
              <a:t>improves</a:t>
            </a:r>
            <a:r>
              <a:rPr dirty="0" sz="1000" spc="11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1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literacy,</a:t>
            </a:r>
            <a:r>
              <a:rPr dirty="0" sz="1000" spc="1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helps</a:t>
            </a:r>
            <a:r>
              <a:rPr dirty="0" sz="1000" spc="11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children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navigate </a:t>
            </a:r>
            <a:r>
              <a:rPr dirty="0" sz="1000">
                <a:latin typeface="Times New Roman"/>
                <a:cs typeface="Times New Roman"/>
              </a:rPr>
              <a:t>moral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dilemmas.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6712" y="1624329"/>
            <a:ext cx="2633980" cy="48069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2700" marR="208279">
              <a:lnSpc>
                <a:spcPts val="1190"/>
              </a:lnSpc>
              <a:spcBef>
                <a:spcPts val="145"/>
              </a:spcBef>
            </a:pPr>
            <a:r>
              <a:rPr dirty="0" sz="1000" b="1">
                <a:latin typeface="Times New Roman"/>
                <a:cs typeface="Times New Roman"/>
              </a:rPr>
              <a:t>2.2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Traditional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Indian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Literature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and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spc="-20" b="1">
                <a:latin typeface="Times New Roman"/>
                <a:cs typeface="Times New Roman"/>
              </a:rPr>
              <a:t>Moral </a:t>
            </a:r>
            <a:r>
              <a:rPr dirty="0" sz="1000" spc="-10" b="1">
                <a:latin typeface="Times New Roman"/>
                <a:cs typeface="Times New Roman"/>
              </a:rPr>
              <a:t>Education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160"/>
              </a:lnSpc>
              <a:tabLst>
                <a:tab pos="479425" algn="l"/>
                <a:tab pos="1306195" algn="l"/>
                <a:tab pos="1631950" algn="l"/>
                <a:tab pos="2141855" algn="l"/>
              </a:tabLst>
            </a:pPr>
            <a:r>
              <a:rPr dirty="0" sz="1000" spc="-10">
                <a:latin typeface="Times New Roman"/>
                <a:cs typeface="Times New Roman"/>
              </a:rPr>
              <a:t>Indian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philosophical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25">
                <a:latin typeface="Times New Roman"/>
                <a:cs typeface="Times New Roman"/>
              </a:rPr>
              <a:t>and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literary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traditions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67495" y="1927605"/>
            <a:ext cx="2660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Times New Roman"/>
                <a:cs typeface="Times New Roman"/>
              </a:rPr>
              <a:t>have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6712" y="2078481"/>
            <a:ext cx="301434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imes New Roman"/>
                <a:cs typeface="Times New Roman"/>
              </a:rPr>
              <a:t>historically</a:t>
            </a:r>
            <a:r>
              <a:rPr dirty="0" sz="1000" spc="2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emphasized</a:t>
            </a:r>
            <a:r>
              <a:rPr dirty="0" sz="1000" spc="2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2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integration</a:t>
            </a:r>
            <a:r>
              <a:rPr dirty="0" sz="1000" spc="2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2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ethical</a:t>
            </a:r>
            <a:r>
              <a:rPr dirty="0" sz="1000" spc="21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living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latin typeface="Times New Roman"/>
                <a:cs typeface="Times New Roman"/>
              </a:rPr>
              <a:t>with</a:t>
            </a:r>
            <a:r>
              <a:rPr dirty="0" sz="1000" spc="13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13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strength.</a:t>
            </a:r>
            <a:r>
              <a:rPr dirty="0" sz="1000" spc="13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Among</a:t>
            </a:r>
            <a:r>
              <a:rPr dirty="0" sz="1000" spc="13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these,</a:t>
            </a:r>
            <a:r>
              <a:rPr dirty="0" sz="1000" spc="130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Basavanna’s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6712" y="2381757"/>
            <a:ext cx="3018155" cy="481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9960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Vachanas,</a:t>
            </a:r>
            <a:r>
              <a:rPr dirty="0" sz="1000" spc="3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3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Hitopadesha,</a:t>
            </a:r>
            <a:r>
              <a:rPr dirty="0" sz="1000" spc="3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3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3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Panchatantra</a:t>
            </a:r>
            <a:r>
              <a:rPr dirty="0" sz="1000" spc="36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are </a:t>
            </a:r>
            <a:r>
              <a:rPr dirty="0" sz="1000">
                <a:latin typeface="Times New Roman"/>
                <a:cs typeface="Times New Roman"/>
              </a:rPr>
              <a:t>considered</a:t>
            </a:r>
            <a:r>
              <a:rPr dirty="0" sz="1000" spc="16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foundational</a:t>
            </a:r>
            <a:r>
              <a:rPr dirty="0" sz="1000" spc="15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texts</a:t>
            </a:r>
            <a:r>
              <a:rPr dirty="0" sz="1000" spc="15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for</a:t>
            </a:r>
            <a:r>
              <a:rPr dirty="0" sz="1000" spc="16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cultivating</a:t>
            </a:r>
            <a:r>
              <a:rPr dirty="0" sz="1000" spc="165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virtue, </a:t>
            </a:r>
            <a:r>
              <a:rPr dirty="0" sz="1000">
                <a:latin typeface="Times New Roman"/>
                <a:cs typeface="Times New Roman"/>
              </a:rPr>
              <a:t>wisdom,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10">
                <a:latin typeface="Times New Roman"/>
                <a:cs typeface="Times New Roman"/>
              </a:rPr>
              <a:t> self-awareness.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6712" y="2988690"/>
            <a:ext cx="3014980" cy="7823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 indent="116205">
              <a:lnSpc>
                <a:spcPct val="99300"/>
              </a:lnSpc>
              <a:spcBef>
                <a:spcPts val="105"/>
              </a:spcBef>
              <a:buChar char="•"/>
              <a:tabLst>
                <a:tab pos="128905" algn="l"/>
              </a:tabLst>
            </a:pPr>
            <a:r>
              <a:rPr dirty="0" sz="1000">
                <a:latin typeface="Times New Roman"/>
                <a:cs typeface="Times New Roman"/>
              </a:rPr>
              <a:t>Basavanna’s</a:t>
            </a:r>
            <a:r>
              <a:rPr dirty="0" sz="1000" spc="2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Vachanas</a:t>
            </a:r>
            <a:r>
              <a:rPr dirty="0" sz="1000" spc="2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are</a:t>
            </a:r>
            <a:r>
              <a:rPr dirty="0" sz="1000" spc="3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known</a:t>
            </a:r>
            <a:r>
              <a:rPr dirty="0" sz="1000" spc="3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for</a:t>
            </a:r>
            <a:r>
              <a:rPr dirty="0" sz="1000" spc="2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their</a:t>
            </a:r>
            <a:r>
              <a:rPr dirty="0" sz="1000" spc="29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spiritual </a:t>
            </a:r>
            <a:r>
              <a:rPr dirty="0" sz="1000">
                <a:latin typeface="Times New Roman"/>
                <a:cs typeface="Times New Roman"/>
              </a:rPr>
              <a:t>egalitarianism</a:t>
            </a:r>
            <a:r>
              <a:rPr dirty="0" sz="1000" spc="1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moral</a:t>
            </a:r>
            <a:r>
              <a:rPr dirty="0" sz="1000" spc="1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clarity.</a:t>
            </a:r>
            <a:r>
              <a:rPr dirty="0" sz="1000" spc="1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These</a:t>
            </a:r>
            <a:r>
              <a:rPr dirty="0" sz="1000" spc="1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poems</a:t>
            </a:r>
            <a:r>
              <a:rPr dirty="0" sz="1000" spc="17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advocate </a:t>
            </a:r>
            <a:r>
              <a:rPr dirty="0" sz="1000">
                <a:latin typeface="Times New Roman"/>
                <a:cs typeface="Times New Roman"/>
              </a:rPr>
              <a:t>simplicity,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compassion,</a:t>
            </a:r>
            <a:r>
              <a:rPr dirty="0" sz="1000" spc="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equality,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introspection</a:t>
            </a:r>
            <a:r>
              <a:rPr dirty="0" sz="1000" spc="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values </a:t>
            </a:r>
            <a:r>
              <a:rPr dirty="0" sz="1000">
                <a:latin typeface="Times New Roman"/>
                <a:cs typeface="Times New Roman"/>
              </a:rPr>
              <a:t>that</a:t>
            </a:r>
            <a:r>
              <a:rPr dirty="0" sz="1000" spc="30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align</a:t>
            </a:r>
            <a:r>
              <a:rPr dirty="0" sz="1000" spc="3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closely</a:t>
            </a:r>
            <a:r>
              <a:rPr dirty="0" sz="1000" spc="3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with</a:t>
            </a:r>
            <a:r>
              <a:rPr dirty="0" sz="1000" spc="3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30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3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needs</a:t>
            </a:r>
            <a:r>
              <a:rPr dirty="0" sz="1000" spc="30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30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young </a:t>
            </a:r>
            <a:r>
              <a:rPr dirty="0" sz="1000">
                <a:latin typeface="Times New Roman"/>
                <a:cs typeface="Times New Roman"/>
              </a:rPr>
              <a:t>learners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(Patil,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2017).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6712" y="3896995"/>
            <a:ext cx="3014980" cy="784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95250">
              <a:lnSpc>
                <a:spcPct val="99500"/>
              </a:lnSpc>
              <a:spcBef>
                <a:spcPts val="100"/>
              </a:spcBef>
              <a:buChar char="•"/>
              <a:tabLst>
                <a:tab pos="107950" algn="l"/>
              </a:tabLst>
            </a:pP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Hitopadesha,</a:t>
            </a:r>
            <a:r>
              <a:rPr dirty="0" sz="1000" spc="1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Sanskrit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compilation</a:t>
            </a:r>
            <a:r>
              <a:rPr dirty="0" sz="1000" spc="1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1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instructive </a:t>
            </a:r>
            <a:r>
              <a:rPr dirty="0" sz="1000">
                <a:latin typeface="Times New Roman"/>
                <a:cs typeface="Times New Roman"/>
              </a:rPr>
              <a:t>fables,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conveys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strategic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thinking,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diplomacy,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ethical </a:t>
            </a:r>
            <a:r>
              <a:rPr dirty="0" sz="1000">
                <a:latin typeface="Times New Roman"/>
                <a:cs typeface="Times New Roman"/>
              </a:rPr>
              <a:t>judgment</a:t>
            </a:r>
            <a:r>
              <a:rPr dirty="0" sz="1000" spc="3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through</a:t>
            </a:r>
            <a:r>
              <a:rPr dirty="0" sz="1000" spc="3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allegorical</a:t>
            </a:r>
            <a:r>
              <a:rPr dirty="0" sz="1000" spc="3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storytelling.</a:t>
            </a:r>
            <a:r>
              <a:rPr dirty="0" sz="1000" spc="3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It</a:t>
            </a:r>
            <a:r>
              <a:rPr dirty="0" sz="1000" spc="3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has</a:t>
            </a:r>
            <a:r>
              <a:rPr dirty="0" sz="1000" spc="34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been </a:t>
            </a:r>
            <a:r>
              <a:rPr dirty="0" sz="1000">
                <a:latin typeface="Times New Roman"/>
                <a:cs typeface="Times New Roman"/>
              </a:rPr>
              <a:t>regarded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as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timeless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resource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for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life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lessons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ethical reasoning.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6712" y="4807077"/>
            <a:ext cx="3016885" cy="1843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88900">
              <a:lnSpc>
                <a:spcPct val="99400"/>
              </a:lnSpc>
              <a:spcBef>
                <a:spcPts val="100"/>
              </a:spcBef>
              <a:buChar char="•"/>
              <a:tabLst>
                <a:tab pos="101600" algn="l"/>
              </a:tabLst>
            </a:pPr>
            <a:r>
              <a:rPr dirty="0" sz="1000">
                <a:latin typeface="Times New Roman"/>
                <a:cs typeface="Times New Roman"/>
              </a:rPr>
              <a:t>Panchatantra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stories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employ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animal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characters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moral </a:t>
            </a:r>
            <a:r>
              <a:rPr dirty="0" sz="1000">
                <a:latin typeface="Times New Roman"/>
                <a:cs typeface="Times New Roman"/>
              </a:rPr>
              <a:t>parables,</a:t>
            </a:r>
            <a:r>
              <a:rPr dirty="0" sz="1000" spc="1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making</a:t>
            </a:r>
            <a:r>
              <a:rPr dirty="0" sz="1000" spc="1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abstract</a:t>
            </a:r>
            <a:r>
              <a:rPr dirty="0" sz="1000" spc="1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ethical</a:t>
            </a:r>
            <a:r>
              <a:rPr dirty="0" sz="1000" spc="1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concepts</a:t>
            </a:r>
            <a:r>
              <a:rPr dirty="0" sz="1000" spc="1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accessible</a:t>
            </a:r>
            <a:r>
              <a:rPr dirty="0" sz="1000" spc="18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to </a:t>
            </a:r>
            <a:r>
              <a:rPr dirty="0" sz="1000">
                <a:latin typeface="Times New Roman"/>
                <a:cs typeface="Times New Roman"/>
              </a:rPr>
              <a:t>children.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These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tales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have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been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widely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used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schools</a:t>
            </a:r>
            <a:r>
              <a:rPr dirty="0" sz="1000" spc="3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to </a:t>
            </a:r>
            <a:r>
              <a:rPr dirty="0" sz="1000">
                <a:latin typeface="Times New Roman"/>
                <a:cs typeface="Times New Roman"/>
              </a:rPr>
              <a:t>teach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practical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wisdom,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honesty,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cooperation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(Singh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Times New Roman"/>
                <a:cs typeface="Times New Roman"/>
              </a:rPr>
              <a:t>&amp;</a:t>
            </a:r>
            <a:r>
              <a:rPr dirty="0" sz="1000" spc="-10">
                <a:latin typeface="Times New Roman"/>
                <a:cs typeface="Times New Roman"/>
              </a:rPr>
              <a:t> Verma,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2015).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Rao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(2016)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highlights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relevance</a:t>
            </a:r>
            <a:r>
              <a:rPr dirty="0" sz="1000" spc="-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these </a:t>
            </a:r>
            <a:r>
              <a:rPr dirty="0" sz="1000">
                <a:latin typeface="Times New Roman"/>
                <a:cs typeface="Times New Roman"/>
              </a:rPr>
              <a:t>texts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today’s</a:t>
            </a:r>
            <a:r>
              <a:rPr dirty="0" sz="1000" spc="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mental</a:t>
            </a:r>
            <a:r>
              <a:rPr dirty="0" sz="1000" spc="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health</a:t>
            </a:r>
            <a:r>
              <a:rPr dirty="0" sz="1000" spc="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discourse,</a:t>
            </a:r>
            <a:r>
              <a:rPr dirty="0" sz="1000" spc="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emphasizing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that </a:t>
            </a:r>
            <a:r>
              <a:rPr dirty="0" sz="1000" spc="-10">
                <a:latin typeface="Times New Roman"/>
                <a:cs typeface="Times New Roman"/>
              </a:rPr>
              <a:t>ancient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Indian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teachings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offer </a:t>
            </a:r>
            <a:r>
              <a:rPr dirty="0" sz="1000" spc="-10">
                <a:latin typeface="Times New Roman"/>
                <a:cs typeface="Times New Roman"/>
              </a:rPr>
              <a:t>effective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tools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for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developing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regulation,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self-</a:t>
            </a:r>
            <a:r>
              <a:rPr dirty="0" sz="1000">
                <a:latin typeface="Times New Roman"/>
                <a:cs typeface="Times New Roman"/>
              </a:rPr>
              <a:t>discipline,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inner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peace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key </a:t>
            </a:r>
            <a:r>
              <a:rPr dirty="0" sz="1000">
                <a:latin typeface="Times New Roman"/>
                <a:cs typeface="Times New Roman"/>
              </a:rPr>
              <a:t>components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mental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wellness.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12700" marR="6350">
              <a:lnSpc>
                <a:spcPct val="100000"/>
              </a:lnSpc>
            </a:pPr>
            <a:r>
              <a:rPr dirty="0" sz="1000" b="1">
                <a:latin typeface="Times New Roman"/>
                <a:cs typeface="Times New Roman"/>
              </a:rPr>
              <a:t>2.3</a:t>
            </a:r>
            <a:r>
              <a:rPr dirty="0" sz="1000" spc="160" b="1">
                <a:latin typeface="Times New Roman"/>
                <a:cs typeface="Times New Roman"/>
              </a:rPr>
              <a:t>  </a:t>
            </a:r>
            <a:r>
              <a:rPr dirty="0" sz="1000" b="1">
                <a:latin typeface="Times New Roman"/>
                <a:cs typeface="Times New Roman"/>
              </a:rPr>
              <a:t>Impact</a:t>
            </a:r>
            <a:r>
              <a:rPr dirty="0" sz="1000" spc="160" b="1">
                <a:latin typeface="Times New Roman"/>
                <a:cs typeface="Times New Roman"/>
              </a:rPr>
              <a:t>  </a:t>
            </a:r>
            <a:r>
              <a:rPr dirty="0" sz="1000" b="1">
                <a:latin typeface="Times New Roman"/>
                <a:cs typeface="Times New Roman"/>
              </a:rPr>
              <a:t>of</a:t>
            </a:r>
            <a:r>
              <a:rPr dirty="0" sz="1000" spc="155" b="1">
                <a:latin typeface="Times New Roman"/>
                <a:cs typeface="Times New Roman"/>
              </a:rPr>
              <a:t>  </a:t>
            </a:r>
            <a:r>
              <a:rPr dirty="0" sz="1000" spc="-10" b="1">
                <a:latin typeface="Times New Roman"/>
                <a:cs typeface="Times New Roman"/>
              </a:rPr>
              <a:t>Value-</a:t>
            </a:r>
            <a:r>
              <a:rPr dirty="0" sz="1000" b="1">
                <a:latin typeface="Times New Roman"/>
                <a:cs typeface="Times New Roman"/>
              </a:rPr>
              <a:t>Based</a:t>
            </a:r>
            <a:r>
              <a:rPr dirty="0" sz="1000" spc="160" b="1">
                <a:latin typeface="Times New Roman"/>
                <a:cs typeface="Times New Roman"/>
              </a:rPr>
              <a:t>  </a:t>
            </a:r>
            <a:r>
              <a:rPr dirty="0" sz="1000" b="1">
                <a:latin typeface="Times New Roman"/>
                <a:cs typeface="Times New Roman"/>
              </a:rPr>
              <a:t>Training</a:t>
            </a:r>
            <a:r>
              <a:rPr dirty="0" sz="1000" spc="160" b="1">
                <a:latin typeface="Times New Roman"/>
                <a:cs typeface="Times New Roman"/>
              </a:rPr>
              <a:t>  </a:t>
            </a:r>
            <a:r>
              <a:rPr dirty="0" sz="1000" b="1">
                <a:latin typeface="Times New Roman"/>
                <a:cs typeface="Times New Roman"/>
              </a:rPr>
              <a:t>in</a:t>
            </a:r>
            <a:r>
              <a:rPr dirty="0" sz="1000" spc="160" b="1">
                <a:latin typeface="Times New Roman"/>
                <a:cs typeface="Times New Roman"/>
              </a:rPr>
              <a:t>  </a:t>
            </a:r>
            <a:r>
              <a:rPr dirty="0" sz="1000" spc="-10" b="1">
                <a:latin typeface="Times New Roman"/>
                <a:cs typeface="Times New Roman"/>
              </a:rPr>
              <a:t>Modern Contexts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6712" y="6625590"/>
            <a:ext cx="3015615" cy="47942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algn="just" marL="12700" marR="5080">
              <a:lnSpc>
                <a:spcPts val="1190"/>
              </a:lnSpc>
              <a:spcBef>
                <a:spcPts val="140"/>
              </a:spcBef>
            </a:pPr>
            <a:r>
              <a:rPr dirty="0" sz="1000">
                <a:latin typeface="Times New Roman"/>
                <a:cs typeface="Times New Roman"/>
              </a:rPr>
              <a:t>Empirical</a:t>
            </a:r>
            <a:r>
              <a:rPr dirty="0" sz="1000" spc="25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studies</a:t>
            </a:r>
            <a:r>
              <a:rPr dirty="0" sz="1000" spc="24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have</a:t>
            </a:r>
            <a:r>
              <a:rPr dirty="0" sz="1000" spc="25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demonstrated</a:t>
            </a:r>
            <a:r>
              <a:rPr dirty="0" sz="1000" spc="254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250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positive </a:t>
            </a:r>
            <a:r>
              <a:rPr dirty="0" sz="1000">
                <a:latin typeface="Times New Roman"/>
                <a:cs typeface="Times New Roman"/>
              </a:rPr>
              <a:t>psychological</a:t>
            </a:r>
            <a:r>
              <a:rPr dirty="0" sz="1000" spc="1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outcomes</a:t>
            </a:r>
            <a:r>
              <a:rPr dirty="0" sz="1000" spc="1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1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integrating</a:t>
            </a:r>
            <a:r>
              <a:rPr dirty="0" sz="1000" spc="1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traditional</a:t>
            </a:r>
            <a:r>
              <a:rPr dirty="0" sz="1000" spc="18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values </a:t>
            </a:r>
            <a:r>
              <a:rPr dirty="0" sz="1000">
                <a:latin typeface="Times New Roman"/>
                <a:cs typeface="Times New Roman"/>
              </a:rPr>
              <a:t>with contemporary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pedagogy.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 a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study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by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Mehta </a:t>
            </a:r>
            <a:r>
              <a:rPr dirty="0" sz="1000" spc="-10">
                <a:latin typeface="Times New Roman"/>
                <a:cs typeface="Times New Roman"/>
              </a:rPr>
              <a:t>(2021),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6712" y="7079742"/>
            <a:ext cx="3018790" cy="1541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99500"/>
              </a:lnSpc>
              <a:spcBef>
                <a:spcPts val="100"/>
              </a:spcBef>
            </a:pPr>
            <a:r>
              <a:rPr dirty="0" sz="1000" spc="-5">
                <a:latin typeface="Times New Roman"/>
                <a:cs typeface="Times New Roman"/>
              </a:rPr>
              <a:t>school</a:t>
            </a:r>
            <a:r>
              <a:rPr dirty="0" sz="1000" spc="-6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students</a:t>
            </a:r>
            <a:r>
              <a:rPr dirty="0" sz="1000" spc="-6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exposed</a:t>
            </a:r>
            <a:r>
              <a:rPr dirty="0" sz="1000" spc="-5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to</a:t>
            </a:r>
            <a:r>
              <a:rPr dirty="0" sz="1000" spc="-6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</a:t>
            </a:r>
            <a:r>
              <a:rPr dirty="0" sz="1000" spc="-6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curriculum</a:t>
            </a:r>
            <a:r>
              <a:rPr dirty="0" sz="1000" spc="-5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infused</a:t>
            </a:r>
            <a:r>
              <a:rPr dirty="0" sz="1000" spc="-5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with</a:t>
            </a:r>
            <a:r>
              <a:rPr dirty="0" sz="1000" spc="-6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Indian</a:t>
            </a:r>
            <a:r>
              <a:rPr dirty="0" sz="1000" spc="-5">
                <a:latin typeface="Times New Roman"/>
                <a:cs typeface="Times New Roman"/>
              </a:rPr>
              <a:t> mythological</a:t>
            </a:r>
            <a:r>
              <a:rPr dirty="0" sz="1000" spc="57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stories</a:t>
            </a:r>
            <a:r>
              <a:rPr dirty="0" sz="1000" spc="57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exhibited</a:t>
            </a:r>
            <a:r>
              <a:rPr dirty="0" sz="1000" spc="58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improved</a:t>
            </a:r>
            <a:r>
              <a:rPr dirty="0" sz="1000" spc="58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self-esteem, </a:t>
            </a:r>
            <a:r>
              <a:rPr dirty="0" sz="1000" spc="-10">
                <a:latin typeface="Times New Roman"/>
                <a:cs typeface="Times New Roman"/>
              </a:rPr>
              <a:t>reduced</a:t>
            </a:r>
            <a:r>
              <a:rPr dirty="0" sz="1000" spc="55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anxiety,</a:t>
            </a:r>
            <a:r>
              <a:rPr dirty="0" sz="1000" spc="55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and</a:t>
            </a:r>
            <a:r>
              <a:rPr dirty="0" sz="1000" spc="55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better</a:t>
            </a:r>
            <a:r>
              <a:rPr dirty="0" sz="1000" spc="55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peer</a:t>
            </a:r>
            <a:r>
              <a:rPr dirty="0" sz="1000" spc="55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relationships.</a:t>
            </a:r>
            <a:r>
              <a:rPr dirty="0" sz="1000" spc="55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The intervention </a:t>
            </a:r>
            <a:r>
              <a:rPr dirty="0" sz="1000" spc="-10">
                <a:latin typeface="Times New Roman"/>
                <a:cs typeface="Times New Roman"/>
              </a:rPr>
              <a:t>used</a:t>
            </a:r>
            <a:r>
              <a:rPr dirty="0" sz="1000" spc="-5">
                <a:latin typeface="Times New Roman"/>
                <a:cs typeface="Times New Roman"/>
              </a:rPr>
              <a:t> storytelling,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group</a:t>
            </a:r>
            <a:r>
              <a:rPr dirty="0" sz="1000" spc="-5">
                <a:latin typeface="Times New Roman"/>
                <a:cs typeface="Times New Roman"/>
              </a:rPr>
              <a:t> dialogue,</a:t>
            </a:r>
            <a:r>
              <a:rPr dirty="0" sz="1000" spc="-10">
                <a:latin typeface="Times New Roman"/>
                <a:cs typeface="Times New Roman"/>
              </a:rPr>
              <a:t> and</a:t>
            </a:r>
            <a:r>
              <a:rPr dirty="0" sz="1000" spc="-5">
                <a:latin typeface="Times New Roman"/>
                <a:cs typeface="Times New Roman"/>
              </a:rPr>
              <a:t> creative reflection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to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foster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inner resilience.</a:t>
            </a:r>
            <a:endParaRPr sz="1000">
              <a:latin typeface="Times New Roman"/>
              <a:cs typeface="Times New Roman"/>
            </a:endParaRPr>
          </a:p>
          <a:p>
            <a:pPr marL="12700" marR="5080">
              <a:lnSpc>
                <a:spcPts val="1190"/>
              </a:lnSpc>
              <a:spcBef>
                <a:spcPts val="35"/>
              </a:spcBef>
            </a:pPr>
            <a:r>
              <a:rPr dirty="0" sz="1000">
                <a:latin typeface="Times New Roman"/>
                <a:cs typeface="Times New Roman"/>
              </a:rPr>
              <a:t>Similarly,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Joshi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(2018)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implemented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value-</a:t>
            </a:r>
            <a:r>
              <a:rPr dirty="0" sz="1000">
                <a:latin typeface="Times New Roman"/>
                <a:cs typeface="Times New Roman"/>
              </a:rPr>
              <a:t>based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module </a:t>
            </a:r>
            <a:r>
              <a:rPr dirty="0" sz="1000">
                <a:latin typeface="Times New Roman"/>
                <a:cs typeface="Times New Roman"/>
              </a:rPr>
              <a:t>combining</a:t>
            </a:r>
            <a:r>
              <a:rPr dirty="0" sz="1000" spc="2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reflective</a:t>
            </a:r>
            <a:r>
              <a:rPr dirty="0" sz="1000" spc="2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exercises</a:t>
            </a:r>
            <a:r>
              <a:rPr dirty="0" sz="1000" spc="1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with</a:t>
            </a:r>
            <a:r>
              <a:rPr dirty="0" sz="1000" spc="20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traditional</a:t>
            </a:r>
            <a:r>
              <a:rPr dirty="0" sz="1000" spc="19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proverbs</a:t>
            </a:r>
            <a:endParaRPr sz="1000">
              <a:latin typeface="Times New Roman"/>
              <a:cs typeface="Times New Roman"/>
            </a:endParaRPr>
          </a:p>
          <a:p>
            <a:pPr marL="12700" marR="8890">
              <a:lnSpc>
                <a:spcPts val="1190"/>
              </a:lnSpc>
              <a:spcBef>
                <a:spcPts val="10"/>
              </a:spcBef>
            </a:pP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3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stories.</a:t>
            </a:r>
            <a:r>
              <a:rPr dirty="0" sz="1000" spc="12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12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study</a:t>
            </a:r>
            <a:r>
              <a:rPr dirty="0" sz="1000" spc="12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reported</a:t>
            </a:r>
            <a:r>
              <a:rPr dirty="0" sz="1000" spc="13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increased</a:t>
            </a:r>
            <a:r>
              <a:rPr dirty="0" sz="1000" spc="130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empathy, </a:t>
            </a:r>
            <a:r>
              <a:rPr dirty="0" sz="1000">
                <a:latin typeface="Times New Roman"/>
                <a:cs typeface="Times New Roman"/>
              </a:rPr>
              <a:t>patience,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cooperative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behavior</a:t>
            </a:r>
            <a:r>
              <a:rPr dirty="0" sz="1000" spc="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among</a:t>
            </a:r>
            <a:r>
              <a:rPr dirty="0" sz="1000" spc="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students,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along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160"/>
              </a:lnSpc>
            </a:pPr>
            <a:r>
              <a:rPr dirty="0" sz="1000">
                <a:latin typeface="Times New Roman"/>
                <a:cs typeface="Times New Roman"/>
              </a:rPr>
              <a:t>with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better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classroom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dynamics.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6712" y="8745728"/>
            <a:ext cx="3016885" cy="633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Times New Roman"/>
                <a:cs typeface="Times New Roman"/>
              </a:rPr>
              <a:t>2.4</a:t>
            </a:r>
            <a:r>
              <a:rPr dirty="0" sz="1000" spc="180" b="1">
                <a:latin typeface="Times New Roman"/>
                <a:cs typeface="Times New Roman"/>
              </a:rPr>
              <a:t>  </a:t>
            </a:r>
            <a:r>
              <a:rPr dirty="0" sz="1000" b="1">
                <a:latin typeface="Times New Roman"/>
                <a:cs typeface="Times New Roman"/>
              </a:rPr>
              <a:t>Research</a:t>
            </a:r>
            <a:r>
              <a:rPr dirty="0" sz="1000" spc="170" b="1">
                <a:latin typeface="Times New Roman"/>
                <a:cs typeface="Times New Roman"/>
              </a:rPr>
              <a:t>  </a:t>
            </a:r>
            <a:r>
              <a:rPr dirty="0" sz="1000" b="1">
                <a:latin typeface="Times New Roman"/>
                <a:cs typeface="Times New Roman"/>
              </a:rPr>
              <a:t>Gaps</a:t>
            </a:r>
            <a:r>
              <a:rPr dirty="0" sz="1000" spc="175" b="1">
                <a:latin typeface="Times New Roman"/>
                <a:cs typeface="Times New Roman"/>
              </a:rPr>
              <a:t>  </a:t>
            </a:r>
            <a:r>
              <a:rPr dirty="0" sz="1000" b="1">
                <a:latin typeface="Times New Roman"/>
                <a:cs typeface="Times New Roman"/>
              </a:rPr>
              <a:t>and</a:t>
            </a:r>
            <a:r>
              <a:rPr dirty="0" sz="1000" spc="175" b="1">
                <a:latin typeface="Times New Roman"/>
                <a:cs typeface="Times New Roman"/>
              </a:rPr>
              <a:t>  </a:t>
            </a:r>
            <a:r>
              <a:rPr dirty="0" sz="1000" b="1">
                <a:latin typeface="Times New Roman"/>
                <a:cs typeface="Times New Roman"/>
              </a:rPr>
              <a:t>the</a:t>
            </a:r>
            <a:r>
              <a:rPr dirty="0" sz="1000" spc="175" b="1">
                <a:latin typeface="Times New Roman"/>
                <a:cs typeface="Times New Roman"/>
              </a:rPr>
              <a:t>  </a:t>
            </a:r>
            <a:r>
              <a:rPr dirty="0" sz="1000" b="1">
                <a:latin typeface="Times New Roman"/>
                <a:cs typeface="Times New Roman"/>
              </a:rPr>
              <a:t>Need</a:t>
            </a:r>
            <a:r>
              <a:rPr dirty="0" sz="1000" spc="175" b="1">
                <a:latin typeface="Times New Roman"/>
                <a:cs typeface="Times New Roman"/>
              </a:rPr>
              <a:t>  </a:t>
            </a:r>
            <a:r>
              <a:rPr dirty="0" sz="1000" b="1">
                <a:latin typeface="Times New Roman"/>
                <a:cs typeface="Times New Roman"/>
              </a:rPr>
              <a:t>for</a:t>
            </a:r>
            <a:r>
              <a:rPr dirty="0" sz="1000" spc="180" b="1">
                <a:latin typeface="Times New Roman"/>
                <a:cs typeface="Times New Roman"/>
              </a:rPr>
              <a:t>  </a:t>
            </a:r>
            <a:r>
              <a:rPr dirty="0" sz="1000" spc="-10" b="1">
                <a:latin typeface="Times New Roman"/>
                <a:cs typeface="Times New Roman"/>
              </a:rPr>
              <a:t>Cultural Integration</a:t>
            </a:r>
            <a:endParaRPr sz="1000">
              <a:latin typeface="Times New Roman"/>
              <a:cs typeface="Times New Roman"/>
            </a:endParaRPr>
          </a:p>
          <a:p>
            <a:pPr marL="12700" marR="6985">
              <a:lnSpc>
                <a:spcPts val="1200"/>
              </a:lnSpc>
              <a:spcBef>
                <a:spcPts val="30"/>
              </a:spcBef>
            </a:pPr>
            <a:r>
              <a:rPr dirty="0" sz="1000">
                <a:latin typeface="Times New Roman"/>
                <a:cs typeface="Times New Roman"/>
              </a:rPr>
              <a:t>While</a:t>
            </a:r>
            <a:r>
              <a:rPr dirty="0" sz="1000" spc="1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2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existing</a:t>
            </a:r>
            <a:r>
              <a:rPr dirty="0" sz="1000" spc="20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literature</a:t>
            </a:r>
            <a:r>
              <a:rPr dirty="0" sz="1000" spc="1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supports</a:t>
            </a:r>
            <a:r>
              <a:rPr dirty="0" sz="1000" spc="1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20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integration</a:t>
            </a:r>
            <a:r>
              <a:rPr dirty="0" sz="1000" spc="19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of </a:t>
            </a:r>
            <a:r>
              <a:rPr dirty="0" sz="1000">
                <a:latin typeface="Times New Roman"/>
                <a:cs typeface="Times New Roman"/>
              </a:rPr>
              <a:t>moral and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learning,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few studies have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rigorously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21734" y="563372"/>
            <a:ext cx="3093720" cy="1995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8255">
              <a:lnSpc>
                <a:spcPct val="9940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examined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mental-</a:t>
            </a:r>
            <a:r>
              <a:rPr dirty="0" sz="1000">
                <a:latin typeface="Times New Roman"/>
                <a:cs typeface="Times New Roman"/>
              </a:rPr>
              <a:t>health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outcomes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training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programs </a:t>
            </a:r>
            <a:r>
              <a:rPr dirty="0" sz="1000">
                <a:latin typeface="Times New Roman"/>
                <a:cs typeface="Times New Roman"/>
              </a:rPr>
              <a:t>rooted</a:t>
            </a:r>
            <a:r>
              <a:rPr dirty="0" sz="1000" spc="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specifically</a:t>
            </a:r>
            <a:r>
              <a:rPr dirty="0" sz="1000" spc="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Indian</a:t>
            </a:r>
            <a:r>
              <a:rPr dirty="0" sz="1000" spc="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cultural</a:t>
            </a:r>
            <a:r>
              <a:rPr dirty="0" sz="1000" spc="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heritage.</a:t>
            </a:r>
            <a:r>
              <a:rPr dirty="0" sz="1000" spc="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Furthermore, </a:t>
            </a:r>
            <a:r>
              <a:rPr dirty="0" sz="1000">
                <a:latin typeface="Times New Roman"/>
                <a:cs typeface="Times New Roman"/>
              </a:rPr>
              <a:t>most</a:t>
            </a:r>
            <a:r>
              <a:rPr dirty="0" sz="1000" spc="20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interventions</a:t>
            </a:r>
            <a:r>
              <a:rPr dirty="0" sz="1000" spc="20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have</a:t>
            </a:r>
            <a:r>
              <a:rPr dirty="0" sz="1000" spc="2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focused</a:t>
            </a:r>
            <a:r>
              <a:rPr dirty="0" sz="1000" spc="2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either</a:t>
            </a:r>
            <a:r>
              <a:rPr dirty="0" sz="1000" spc="2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on</a:t>
            </a:r>
            <a:r>
              <a:rPr dirty="0" sz="1000" spc="2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general</a:t>
            </a:r>
            <a:r>
              <a:rPr dirty="0" sz="1000" spc="204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moral </a:t>
            </a:r>
            <a:r>
              <a:rPr dirty="0" sz="1000">
                <a:latin typeface="Times New Roman"/>
                <a:cs typeface="Times New Roman"/>
              </a:rPr>
              <a:t>development</a:t>
            </a:r>
            <a:r>
              <a:rPr dirty="0" sz="1000" spc="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or</a:t>
            </a:r>
            <a:r>
              <a:rPr dirty="0" sz="1000" spc="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academic</a:t>
            </a:r>
            <a:r>
              <a:rPr dirty="0" sz="1000" spc="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behavior,</a:t>
            </a:r>
            <a:r>
              <a:rPr dirty="0" sz="1000" spc="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with</a:t>
            </a:r>
            <a:r>
              <a:rPr dirty="0" sz="1000" spc="10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limited</a:t>
            </a:r>
            <a:r>
              <a:rPr dirty="0" sz="1000" spc="10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emphasis </a:t>
            </a:r>
            <a:r>
              <a:rPr dirty="0" sz="1000">
                <a:latin typeface="Times New Roman"/>
                <a:cs typeface="Times New Roman"/>
              </a:rPr>
              <a:t>on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structured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skill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training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that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draws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directly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from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texts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like </a:t>
            </a:r>
            <a:r>
              <a:rPr dirty="0" sz="1000">
                <a:latin typeface="Times New Roman"/>
                <a:cs typeface="Times New Roman"/>
              </a:rPr>
              <a:t>Vachanas,</a:t>
            </a:r>
            <a:r>
              <a:rPr dirty="0" sz="1000" spc="-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Hitopadesha,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4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Panchatantra.</a:t>
            </a: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190"/>
              </a:lnSpc>
            </a:pPr>
            <a:r>
              <a:rPr dirty="0" sz="1000">
                <a:latin typeface="Times New Roman"/>
                <a:cs typeface="Times New Roman"/>
              </a:rPr>
              <a:t>This</a:t>
            </a:r>
            <a:r>
              <a:rPr dirty="0" sz="1000" spc="3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research</a:t>
            </a:r>
            <a:r>
              <a:rPr dirty="0" sz="1000" spc="3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aims</a:t>
            </a:r>
            <a:r>
              <a:rPr dirty="0" sz="1000" spc="3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3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fill</a:t>
            </a:r>
            <a:r>
              <a:rPr dirty="0" sz="1000" spc="3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that</a:t>
            </a:r>
            <a:r>
              <a:rPr dirty="0" sz="1000" spc="3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gap</a:t>
            </a:r>
            <a:r>
              <a:rPr dirty="0" sz="1000" spc="3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by</a:t>
            </a:r>
            <a:r>
              <a:rPr dirty="0" sz="1000" spc="3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evaluating</a:t>
            </a:r>
            <a:r>
              <a:rPr dirty="0" sz="1000" spc="38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the</a:t>
            </a:r>
            <a:endParaRPr sz="10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9400"/>
              </a:lnSpc>
              <a:spcBef>
                <a:spcPts val="10"/>
              </a:spcBef>
            </a:pPr>
            <a:r>
              <a:rPr dirty="0" sz="1000">
                <a:latin typeface="Times New Roman"/>
                <a:cs typeface="Times New Roman"/>
              </a:rPr>
              <a:t>psychological</a:t>
            </a:r>
            <a:r>
              <a:rPr dirty="0" sz="1000" spc="2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2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229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impact</a:t>
            </a:r>
            <a:r>
              <a:rPr dirty="0" sz="1000" spc="2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2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value-based</a:t>
            </a:r>
            <a:r>
              <a:rPr dirty="0" sz="1000" spc="2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skill </a:t>
            </a:r>
            <a:r>
              <a:rPr dirty="0" sz="1000">
                <a:latin typeface="Times New Roman"/>
                <a:cs typeface="Times New Roman"/>
              </a:rPr>
              <a:t>training</a:t>
            </a:r>
            <a:r>
              <a:rPr dirty="0" sz="1000" spc="10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built</a:t>
            </a:r>
            <a:r>
              <a:rPr dirty="0" sz="1000" spc="10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entirely</a:t>
            </a:r>
            <a:r>
              <a:rPr dirty="0" sz="1000" spc="1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on</a:t>
            </a:r>
            <a:r>
              <a:rPr dirty="0" sz="1000" spc="1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traditional</a:t>
            </a:r>
            <a:r>
              <a:rPr dirty="0" sz="1000" spc="11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Indian</a:t>
            </a:r>
            <a:r>
              <a:rPr dirty="0" sz="1000" spc="10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narratives.</a:t>
            </a:r>
            <a:r>
              <a:rPr dirty="0" sz="1000" spc="10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The </a:t>
            </a:r>
            <a:r>
              <a:rPr dirty="0" sz="1000">
                <a:latin typeface="Times New Roman"/>
                <a:cs typeface="Times New Roman"/>
              </a:rPr>
              <a:t>study not only measures improvements in emotional </a:t>
            </a:r>
            <a:r>
              <a:rPr dirty="0" sz="1000" spc="-10">
                <a:latin typeface="Times New Roman"/>
                <a:cs typeface="Times New Roman"/>
              </a:rPr>
              <a:t>well-</a:t>
            </a:r>
            <a:r>
              <a:rPr dirty="0" sz="1000">
                <a:latin typeface="Times New Roman"/>
                <a:cs typeface="Times New Roman"/>
              </a:rPr>
              <a:t>being</a:t>
            </a:r>
            <a:r>
              <a:rPr dirty="0" sz="1000" spc="17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but</a:t>
            </a:r>
            <a:r>
              <a:rPr dirty="0" sz="1000" spc="17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also</a:t>
            </a:r>
            <a:r>
              <a:rPr dirty="0" sz="1000" spc="17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explores</a:t>
            </a:r>
            <a:r>
              <a:rPr dirty="0" sz="1000" spc="16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how</a:t>
            </a:r>
            <a:r>
              <a:rPr dirty="0" sz="1000" spc="17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such</a:t>
            </a:r>
            <a:r>
              <a:rPr dirty="0" sz="1000" spc="17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teachings</a:t>
            </a:r>
            <a:r>
              <a:rPr dirty="0" sz="1000" spc="165">
                <a:latin typeface="Times New Roman"/>
                <a:cs typeface="Times New Roman"/>
              </a:rPr>
              <a:t>  </a:t>
            </a:r>
            <a:r>
              <a:rPr dirty="0" sz="1000" spc="-20">
                <a:latin typeface="Times New Roman"/>
                <a:cs typeface="Times New Roman"/>
              </a:rPr>
              <a:t>shape </a:t>
            </a:r>
            <a:r>
              <a:rPr dirty="0" sz="1000">
                <a:latin typeface="Times New Roman"/>
                <a:cs typeface="Times New Roman"/>
              </a:rPr>
              <a:t>interpersonal</a:t>
            </a:r>
            <a:r>
              <a:rPr dirty="0" sz="1000" spc="2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behavior,</a:t>
            </a:r>
            <a:r>
              <a:rPr dirty="0" sz="1000" spc="2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empathy,</a:t>
            </a:r>
            <a:r>
              <a:rPr dirty="0" sz="1000" spc="2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2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self-</a:t>
            </a:r>
            <a:r>
              <a:rPr dirty="0" sz="1000">
                <a:latin typeface="Times New Roman"/>
                <a:cs typeface="Times New Roman"/>
              </a:rPr>
              <a:t>identity</a:t>
            </a:r>
            <a:r>
              <a:rPr dirty="0" sz="1000" spc="21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among </a:t>
            </a:r>
            <a:r>
              <a:rPr dirty="0" sz="1000">
                <a:latin typeface="Times New Roman"/>
                <a:cs typeface="Times New Roman"/>
              </a:rPr>
              <a:t>school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students.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21734" y="2685414"/>
            <a:ext cx="3090545" cy="1085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ts val="1195"/>
              </a:lnSpc>
              <a:spcBef>
                <a:spcPts val="95"/>
              </a:spcBef>
            </a:pPr>
            <a:r>
              <a:rPr dirty="0" sz="1000" b="1">
                <a:latin typeface="Times New Roman"/>
                <a:cs typeface="Times New Roman"/>
              </a:rPr>
              <a:t>2.5</a:t>
            </a:r>
            <a:r>
              <a:rPr dirty="0" sz="1000" spc="-1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Critical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Appraisal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of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the</a:t>
            </a:r>
            <a:r>
              <a:rPr dirty="0" sz="1000" spc="-30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Review</a:t>
            </a:r>
            <a:endParaRPr sz="10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9400"/>
              </a:lnSpc>
            </a:pP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existing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literature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strongly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supports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positive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role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of </a:t>
            </a:r>
            <a:r>
              <a:rPr dirty="0" sz="1000" spc="-10">
                <a:latin typeface="Times New Roman"/>
                <a:cs typeface="Times New Roman"/>
              </a:rPr>
              <a:t>value-</a:t>
            </a:r>
            <a:r>
              <a:rPr dirty="0" sz="1000">
                <a:latin typeface="Times New Roman"/>
                <a:cs typeface="Times New Roman"/>
              </a:rPr>
              <a:t>based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education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improving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students’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mental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health,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250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well-</a:t>
            </a:r>
            <a:r>
              <a:rPr dirty="0" sz="1000">
                <a:latin typeface="Times New Roman"/>
                <a:cs typeface="Times New Roman"/>
              </a:rPr>
              <a:t>being,</a:t>
            </a:r>
            <a:r>
              <a:rPr dirty="0" sz="1000" spc="254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25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social</a:t>
            </a:r>
            <a:r>
              <a:rPr dirty="0" sz="1000" spc="254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behavior.</a:t>
            </a:r>
            <a:r>
              <a:rPr dirty="0" sz="1000" spc="254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Studies </a:t>
            </a:r>
            <a:r>
              <a:rPr dirty="0" sz="1000">
                <a:latin typeface="Times New Roman"/>
                <a:cs typeface="Times New Roman"/>
              </a:rPr>
              <a:t>consistently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highlight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benefits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incorporating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life</a:t>
            </a:r>
            <a:r>
              <a:rPr dirty="0" sz="1000" spc="-10">
                <a:latin typeface="Times New Roman"/>
                <a:cs typeface="Times New Roman"/>
              </a:rPr>
              <a:t> skills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ethical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teachings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into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school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curriculum,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particularly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enhancing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empathy,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resilience,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moral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reasoning.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21734" y="3896995"/>
            <a:ext cx="308864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imes New Roman"/>
                <a:cs typeface="Times New Roman"/>
              </a:rPr>
              <a:t>However,</a:t>
            </a:r>
            <a:r>
              <a:rPr dirty="0" sz="1000" spc="2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despite</a:t>
            </a:r>
            <a:r>
              <a:rPr dirty="0" sz="1000" spc="2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2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encouraging</a:t>
            </a:r>
            <a:r>
              <a:rPr dirty="0" sz="1000" spc="2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findings,</a:t>
            </a:r>
            <a:r>
              <a:rPr dirty="0" sz="1000" spc="2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several</a:t>
            </a:r>
            <a:r>
              <a:rPr dirty="0" sz="1000" spc="21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gaps </a:t>
            </a:r>
            <a:r>
              <a:rPr dirty="0" sz="1000">
                <a:latin typeface="Times New Roman"/>
                <a:cs typeface="Times New Roman"/>
              </a:rPr>
              <a:t>remain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unaddressed: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21734" y="4351147"/>
            <a:ext cx="3093720" cy="3360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9525" indent="78105">
              <a:lnSpc>
                <a:spcPct val="99500"/>
              </a:lnSpc>
              <a:spcBef>
                <a:spcPts val="100"/>
              </a:spcBef>
              <a:buChar char="•"/>
              <a:tabLst>
                <a:tab pos="90805" algn="l"/>
              </a:tabLst>
            </a:pPr>
            <a:r>
              <a:rPr dirty="0" sz="1000">
                <a:latin typeface="Times New Roman"/>
                <a:cs typeface="Times New Roman"/>
              </a:rPr>
              <a:t>Limited use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 integrated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traditional sources: Most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studies </a:t>
            </a:r>
            <a:r>
              <a:rPr dirty="0" sz="1000">
                <a:latin typeface="Times New Roman"/>
                <a:cs typeface="Times New Roman"/>
              </a:rPr>
              <a:t>rely</a:t>
            </a:r>
            <a:r>
              <a:rPr dirty="0" sz="1000" spc="2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on</a:t>
            </a:r>
            <a:r>
              <a:rPr dirty="0" sz="1000" spc="2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singular</a:t>
            </a:r>
            <a:r>
              <a:rPr dirty="0" sz="1000" spc="2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texts</a:t>
            </a:r>
            <a:r>
              <a:rPr dirty="0" sz="1000" spc="25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or</a:t>
            </a:r>
            <a:r>
              <a:rPr dirty="0" sz="1000" spc="2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general</a:t>
            </a:r>
            <a:r>
              <a:rPr dirty="0" sz="1000" spc="2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moral</a:t>
            </a:r>
            <a:r>
              <a:rPr dirty="0" sz="1000" spc="2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content</a:t>
            </a:r>
            <a:r>
              <a:rPr dirty="0" sz="1000" spc="27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without </a:t>
            </a:r>
            <a:r>
              <a:rPr dirty="0" sz="1000">
                <a:latin typeface="Times New Roman"/>
                <a:cs typeface="Times New Roman"/>
              </a:rPr>
              <a:t>synthesizing</a:t>
            </a:r>
            <a:r>
              <a:rPr dirty="0" sz="1000" spc="2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diverse</a:t>
            </a:r>
            <a:r>
              <a:rPr dirty="0" sz="1000" spc="2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sources</a:t>
            </a:r>
            <a:r>
              <a:rPr dirty="0" sz="1000" spc="2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2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Indian</a:t>
            </a:r>
            <a:r>
              <a:rPr dirty="0" sz="1000" spc="3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wisdom</a:t>
            </a:r>
            <a:r>
              <a:rPr dirty="0" sz="1000" spc="2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such</a:t>
            </a:r>
            <a:r>
              <a:rPr dirty="0" sz="1000" spc="30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as </a:t>
            </a:r>
            <a:r>
              <a:rPr dirty="0" sz="1000">
                <a:latin typeface="Times New Roman"/>
                <a:cs typeface="Times New Roman"/>
              </a:rPr>
              <a:t>Basavanna’s</a:t>
            </a:r>
            <a:r>
              <a:rPr dirty="0" sz="1000" spc="4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Vachanas,</a:t>
            </a:r>
            <a:r>
              <a:rPr dirty="0" sz="1000" spc="4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Hitopadesha,</a:t>
            </a:r>
            <a:r>
              <a:rPr dirty="0" sz="1000" spc="4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47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Panchatantra stories.</a:t>
            </a:r>
            <a:endParaRPr sz="1000">
              <a:latin typeface="Times New Roman"/>
              <a:cs typeface="Times New Roman"/>
            </a:endParaRPr>
          </a:p>
          <a:p>
            <a:pPr algn="just" marL="83820" indent="-71120">
              <a:lnSpc>
                <a:spcPts val="1190"/>
              </a:lnSpc>
              <a:buChar char="•"/>
              <a:tabLst>
                <a:tab pos="83820" algn="l"/>
              </a:tabLst>
            </a:pPr>
            <a:r>
              <a:rPr dirty="0" sz="1000" spc="-10">
                <a:latin typeface="Times New Roman"/>
                <a:cs typeface="Times New Roman"/>
              </a:rPr>
              <a:t>Lack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10">
                <a:latin typeface="Times New Roman"/>
                <a:cs typeface="Times New Roman"/>
              </a:rPr>
              <a:t> long-term follow-</a:t>
            </a:r>
            <a:r>
              <a:rPr dirty="0" sz="1000">
                <a:latin typeface="Times New Roman"/>
                <a:cs typeface="Times New Roman"/>
              </a:rPr>
              <a:t>up: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Many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interventions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are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short-</a:t>
            </a: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195"/>
              </a:lnSpc>
            </a:pPr>
            <a:r>
              <a:rPr dirty="0" sz="1000">
                <a:latin typeface="Times New Roman"/>
                <a:cs typeface="Times New Roman"/>
              </a:rPr>
              <a:t>term</a:t>
            </a:r>
            <a:r>
              <a:rPr dirty="0" sz="1000" spc="1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do</a:t>
            </a:r>
            <a:r>
              <a:rPr dirty="0" sz="1000" spc="1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not</a:t>
            </a:r>
            <a:r>
              <a:rPr dirty="0" sz="1000" spc="1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assess</a:t>
            </a:r>
            <a:r>
              <a:rPr dirty="0" sz="1000" spc="1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1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sustained</a:t>
            </a:r>
            <a:r>
              <a:rPr dirty="0" sz="1000" spc="1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impact</a:t>
            </a:r>
            <a:r>
              <a:rPr dirty="0" sz="1000" spc="1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on</a:t>
            </a:r>
            <a:r>
              <a:rPr dirty="0" sz="1000" spc="16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students’</a:t>
            </a: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195"/>
              </a:lnSpc>
            </a:pPr>
            <a:r>
              <a:rPr dirty="0" sz="1000">
                <a:latin typeface="Times New Roman"/>
                <a:cs typeface="Times New Roman"/>
              </a:rPr>
              <a:t>mental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health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behavior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over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time.</a:t>
            </a:r>
            <a:endParaRPr sz="1000">
              <a:latin typeface="Times New Roman"/>
              <a:cs typeface="Times New Roman"/>
            </a:endParaRPr>
          </a:p>
          <a:p>
            <a:pPr algn="just" marL="12700" marR="7620" indent="134620">
              <a:lnSpc>
                <a:spcPct val="99300"/>
              </a:lnSpc>
              <a:spcBef>
                <a:spcPts val="10"/>
              </a:spcBef>
              <a:buChar char="•"/>
              <a:tabLst>
                <a:tab pos="147320" algn="l"/>
              </a:tabLst>
            </a:pPr>
            <a:r>
              <a:rPr dirty="0" sz="1000">
                <a:latin typeface="Times New Roman"/>
                <a:cs typeface="Times New Roman"/>
              </a:rPr>
              <a:t>Restricted</a:t>
            </a:r>
            <a:r>
              <a:rPr dirty="0" sz="1000" spc="4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generalizability:</a:t>
            </a:r>
            <a:r>
              <a:rPr dirty="0" sz="1000" spc="43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4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majority</a:t>
            </a:r>
            <a:r>
              <a:rPr dirty="0" sz="1000" spc="43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434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existing </a:t>
            </a:r>
            <a:r>
              <a:rPr dirty="0" sz="1000">
                <a:latin typeface="Times New Roman"/>
                <a:cs typeface="Times New Roman"/>
              </a:rPr>
              <a:t>research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is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either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small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scale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or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context-</a:t>
            </a:r>
            <a:r>
              <a:rPr dirty="0" sz="1000">
                <a:latin typeface="Times New Roman"/>
                <a:cs typeface="Times New Roman"/>
              </a:rPr>
              <a:t>specific,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limiting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18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broader</a:t>
            </a:r>
            <a:r>
              <a:rPr dirty="0" sz="1000" spc="18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applicability</a:t>
            </a:r>
            <a:r>
              <a:rPr dirty="0" sz="1000" spc="17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18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findings</a:t>
            </a:r>
            <a:r>
              <a:rPr dirty="0" sz="1000" spc="18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across</a:t>
            </a:r>
            <a:r>
              <a:rPr dirty="0" sz="1000" spc="185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diverse </a:t>
            </a:r>
            <a:r>
              <a:rPr dirty="0" sz="1000">
                <a:latin typeface="Times New Roman"/>
                <a:cs typeface="Times New Roman"/>
              </a:rPr>
              <a:t>educational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settings.</a:t>
            </a:r>
            <a:endParaRPr sz="1000">
              <a:latin typeface="Times New Roman"/>
              <a:cs typeface="Times New Roman"/>
            </a:endParaRPr>
          </a:p>
          <a:p>
            <a:pPr algn="just" marL="81915" indent="-69215">
              <a:lnSpc>
                <a:spcPts val="1190"/>
              </a:lnSpc>
              <a:buChar char="•"/>
              <a:tabLst>
                <a:tab pos="81915" algn="l"/>
              </a:tabLst>
            </a:pPr>
            <a:r>
              <a:rPr dirty="0" sz="1000" spc="-10">
                <a:latin typeface="Times New Roman"/>
                <a:cs typeface="Times New Roman"/>
              </a:rPr>
              <a:t>Insufficient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focus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on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mental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health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metrics: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Few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studies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use</a:t>
            </a:r>
            <a:endParaRPr sz="1000">
              <a:latin typeface="Times New Roman"/>
              <a:cs typeface="Times New Roman"/>
            </a:endParaRPr>
          </a:p>
          <a:p>
            <a:pPr algn="just" marL="12700" marR="7620">
              <a:lnSpc>
                <a:spcPct val="100000"/>
              </a:lnSpc>
            </a:pPr>
            <a:r>
              <a:rPr dirty="0" sz="1000">
                <a:latin typeface="Times New Roman"/>
                <a:cs typeface="Times New Roman"/>
              </a:rPr>
              <a:t>structured, measurable indicators of psychological </a:t>
            </a:r>
            <a:r>
              <a:rPr dirty="0" sz="1000" spc="-10">
                <a:latin typeface="Times New Roman"/>
                <a:cs typeface="Times New Roman"/>
              </a:rPr>
              <a:t>well-</a:t>
            </a:r>
            <a:r>
              <a:rPr dirty="0" sz="1000">
                <a:latin typeface="Times New Roman"/>
                <a:cs typeface="Times New Roman"/>
              </a:rPr>
              <a:t>being,</a:t>
            </a:r>
            <a:r>
              <a:rPr dirty="0" sz="1000" spc="4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such</a:t>
            </a:r>
            <a:r>
              <a:rPr dirty="0" sz="1000" spc="4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as</a:t>
            </a:r>
            <a:r>
              <a:rPr dirty="0" sz="1000" spc="4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43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regulation,</a:t>
            </a:r>
            <a:r>
              <a:rPr dirty="0" sz="1000" spc="4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stress</a:t>
            </a:r>
            <a:r>
              <a:rPr dirty="0" sz="1000" spc="4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levels,</a:t>
            </a:r>
            <a:r>
              <a:rPr dirty="0" sz="1000" spc="44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or </a:t>
            </a:r>
            <a:r>
              <a:rPr dirty="0" sz="1000">
                <a:latin typeface="Times New Roman"/>
                <a:cs typeface="Times New Roman"/>
              </a:rPr>
              <a:t>interpersonal</a:t>
            </a:r>
            <a:r>
              <a:rPr dirty="0" sz="1000" spc="-5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functioning.</a:t>
            </a:r>
            <a:endParaRPr sz="1000">
              <a:latin typeface="Times New Roman"/>
              <a:cs typeface="Times New Roman"/>
            </a:endParaRPr>
          </a:p>
          <a:p>
            <a:pPr marL="12700" marR="10795">
              <a:lnSpc>
                <a:spcPts val="1190"/>
              </a:lnSpc>
              <a:spcBef>
                <a:spcPts val="25"/>
              </a:spcBef>
            </a:pPr>
            <a:r>
              <a:rPr dirty="0" sz="1000">
                <a:latin typeface="Times New Roman"/>
                <a:cs typeface="Times New Roman"/>
              </a:rPr>
              <a:t>This</a:t>
            </a:r>
            <a:r>
              <a:rPr dirty="0" sz="1000" spc="3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critical</a:t>
            </a:r>
            <a:r>
              <a:rPr dirty="0" sz="1000" spc="3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appraisal</a:t>
            </a:r>
            <a:r>
              <a:rPr dirty="0" sz="1000" spc="3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points</a:t>
            </a:r>
            <a:r>
              <a:rPr dirty="0" sz="1000" spc="3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3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3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need</a:t>
            </a:r>
            <a:r>
              <a:rPr dirty="0" sz="1000" spc="3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for</a:t>
            </a:r>
            <a:r>
              <a:rPr dirty="0" sz="1000" spc="3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39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more </a:t>
            </a:r>
            <a:r>
              <a:rPr dirty="0" sz="1000">
                <a:latin typeface="Times New Roman"/>
                <a:cs typeface="Times New Roman"/>
              </a:rPr>
              <a:t>comprehensive,</a:t>
            </a:r>
            <a:r>
              <a:rPr dirty="0" sz="1000" spc="22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empirically</a:t>
            </a:r>
            <a:r>
              <a:rPr dirty="0" sz="1000" spc="22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grounded,</a:t>
            </a:r>
            <a:r>
              <a:rPr dirty="0" sz="1000" spc="22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220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culturally</a:t>
            </a:r>
            <a:endParaRPr sz="1000">
              <a:latin typeface="Times New Roman"/>
              <a:cs typeface="Times New Roman"/>
            </a:endParaRPr>
          </a:p>
          <a:p>
            <a:pPr marL="12700" marR="10160">
              <a:lnSpc>
                <a:spcPts val="1190"/>
              </a:lnSpc>
              <a:spcBef>
                <a:spcPts val="10"/>
              </a:spcBef>
            </a:pPr>
            <a:r>
              <a:rPr dirty="0" sz="1000">
                <a:latin typeface="Times New Roman"/>
                <a:cs typeface="Times New Roman"/>
              </a:rPr>
              <a:t>integrated</a:t>
            </a:r>
            <a:r>
              <a:rPr dirty="0" sz="1000" spc="2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approach.</a:t>
            </a:r>
            <a:r>
              <a:rPr dirty="0" sz="1000" spc="1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Addressing</a:t>
            </a:r>
            <a:r>
              <a:rPr dirty="0" sz="1000" spc="2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these</a:t>
            </a:r>
            <a:r>
              <a:rPr dirty="0" sz="1000" spc="1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research</a:t>
            </a:r>
            <a:r>
              <a:rPr dirty="0" sz="1000" spc="2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gaps,</a:t>
            </a:r>
            <a:r>
              <a:rPr dirty="0" sz="1000" spc="19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the </a:t>
            </a:r>
            <a:r>
              <a:rPr dirty="0" sz="1000">
                <a:latin typeface="Times New Roman"/>
                <a:cs typeface="Times New Roman"/>
              </a:rPr>
              <a:t>present</a:t>
            </a:r>
            <a:r>
              <a:rPr dirty="0" sz="1000" spc="2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study</a:t>
            </a:r>
            <a:r>
              <a:rPr dirty="0" sz="1000" spc="2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seeks</a:t>
            </a:r>
            <a:r>
              <a:rPr dirty="0" sz="1000" spc="2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2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evaluate</a:t>
            </a:r>
            <a:r>
              <a:rPr dirty="0" sz="1000" spc="2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2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collective</a:t>
            </a:r>
            <a:r>
              <a:rPr dirty="0" sz="1000" spc="2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impact</a:t>
            </a:r>
            <a:r>
              <a:rPr dirty="0" sz="1000" spc="23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of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155"/>
              </a:lnSpc>
            </a:pPr>
            <a:r>
              <a:rPr dirty="0" sz="1000">
                <a:latin typeface="Times New Roman"/>
                <a:cs typeface="Times New Roman"/>
              </a:rPr>
              <a:t>traditional</a:t>
            </a:r>
            <a:r>
              <a:rPr dirty="0" sz="1000" spc="16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Indian</a:t>
            </a:r>
            <a:r>
              <a:rPr dirty="0" sz="1000" spc="17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value</a:t>
            </a:r>
            <a:r>
              <a:rPr dirty="0" sz="1000" spc="16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system</a:t>
            </a:r>
            <a:r>
              <a:rPr dirty="0" sz="1000" spc="17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on</a:t>
            </a:r>
            <a:r>
              <a:rPr dirty="0" sz="1000" spc="17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students’</a:t>
            </a:r>
            <a:r>
              <a:rPr dirty="0" sz="1000" spc="165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overall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195"/>
              </a:lnSpc>
            </a:pPr>
            <a:r>
              <a:rPr dirty="0" sz="1000" spc="-10">
                <a:latin typeface="Times New Roman"/>
                <a:cs typeface="Times New Roman"/>
              </a:rPr>
              <a:t>development.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21734" y="8594852"/>
            <a:ext cx="10731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Times New Roman"/>
                <a:cs typeface="Times New Roman"/>
              </a:rPr>
              <a:t>2.6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Proposed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spc="-20" b="1">
                <a:latin typeface="Times New Roman"/>
                <a:cs typeface="Times New Roman"/>
              </a:rPr>
              <a:t>Study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21734" y="8898128"/>
            <a:ext cx="3088005" cy="480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9950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2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response</a:t>
            </a:r>
            <a:r>
              <a:rPr dirty="0" sz="1000" spc="2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2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1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identified</a:t>
            </a:r>
            <a:r>
              <a:rPr dirty="0" sz="1000" spc="1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gaps,</a:t>
            </a:r>
            <a:r>
              <a:rPr dirty="0" sz="1000" spc="2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this</a:t>
            </a:r>
            <a:r>
              <a:rPr dirty="0" sz="1000" spc="1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study</a:t>
            </a:r>
            <a:r>
              <a:rPr dirty="0" sz="1000" spc="2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proposes</a:t>
            </a:r>
            <a:r>
              <a:rPr dirty="0" sz="1000" spc="195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Times New Roman"/>
                <a:cs typeface="Times New Roman"/>
              </a:rPr>
              <a:t>a</a:t>
            </a:r>
            <a:r>
              <a:rPr dirty="0" sz="1000" spc="-10">
                <a:latin typeface="Times New Roman"/>
                <a:cs typeface="Times New Roman"/>
              </a:rPr>
              <a:t> value-</a:t>
            </a:r>
            <a:r>
              <a:rPr dirty="0" sz="1000">
                <a:latin typeface="Times New Roman"/>
                <a:cs typeface="Times New Roman"/>
              </a:rPr>
              <a:t>based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skill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training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program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specifically</a:t>
            </a:r>
            <a:r>
              <a:rPr dirty="0" sz="1000" spc="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designed</a:t>
            </a:r>
            <a:r>
              <a:rPr dirty="0" sz="1000" spc="3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for </a:t>
            </a:r>
            <a:r>
              <a:rPr dirty="0" sz="1000">
                <a:latin typeface="Times New Roman"/>
                <a:cs typeface="Times New Roman"/>
              </a:rPr>
              <a:t>school</a:t>
            </a:r>
            <a:r>
              <a:rPr dirty="0" sz="1000" spc="2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students,</a:t>
            </a:r>
            <a:r>
              <a:rPr dirty="0" sz="1000" spc="2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integrating</a:t>
            </a:r>
            <a:r>
              <a:rPr dirty="0" sz="1000" spc="2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teachings</a:t>
            </a:r>
            <a:r>
              <a:rPr dirty="0" sz="1000" spc="2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from</a:t>
            </a:r>
            <a:r>
              <a:rPr dirty="0" sz="1000" spc="29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Basavanna’s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6712" y="436879"/>
            <a:ext cx="3018155" cy="784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9950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Vachanas,</a:t>
            </a:r>
            <a:r>
              <a:rPr dirty="0" sz="1000" spc="3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Hitopadesha,</a:t>
            </a:r>
            <a:r>
              <a:rPr dirty="0" sz="1000" spc="3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3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Panchatantra</a:t>
            </a:r>
            <a:r>
              <a:rPr dirty="0" sz="1000" spc="3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stories.</a:t>
            </a:r>
            <a:r>
              <a:rPr dirty="0" sz="1000" spc="34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The </a:t>
            </a:r>
            <a:r>
              <a:rPr dirty="0" sz="1000">
                <a:latin typeface="Times New Roman"/>
                <a:cs typeface="Times New Roman"/>
              </a:rPr>
              <a:t>study</a:t>
            </a:r>
            <a:r>
              <a:rPr dirty="0" sz="1000" spc="4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aims</a:t>
            </a:r>
            <a:r>
              <a:rPr dirty="0" sz="1000" spc="4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4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examine</a:t>
            </a:r>
            <a:r>
              <a:rPr dirty="0" sz="1000" spc="4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how</a:t>
            </a:r>
            <a:r>
              <a:rPr dirty="0" sz="1000" spc="4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these</a:t>
            </a:r>
            <a:r>
              <a:rPr dirty="0" sz="1000" spc="4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traditional</a:t>
            </a:r>
            <a:r>
              <a:rPr dirty="0" sz="1000" spc="4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Indian </a:t>
            </a:r>
            <a:r>
              <a:rPr dirty="0" sz="1000">
                <a:latin typeface="Times New Roman"/>
                <a:cs typeface="Times New Roman"/>
              </a:rPr>
              <a:t>narratives,</a:t>
            </a:r>
            <a:r>
              <a:rPr dirty="0" sz="1000" spc="2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when</a:t>
            </a:r>
            <a:r>
              <a:rPr dirty="0" sz="1000" spc="2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systematically</a:t>
            </a:r>
            <a:r>
              <a:rPr dirty="0" sz="1000" spc="2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implemented,</a:t>
            </a:r>
            <a:r>
              <a:rPr dirty="0" sz="1000" spc="27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influence </a:t>
            </a:r>
            <a:r>
              <a:rPr dirty="0" sz="1000">
                <a:latin typeface="Times New Roman"/>
                <a:cs typeface="Times New Roman"/>
              </a:rPr>
              <a:t>students’</a:t>
            </a:r>
            <a:r>
              <a:rPr dirty="0" sz="1000" spc="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mental</a:t>
            </a:r>
            <a:r>
              <a:rPr dirty="0" sz="1000" spc="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health,</a:t>
            </a:r>
            <a:r>
              <a:rPr dirty="0" sz="1000" spc="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well-being,</a:t>
            </a:r>
            <a:r>
              <a:rPr dirty="0" sz="1000" spc="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0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moral </a:t>
            </a:r>
            <a:r>
              <a:rPr dirty="0" sz="1000" spc="-10">
                <a:latin typeface="Times New Roman"/>
                <a:cs typeface="Times New Roman"/>
              </a:rPr>
              <a:t>development.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6712" y="1346962"/>
            <a:ext cx="3013710" cy="479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195"/>
              </a:lnSpc>
              <a:spcBef>
                <a:spcPts val="95"/>
              </a:spcBef>
            </a:pPr>
            <a:r>
              <a:rPr dirty="0" sz="1000">
                <a:latin typeface="Times New Roman"/>
                <a:cs typeface="Times New Roman"/>
              </a:rPr>
              <a:t>Key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Features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Proposed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Study:</a:t>
            </a:r>
            <a:endParaRPr sz="1000">
              <a:latin typeface="Times New Roman"/>
              <a:cs typeface="Times New Roman"/>
            </a:endParaRPr>
          </a:p>
          <a:p>
            <a:pPr marL="149225" indent="-136525">
              <a:lnSpc>
                <a:spcPts val="1190"/>
              </a:lnSpc>
              <a:buChar char="•"/>
              <a:tabLst>
                <a:tab pos="149225" algn="l"/>
              </a:tabLst>
            </a:pPr>
            <a:r>
              <a:rPr dirty="0" sz="1000">
                <a:latin typeface="Times New Roman"/>
                <a:cs typeface="Times New Roman"/>
              </a:rPr>
              <a:t>Holistic</a:t>
            </a:r>
            <a:r>
              <a:rPr dirty="0" sz="1000" spc="4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Integration:</a:t>
            </a:r>
            <a:r>
              <a:rPr dirty="0" sz="1000" spc="4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Unlike</a:t>
            </a:r>
            <a:r>
              <a:rPr dirty="0" sz="1000" spc="4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previous</a:t>
            </a:r>
            <a:r>
              <a:rPr dirty="0" sz="1000" spc="43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research</a:t>
            </a:r>
            <a:r>
              <a:rPr dirty="0" sz="1000" spc="44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that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195"/>
              </a:lnSpc>
            </a:pPr>
            <a:r>
              <a:rPr dirty="0" sz="1000">
                <a:latin typeface="Times New Roman"/>
                <a:cs typeface="Times New Roman"/>
              </a:rPr>
              <a:t>explores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isolated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texts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or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generalized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moral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education,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this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6712" y="1801114"/>
            <a:ext cx="3014980" cy="480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9950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study</a:t>
            </a:r>
            <a:r>
              <a:rPr dirty="0" sz="1000" spc="1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draws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from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multiple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culturally</a:t>
            </a:r>
            <a:r>
              <a:rPr dirty="0" sz="1000" spc="1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significant</a:t>
            </a:r>
            <a:r>
              <a:rPr dirty="0" sz="1000" spc="114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sources, </a:t>
            </a:r>
            <a:r>
              <a:rPr dirty="0" sz="1000">
                <a:latin typeface="Times New Roman"/>
                <a:cs typeface="Times New Roman"/>
              </a:rPr>
              <a:t>ensuring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1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broad</a:t>
            </a:r>
            <a:r>
              <a:rPr dirty="0" sz="1000" spc="1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meaningful</a:t>
            </a:r>
            <a:r>
              <a:rPr dirty="0" sz="1000" spc="1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exposure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1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traditional </a:t>
            </a:r>
            <a:r>
              <a:rPr dirty="0" sz="1000">
                <a:latin typeface="Times New Roman"/>
                <a:cs typeface="Times New Roman"/>
              </a:rPr>
              <a:t>Indian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wisdom.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6712" y="2406141"/>
            <a:ext cx="3018790" cy="784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184785">
              <a:lnSpc>
                <a:spcPct val="99600"/>
              </a:lnSpc>
              <a:spcBef>
                <a:spcPts val="100"/>
              </a:spcBef>
              <a:buChar char="•"/>
              <a:tabLst>
                <a:tab pos="197485" algn="l"/>
              </a:tabLst>
            </a:pPr>
            <a:r>
              <a:rPr dirty="0" sz="1000">
                <a:latin typeface="Times New Roman"/>
                <a:cs typeface="Times New Roman"/>
              </a:rPr>
              <a:t>Structured</a:t>
            </a:r>
            <a:r>
              <a:rPr dirty="0" sz="1000" spc="28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Intervention:</a:t>
            </a:r>
            <a:r>
              <a:rPr dirty="0" sz="1000" spc="28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28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program</a:t>
            </a:r>
            <a:r>
              <a:rPr dirty="0" sz="1000" spc="280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involves </a:t>
            </a:r>
            <a:r>
              <a:rPr dirty="0" sz="1000">
                <a:latin typeface="Times New Roman"/>
                <a:cs typeface="Times New Roman"/>
              </a:rPr>
              <a:t>storytelling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sessions,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group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activities,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guided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discussions,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reflective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exercises,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all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tailored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communicate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core </a:t>
            </a:r>
            <a:r>
              <a:rPr dirty="0" sz="1000">
                <a:latin typeface="Times New Roman"/>
                <a:cs typeface="Times New Roman"/>
              </a:rPr>
              <a:t>values such as compassion, honesty, patience, and </a:t>
            </a:r>
            <a:r>
              <a:rPr dirty="0" sz="1000" spc="-20">
                <a:latin typeface="Times New Roman"/>
                <a:cs typeface="Times New Roman"/>
              </a:rPr>
              <a:t>self-</a:t>
            </a:r>
            <a:r>
              <a:rPr dirty="0" sz="1000" spc="-10">
                <a:latin typeface="Times New Roman"/>
                <a:cs typeface="Times New Roman"/>
              </a:rPr>
              <a:t>discipline.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6712" y="3316351"/>
            <a:ext cx="3015615" cy="32829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2700" marR="5080" indent="67945">
              <a:lnSpc>
                <a:spcPts val="1190"/>
              </a:lnSpc>
              <a:spcBef>
                <a:spcPts val="145"/>
              </a:spcBef>
              <a:buChar char="•"/>
              <a:tabLst>
                <a:tab pos="80645" algn="l"/>
              </a:tabLst>
            </a:pPr>
            <a:r>
              <a:rPr dirty="0" sz="1000" spc="-10">
                <a:latin typeface="Times New Roman"/>
                <a:cs typeface="Times New Roman"/>
              </a:rPr>
              <a:t>Target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Outcomes: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The</a:t>
            </a:r>
            <a:r>
              <a:rPr dirty="0" sz="1000" spc="-4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primary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focus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will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be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on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improving students’: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6848" y="3619627"/>
            <a:ext cx="2538095" cy="631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1940" indent="-269240">
              <a:lnSpc>
                <a:spcPts val="1195"/>
              </a:lnSpc>
              <a:spcBef>
                <a:spcPts val="95"/>
              </a:spcBef>
              <a:buChar char="•"/>
              <a:tabLst>
                <a:tab pos="281940" algn="l"/>
              </a:tabLst>
            </a:pP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regulation</a:t>
            </a:r>
            <a:endParaRPr sz="1000">
              <a:latin typeface="Times New Roman"/>
              <a:cs typeface="Times New Roman"/>
            </a:endParaRPr>
          </a:p>
          <a:p>
            <a:pPr marL="281940" indent="-269240">
              <a:lnSpc>
                <a:spcPts val="1195"/>
              </a:lnSpc>
              <a:buChar char="•"/>
              <a:tabLst>
                <a:tab pos="281940" algn="l"/>
              </a:tabLst>
            </a:pPr>
            <a:r>
              <a:rPr dirty="0" sz="1000">
                <a:latin typeface="Times New Roman"/>
                <a:cs typeface="Times New Roman"/>
              </a:rPr>
              <a:t>Empathy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social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awareness</a:t>
            </a:r>
            <a:endParaRPr sz="1000">
              <a:latin typeface="Times New Roman"/>
              <a:cs typeface="Times New Roman"/>
            </a:endParaRPr>
          </a:p>
          <a:p>
            <a:pPr marL="281940" indent="-269240">
              <a:lnSpc>
                <a:spcPts val="1195"/>
              </a:lnSpc>
              <a:buChar char="•"/>
              <a:tabLst>
                <a:tab pos="281940" algn="l"/>
              </a:tabLst>
            </a:pPr>
            <a:r>
              <a:rPr dirty="0" sz="1000" spc="-10">
                <a:latin typeface="Times New Roman"/>
                <a:cs typeface="Times New Roman"/>
              </a:rPr>
              <a:t>Self-</a:t>
            </a:r>
            <a:r>
              <a:rPr dirty="0" sz="1000">
                <a:latin typeface="Times New Roman"/>
                <a:cs typeface="Times New Roman"/>
              </a:rPr>
              <a:t>esteem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moral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reasoning</a:t>
            </a:r>
            <a:endParaRPr sz="1000">
              <a:latin typeface="Times New Roman"/>
              <a:cs typeface="Times New Roman"/>
            </a:endParaRPr>
          </a:p>
          <a:p>
            <a:pPr marL="281940" indent="-269240">
              <a:lnSpc>
                <a:spcPts val="1195"/>
              </a:lnSpc>
              <a:buChar char="•"/>
              <a:tabLst>
                <a:tab pos="281940" algn="l"/>
              </a:tabLst>
            </a:pPr>
            <a:r>
              <a:rPr dirty="0" sz="1000">
                <a:latin typeface="Times New Roman"/>
                <a:cs typeface="Times New Roman"/>
              </a:rPr>
              <a:t>Coping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mechanisms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 stress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management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6712" y="4377054"/>
            <a:ext cx="3018790" cy="2146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167005">
              <a:lnSpc>
                <a:spcPct val="99500"/>
              </a:lnSpc>
              <a:spcBef>
                <a:spcPts val="100"/>
              </a:spcBef>
              <a:buChar char="•"/>
              <a:tabLst>
                <a:tab pos="179705" algn="l"/>
              </a:tabLst>
            </a:pPr>
            <a:r>
              <a:rPr dirty="0" sz="1000">
                <a:latin typeface="Times New Roman"/>
                <a:cs typeface="Times New Roman"/>
              </a:rPr>
              <a:t>Empirical</a:t>
            </a:r>
            <a:r>
              <a:rPr dirty="0" sz="1000" spc="21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Evaluation:</a:t>
            </a:r>
            <a:r>
              <a:rPr dirty="0" sz="1000" spc="21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22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effectiveness</a:t>
            </a:r>
            <a:r>
              <a:rPr dirty="0" sz="1000" spc="21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220">
                <a:latin typeface="Times New Roman"/>
                <a:cs typeface="Times New Roman"/>
              </a:rPr>
              <a:t>  </a:t>
            </a:r>
            <a:r>
              <a:rPr dirty="0" sz="1000" spc="-25">
                <a:latin typeface="Times New Roman"/>
                <a:cs typeface="Times New Roman"/>
              </a:rPr>
              <a:t>the </a:t>
            </a:r>
            <a:r>
              <a:rPr dirty="0" sz="1000">
                <a:latin typeface="Times New Roman"/>
                <a:cs typeface="Times New Roman"/>
              </a:rPr>
              <a:t>intervention will be measured using pre- and </a:t>
            </a:r>
            <a:r>
              <a:rPr dirty="0" sz="1000" spc="-20">
                <a:latin typeface="Times New Roman"/>
                <a:cs typeface="Times New Roman"/>
              </a:rPr>
              <a:t>post-</a:t>
            </a:r>
            <a:r>
              <a:rPr dirty="0" sz="1000">
                <a:latin typeface="Times New Roman"/>
                <a:cs typeface="Times New Roman"/>
              </a:rPr>
              <a:t>intervention</a:t>
            </a:r>
            <a:r>
              <a:rPr dirty="0" sz="1000" spc="3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assessments,</a:t>
            </a:r>
            <a:r>
              <a:rPr dirty="0" sz="1000" spc="3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including</a:t>
            </a:r>
            <a:r>
              <a:rPr dirty="0" sz="1000" spc="3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questionnaires</a:t>
            </a:r>
            <a:r>
              <a:rPr dirty="0" sz="1000" spc="34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and </a:t>
            </a:r>
            <a:r>
              <a:rPr dirty="0" sz="1000">
                <a:latin typeface="Times New Roman"/>
                <a:cs typeface="Times New Roman"/>
              </a:rPr>
              <a:t>behavior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analysis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tools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quantify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changes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mental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and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health.</a:t>
            </a:r>
            <a:endParaRPr sz="1000">
              <a:latin typeface="Times New Roman"/>
              <a:cs typeface="Times New Roman"/>
            </a:endParaRPr>
          </a:p>
          <a:p>
            <a:pPr algn="just" marL="115570" indent="-102870">
              <a:lnSpc>
                <a:spcPts val="1180"/>
              </a:lnSpc>
              <a:buChar char="•"/>
              <a:tabLst>
                <a:tab pos="115570" algn="l"/>
              </a:tabLst>
            </a:pPr>
            <a:r>
              <a:rPr dirty="0" sz="1000">
                <a:latin typeface="Times New Roman"/>
                <a:cs typeface="Times New Roman"/>
              </a:rPr>
              <a:t>Culturally</a:t>
            </a:r>
            <a:r>
              <a:rPr dirty="0" sz="1000" spc="1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Rooted</a:t>
            </a:r>
            <a:r>
              <a:rPr dirty="0" sz="1000" spc="1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Framework:</a:t>
            </a:r>
            <a:r>
              <a:rPr dirty="0" sz="1000" spc="1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By</a:t>
            </a:r>
            <a:r>
              <a:rPr dirty="0" sz="1000" spc="1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reviving</a:t>
            </a:r>
            <a:r>
              <a:rPr dirty="0" sz="1000" spc="18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traditional</a:t>
            </a:r>
            <a:endParaRPr sz="1000">
              <a:latin typeface="Times New Roman"/>
              <a:cs typeface="Times New Roman"/>
            </a:endParaRPr>
          </a:p>
          <a:p>
            <a:pPr algn="just" marL="12700" marR="8255">
              <a:lnSpc>
                <a:spcPct val="99500"/>
              </a:lnSpc>
            </a:pPr>
            <a:r>
              <a:rPr dirty="0" sz="1000">
                <a:latin typeface="Times New Roman"/>
                <a:cs typeface="Times New Roman"/>
              </a:rPr>
              <a:t>texts</a:t>
            </a:r>
            <a:r>
              <a:rPr dirty="0" sz="1000" spc="3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within</a:t>
            </a:r>
            <a:r>
              <a:rPr dirty="0" sz="1000" spc="4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3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modern</a:t>
            </a:r>
            <a:r>
              <a:rPr dirty="0" sz="1000" spc="4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educational</a:t>
            </a:r>
            <a:r>
              <a:rPr dirty="0" sz="1000" spc="3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setting,</a:t>
            </a:r>
            <a:r>
              <a:rPr dirty="0" sz="1000" spc="3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39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study </a:t>
            </a:r>
            <a:r>
              <a:rPr dirty="0" sz="1000">
                <a:latin typeface="Times New Roman"/>
                <a:cs typeface="Times New Roman"/>
              </a:rPr>
              <a:t>contributes</a:t>
            </a:r>
            <a:r>
              <a:rPr dirty="0" sz="1000" spc="10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10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both</a:t>
            </a:r>
            <a:r>
              <a:rPr dirty="0" sz="1000" spc="11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mental</a:t>
            </a:r>
            <a:r>
              <a:rPr dirty="0" sz="1000" spc="11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health</a:t>
            </a:r>
            <a:r>
              <a:rPr dirty="0" sz="1000" spc="1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promotion</a:t>
            </a:r>
            <a:r>
              <a:rPr dirty="0" sz="1000" spc="10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cultural </a:t>
            </a:r>
            <a:r>
              <a:rPr dirty="0" sz="1000">
                <a:latin typeface="Times New Roman"/>
                <a:cs typeface="Times New Roman"/>
              </a:rPr>
              <a:t>preservation,</a:t>
            </a:r>
            <a:r>
              <a:rPr dirty="0" sz="1000" spc="2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demonstrating</a:t>
            </a:r>
            <a:r>
              <a:rPr dirty="0" sz="1000" spc="2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how</a:t>
            </a:r>
            <a:r>
              <a:rPr dirty="0" sz="1000" spc="2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ancient</a:t>
            </a:r>
            <a:r>
              <a:rPr dirty="0" sz="1000" spc="229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values</a:t>
            </a:r>
            <a:r>
              <a:rPr dirty="0" sz="1000" spc="2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can</a:t>
            </a:r>
            <a:r>
              <a:rPr dirty="0" sz="1000" spc="24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be</a:t>
            </a: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195"/>
              </a:lnSpc>
            </a:pPr>
            <a:r>
              <a:rPr dirty="0" sz="1000">
                <a:latin typeface="Times New Roman"/>
                <a:cs typeface="Times New Roman"/>
              </a:rPr>
              <a:t>relevant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impactful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today.</a:t>
            </a:r>
            <a:endParaRPr sz="10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9400"/>
              </a:lnSpc>
            </a:pPr>
            <a:r>
              <a:rPr dirty="0" sz="1000">
                <a:latin typeface="Times New Roman"/>
                <a:cs typeface="Times New Roman"/>
              </a:rPr>
              <a:t>This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proposed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study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thus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aims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provide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new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insights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and </a:t>
            </a:r>
            <a:r>
              <a:rPr dirty="0" sz="1000">
                <a:latin typeface="Times New Roman"/>
                <a:cs typeface="Times New Roman"/>
              </a:rPr>
              <a:t>empirical evidence into how culturally enriched </a:t>
            </a:r>
            <a:r>
              <a:rPr dirty="0" sz="1000" spc="-10">
                <a:latin typeface="Times New Roman"/>
                <a:cs typeface="Times New Roman"/>
              </a:rPr>
              <a:t>value-</a:t>
            </a:r>
            <a:r>
              <a:rPr dirty="0" sz="1000">
                <a:latin typeface="Times New Roman"/>
                <a:cs typeface="Times New Roman"/>
              </a:rPr>
              <a:t>based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training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can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serve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-10">
                <a:latin typeface="Times New Roman"/>
                <a:cs typeface="Times New Roman"/>
              </a:rPr>
              <a:t> transformative </a:t>
            </a:r>
            <a:r>
              <a:rPr dirty="0" sz="1000">
                <a:latin typeface="Times New Roman"/>
                <a:cs typeface="Times New Roman"/>
              </a:rPr>
              <a:t>tool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school-</a:t>
            </a:r>
            <a:r>
              <a:rPr dirty="0" sz="1000">
                <a:latin typeface="Times New Roman"/>
                <a:cs typeface="Times New Roman"/>
              </a:rPr>
              <a:t>based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mental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health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strategies.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6712" y="6649973"/>
            <a:ext cx="12014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Times New Roman"/>
                <a:cs typeface="Times New Roman"/>
              </a:rPr>
              <a:t>3.</a:t>
            </a:r>
            <a:r>
              <a:rPr dirty="0" sz="1000" spc="-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METHODOLOGY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6712" y="6953250"/>
            <a:ext cx="3017520" cy="1085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 indent="78740">
              <a:lnSpc>
                <a:spcPct val="99300"/>
              </a:lnSpc>
              <a:spcBef>
                <a:spcPts val="105"/>
              </a:spcBef>
              <a:buChar char="•"/>
              <a:tabLst>
                <a:tab pos="91440" algn="l"/>
              </a:tabLst>
            </a:pPr>
            <a:r>
              <a:rPr dirty="0" sz="1000">
                <a:latin typeface="Times New Roman"/>
                <a:cs typeface="Times New Roman"/>
              </a:rPr>
              <a:t>All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relevant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papers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were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collected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from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popular</a:t>
            </a:r>
            <a:r>
              <a:rPr dirty="0" sz="1000" spc="-10">
                <a:latin typeface="Times New Roman"/>
                <a:cs typeface="Times New Roman"/>
              </a:rPr>
              <a:t> searches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11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academic</a:t>
            </a:r>
            <a:r>
              <a:rPr dirty="0" sz="1000" spc="11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databases</a:t>
            </a:r>
            <a:r>
              <a:rPr dirty="0" sz="1000" spc="11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such</a:t>
            </a:r>
            <a:r>
              <a:rPr dirty="0" sz="1000" spc="1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as</a:t>
            </a:r>
            <a:r>
              <a:rPr dirty="0" sz="1000" spc="11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Google</a:t>
            </a:r>
            <a:r>
              <a:rPr dirty="0" sz="1000" spc="1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scholar,</a:t>
            </a:r>
            <a:r>
              <a:rPr dirty="0" sz="1000" spc="114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PubMed,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Semantic scholar,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focusing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on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publications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from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2015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25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2025.</a:t>
            </a:r>
            <a:r>
              <a:rPr dirty="0" sz="1000" spc="2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Key</a:t>
            </a:r>
            <a:r>
              <a:rPr dirty="0" sz="1000" spc="25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search</a:t>
            </a:r>
            <a:r>
              <a:rPr dirty="0" sz="1000" spc="2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terms</a:t>
            </a:r>
            <a:r>
              <a:rPr dirty="0" sz="1000" spc="2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included</a:t>
            </a:r>
            <a:r>
              <a:rPr dirty="0" sz="1000" spc="2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combinations</a:t>
            </a:r>
            <a:r>
              <a:rPr dirty="0" sz="1000" spc="254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like </a:t>
            </a:r>
            <a:r>
              <a:rPr dirty="0" sz="1000" spc="-10">
                <a:latin typeface="Times New Roman"/>
                <a:cs typeface="Times New Roman"/>
              </a:rPr>
              <a:t>“value-</a:t>
            </a:r>
            <a:r>
              <a:rPr dirty="0" sz="1000">
                <a:latin typeface="Times New Roman"/>
                <a:cs typeface="Times New Roman"/>
              </a:rPr>
              <a:t>based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education,” “mental health in students,”</a:t>
            </a:r>
            <a:r>
              <a:rPr dirty="0" sz="1000" spc="-10">
                <a:latin typeface="Times New Roman"/>
                <a:cs typeface="Times New Roman"/>
              </a:rPr>
              <a:t> “life </a:t>
            </a:r>
            <a:r>
              <a:rPr dirty="0" sz="1000">
                <a:latin typeface="Times New Roman"/>
                <a:cs typeface="Times New Roman"/>
              </a:rPr>
              <a:t>skills</a:t>
            </a:r>
            <a:r>
              <a:rPr dirty="0" sz="1000" spc="1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training,”</a:t>
            </a:r>
            <a:r>
              <a:rPr dirty="0" sz="1000" spc="1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“Basavanna</a:t>
            </a:r>
            <a:r>
              <a:rPr dirty="0" sz="1000" spc="1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Vachanas,”</a:t>
            </a:r>
            <a:r>
              <a:rPr dirty="0" sz="1000" spc="19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“Panchatantra,” “Hitopadesha,”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“resilience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 school</a:t>
            </a:r>
            <a:r>
              <a:rPr dirty="0" sz="1000" spc="-10">
                <a:latin typeface="Times New Roman"/>
                <a:cs typeface="Times New Roman"/>
              </a:rPr>
              <a:t> children.”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9412" y="8013954"/>
            <a:ext cx="444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Times New Roman"/>
                <a:cs typeface="Times New Roman"/>
              </a:rPr>
              <a:t>•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9412" y="8164830"/>
            <a:ext cx="1409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latin typeface="Times New Roman"/>
                <a:cs typeface="Times New Roman"/>
              </a:rPr>
              <a:t>(a)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74216" y="8013954"/>
            <a:ext cx="2560955" cy="328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195"/>
              </a:lnSpc>
              <a:spcBef>
                <a:spcPts val="95"/>
              </a:spcBef>
            </a:pP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main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goals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this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review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were</a:t>
            </a:r>
            <a:r>
              <a:rPr dirty="0" sz="1000" spc="-25">
                <a:latin typeface="Times New Roman"/>
                <a:cs typeface="Times New Roman"/>
              </a:rPr>
              <a:t> to: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195"/>
              </a:lnSpc>
            </a:pPr>
            <a:r>
              <a:rPr dirty="0" sz="1000">
                <a:latin typeface="Times New Roman"/>
                <a:cs typeface="Times New Roman"/>
              </a:rPr>
              <a:t>examine</a:t>
            </a:r>
            <a:r>
              <a:rPr dirty="0" sz="1000" spc="18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how</a:t>
            </a:r>
            <a:r>
              <a:rPr dirty="0" sz="1000" spc="185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value-</a:t>
            </a:r>
            <a:r>
              <a:rPr dirty="0" sz="1000">
                <a:latin typeface="Times New Roman"/>
                <a:cs typeface="Times New Roman"/>
              </a:rPr>
              <a:t>based</a:t>
            </a:r>
            <a:r>
              <a:rPr dirty="0" sz="1000" spc="19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training</a:t>
            </a:r>
            <a:r>
              <a:rPr dirty="0" sz="1000" spc="190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supports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6712" y="8317483"/>
            <a:ext cx="3015615" cy="328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195"/>
              </a:lnSpc>
              <a:spcBef>
                <a:spcPts val="95"/>
              </a:spcBef>
            </a:pPr>
            <a:r>
              <a:rPr dirty="0" sz="1000">
                <a:latin typeface="Times New Roman"/>
                <a:cs typeface="Times New Roman"/>
              </a:rPr>
              <a:t>students’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mental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well-</a:t>
            </a:r>
            <a:r>
              <a:rPr dirty="0" sz="1000" spc="-20">
                <a:latin typeface="Times New Roman"/>
                <a:cs typeface="Times New Roman"/>
              </a:rPr>
              <a:t>being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195"/>
              </a:lnSpc>
              <a:tabLst>
                <a:tab pos="469900" algn="l"/>
              </a:tabLst>
            </a:pPr>
            <a:r>
              <a:rPr dirty="0" sz="1000" spc="-25">
                <a:latin typeface="Times New Roman"/>
                <a:cs typeface="Times New Roman"/>
              </a:rPr>
              <a:t>(b)</a:t>
            </a:r>
            <a:r>
              <a:rPr dirty="0" sz="1000">
                <a:latin typeface="Times New Roman"/>
                <a:cs typeface="Times New Roman"/>
              </a:rPr>
              <a:t>	explore</a:t>
            </a:r>
            <a:r>
              <a:rPr dirty="0" sz="1000" spc="25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how</a:t>
            </a:r>
            <a:r>
              <a:rPr dirty="0" sz="1000" spc="25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Indian</a:t>
            </a:r>
            <a:r>
              <a:rPr dirty="0" sz="1000" spc="2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cultural</a:t>
            </a:r>
            <a:r>
              <a:rPr dirty="0" sz="1000" spc="2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stories</a:t>
            </a:r>
            <a:r>
              <a:rPr dirty="0" sz="1000" spc="25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26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moral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6712" y="8620759"/>
            <a:ext cx="29851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imes New Roman"/>
                <a:cs typeface="Times New Roman"/>
              </a:rPr>
              <a:t>lessons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are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integrated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into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school-</a:t>
            </a:r>
            <a:r>
              <a:rPr dirty="0" sz="1000">
                <a:latin typeface="Times New Roman"/>
                <a:cs typeface="Times New Roman"/>
              </a:rPr>
              <a:t>based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interventions,</a:t>
            </a:r>
            <a:r>
              <a:rPr dirty="0" sz="1000" spc="-25">
                <a:latin typeface="Times New Roman"/>
                <a:cs typeface="Times New Roman"/>
              </a:rPr>
              <a:t> and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6712" y="8771635"/>
            <a:ext cx="30162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900" algn="l"/>
              </a:tabLst>
            </a:pPr>
            <a:r>
              <a:rPr dirty="0" sz="1000" spc="-25">
                <a:latin typeface="Times New Roman"/>
                <a:cs typeface="Times New Roman"/>
              </a:rPr>
              <a:t>(c)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assess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overall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impact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effectiveness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such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6712" y="8922511"/>
            <a:ext cx="17024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imes New Roman"/>
                <a:cs typeface="Times New Roman"/>
              </a:rPr>
              <a:t>programs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educational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settings.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6712" y="9074911"/>
            <a:ext cx="3018790" cy="32829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2700" marR="5080" indent="457200">
              <a:lnSpc>
                <a:spcPts val="1190"/>
              </a:lnSpc>
              <a:spcBef>
                <a:spcPts val="145"/>
              </a:spcBef>
              <a:buChar char="•"/>
              <a:tabLst>
                <a:tab pos="469900" algn="l"/>
              </a:tabLst>
            </a:pPr>
            <a:r>
              <a:rPr dirty="0" sz="1000">
                <a:latin typeface="Times New Roman"/>
                <a:cs typeface="Times New Roman"/>
              </a:rPr>
              <a:t>Studies</a:t>
            </a:r>
            <a:r>
              <a:rPr dirty="0" sz="1000" spc="1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were</a:t>
            </a:r>
            <a:r>
              <a:rPr dirty="0" sz="1000" spc="1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included</a:t>
            </a:r>
            <a:r>
              <a:rPr dirty="0" sz="1000" spc="1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if</a:t>
            </a:r>
            <a:r>
              <a:rPr dirty="0" sz="1000" spc="1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they</a:t>
            </a:r>
            <a:r>
              <a:rPr dirty="0" sz="1000" spc="1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involved</a:t>
            </a:r>
            <a:r>
              <a:rPr dirty="0" sz="1000" spc="19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school-</a:t>
            </a:r>
            <a:r>
              <a:rPr dirty="0" sz="1000">
                <a:latin typeface="Times New Roman"/>
                <a:cs typeface="Times New Roman"/>
              </a:rPr>
              <a:t>aged</a:t>
            </a:r>
            <a:r>
              <a:rPr dirty="0" sz="1000" spc="17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students,</a:t>
            </a:r>
            <a:r>
              <a:rPr dirty="0" sz="1000" spc="18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discussed</a:t>
            </a:r>
            <a:r>
              <a:rPr dirty="0" sz="1000" spc="180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value-</a:t>
            </a:r>
            <a:r>
              <a:rPr dirty="0" sz="1000">
                <a:latin typeface="Times New Roman"/>
                <a:cs typeface="Times New Roman"/>
              </a:rPr>
              <a:t>based</a:t>
            </a:r>
            <a:r>
              <a:rPr dirty="0" sz="1000" spc="18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or</a:t>
            </a:r>
            <a:r>
              <a:rPr dirty="0" sz="1000" spc="17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life</a:t>
            </a:r>
            <a:r>
              <a:rPr dirty="0" sz="1000" spc="175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skills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21734" y="436879"/>
            <a:ext cx="3088005" cy="1087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9950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programs,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evaluated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outcomes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related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mental </a:t>
            </a:r>
            <a:r>
              <a:rPr dirty="0" sz="1000" spc="-10">
                <a:latin typeface="Times New Roman"/>
                <a:cs typeface="Times New Roman"/>
              </a:rPr>
              <a:t>health, well-</a:t>
            </a:r>
            <a:r>
              <a:rPr dirty="0" sz="1000">
                <a:latin typeface="Times New Roman"/>
                <a:cs typeface="Times New Roman"/>
              </a:rPr>
              <a:t>being,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or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development.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Priority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was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given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to </a:t>
            </a:r>
            <a:r>
              <a:rPr dirty="0" sz="1000">
                <a:latin typeface="Times New Roman"/>
                <a:cs typeface="Times New Roman"/>
              </a:rPr>
              <a:t>research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that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incorporated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Indian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cultural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or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ethical</a:t>
            </a:r>
            <a:r>
              <a:rPr dirty="0" sz="1000" spc="-10">
                <a:latin typeface="Times New Roman"/>
                <a:cs typeface="Times New Roman"/>
              </a:rPr>
              <a:t> content. </a:t>
            </a:r>
            <a:r>
              <a:rPr dirty="0" sz="1000">
                <a:latin typeface="Times New Roman"/>
                <a:cs typeface="Times New Roman"/>
              </a:rPr>
              <a:t>Findings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were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organized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thematically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highlight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areas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such </a:t>
            </a:r>
            <a:r>
              <a:rPr dirty="0" sz="1000" spc="-25">
                <a:latin typeface="Times New Roman"/>
                <a:cs typeface="Times New Roman"/>
              </a:rPr>
              <a:t>as</a:t>
            </a:r>
            <a:endParaRPr sz="100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00"/>
              </a:lnSpc>
              <a:spcBef>
                <a:spcPts val="30"/>
              </a:spcBef>
            </a:pPr>
            <a:r>
              <a:rPr dirty="0" sz="1000">
                <a:latin typeface="Times New Roman"/>
                <a:cs typeface="Times New Roman"/>
              </a:rPr>
              <a:t>improvements</a:t>
            </a:r>
            <a:r>
              <a:rPr dirty="0" sz="1000" spc="20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2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mental</a:t>
            </a:r>
            <a:r>
              <a:rPr dirty="0" sz="1000" spc="2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health,</a:t>
            </a:r>
            <a:r>
              <a:rPr dirty="0" sz="1000" spc="2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integration</a:t>
            </a:r>
            <a:r>
              <a:rPr dirty="0" sz="1000" spc="20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2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traditional </a:t>
            </a:r>
            <a:r>
              <a:rPr dirty="0" sz="1000">
                <a:latin typeface="Times New Roman"/>
                <a:cs typeface="Times New Roman"/>
              </a:rPr>
              <a:t>values,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 student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development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resilience.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21734" y="1648714"/>
            <a:ext cx="9271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Times New Roman"/>
                <a:cs typeface="Times New Roman"/>
              </a:rPr>
              <a:t>4.</a:t>
            </a:r>
            <a:r>
              <a:rPr dirty="0" sz="1000" spc="-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DISCUSSION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21734" y="1951989"/>
            <a:ext cx="3093085" cy="18453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Times New Roman"/>
                <a:cs typeface="Times New Roman"/>
              </a:rPr>
              <a:t>4.1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Definition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of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Values</a:t>
            </a:r>
            <a:endParaRPr sz="10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9400"/>
              </a:lnSpc>
              <a:spcBef>
                <a:spcPts val="5"/>
              </a:spcBef>
            </a:pPr>
            <a:r>
              <a:rPr dirty="0" sz="1000">
                <a:latin typeface="Times New Roman"/>
                <a:cs typeface="Times New Roman"/>
              </a:rPr>
              <a:t>Values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are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essential</a:t>
            </a:r>
            <a:r>
              <a:rPr dirty="0" sz="1000">
                <a:latin typeface="Times New Roman"/>
                <a:cs typeface="Times New Roman"/>
              </a:rPr>
              <a:t> guiding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principles</a:t>
            </a:r>
            <a:r>
              <a:rPr dirty="0" sz="1000">
                <a:latin typeface="Times New Roman"/>
                <a:cs typeface="Times New Roman"/>
              </a:rPr>
              <a:t> that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influence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human </a:t>
            </a:r>
            <a:r>
              <a:rPr dirty="0" sz="1000">
                <a:latin typeface="Times New Roman"/>
                <a:cs typeface="Times New Roman"/>
              </a:rPr>
              <a:t>actions,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thoughts,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decisions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(Halstead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&amp;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Taylor,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2000). </a:t>
            </a:r>
            <a:r>
              <a:rPr dirty="0" sz="1000">
                <a:latin typeface="Times New Roman"/>
                <a:cs typeface="Times New Roman"/>
              </a:rPr>
              <a:t>They</a:t>
            </a:r>
            <a:r>
              <a:rPr dirty="0" sz="1000" spc="2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represent</a:t>
            </a:r>
            <a:r>
              <a:rPr dirty="0" sz="1000" spc="2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what</a:t>
            </a:r>
            <a:r>
              <a:rPr dirty="0" sz="1000" spc="2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individuals</a:t>
            </a:r>
            <a:r>
              <a:rPr dirty="0" sz="1000" spc="2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2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societies</a:t>
            </a:r>
            <a:r>
              <a:rPr dirty="0" sz="1000" spc="2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regard</a:t>
            </a:r>
            <a:r>
              <a:rPr dirty="0" sz="1000" spc="25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as </a:t>
            </a:r>
            <a:r>
              <a:rPr dirty="0" sz="1000">
                <a:latin typeface="Times New Roman"/>
                <a:cs typeface="Times New Roman"/>
              </a:rPr>
              <a:t>significant, worthy,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beneficial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(UNESCO, 2015).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 </a:t>
            </a:r>
            <a:r>
              <a:rPr dirty="0" sz="1000" spc="-25">
                <a:latin typeface="Times New Roman"/>
                <a:cs typeface="Times New Roman"/>
              </a:rPr>
              <a:t>the </a:t>
            </a:r>
            <a:r>
              <a:rPr dirty="0" sz="1000">
                <a:latin typeface="Times New Roman"/>
                <a:cs typeface="Times New Roman"/>
              </a:rPr>
              <a:t>educational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context,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values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play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critical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role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shaping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the </a:t>
            </a:r>
            <a:r>
              <a:rPr dirty="0" sz="1000">
                <a:latin typeface="Times New Roman"/>
                <a:cs typeface="Times New Roman"/>
              </a:rPr>
              <a:t>character,</a:t>
            </a:r>
            <a:r>
              <a:rPr dirty="0" sz="1000" spc="1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attitudes,</a:t>
            </a:r>
            <a:r>
              <a:rPr dirty="0" sz="1000" spc="1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18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well-</a:t>
            </a:r>
            <a:r>
              <a:rPr dirty="0" sz="1000">
                <a:latin typeface="Times New Roman"/>
                <a:cs typeface="Times New Roman"/>
              </a:rPr>
              <a:t>being</a:t>
            </a:r>
            <a:r>
              <a:rPr dirty="0" sz="1000" spc="1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18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students </a:t>
            </a:r>
            <a:r>
              <a:rPr dirty="0" sz="1000">
                <a:latin typeface="Times New Roman"/>
                <a:cs typeface="Times New Roman"/>
              </a:rPr>
              <a:t>(Nair,</a:t>
            </a:r>
            <a:r>
              <a:rPr dirty="0" sz="1000" spc="1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2010;</a:t>
            </a:r>
            <a:r>
              <a:rPr dirty="0" sz="1000" spc="1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Singh</a:t>
            </a:r>
            <a:r>
              <a:rPr dirty="0" sz="1000" spc="1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&amp;</a:t>
            </a:r>
            <a:r>
              <a:rPr dirty="0" sz="1000" spc="1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Misra,</a:t>
            </a:r>
            <a:r>
              <a:rPr dirty="0" sz="1000" spc="1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2013).</a:t>
            </a:r>
            <a:r>
              <a:rPr dirty="0" sz="1000" spc="1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1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primary</a:t>
            </a:r>
            <a:r>
              <a:rPr dirty="0" sz="1000" spc="1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goal</a:t>
            </a:r>
            <a:r>
              <a:rPr dirty="0" sz="1000" spc="16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of </a:t>
            </a:r>
            <a:r>
              <a:rPr dirty="0" sz="1000">
                <a:latin typeface="Times New Roman"/>
                <a:cs typeface="Times New Roman"/>
              </a:rPr>
              <a:t>value</a:t>
            </a:r>
            <a:r>
              <a:rPr dirty="0" sz="1000" spc="3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education</a:t>
            </a:r>
            <a:r>
              <a:rPr dirty="0" sz="1000" spc="3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is</a:t>
            </a:r>
            <a:r>
              <a:rPr dirty="0" sz="1000" spc="3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3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nurture</a:t>
            </a:r>
            <a:r>
              <a:rPr dirty="0" sz="1000" spc="3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virtues</a:t>
            </a:r>
            <a:r>
              <a:rPr dirty="0" sz="1000" spc="3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such</a:t>
            </a:r>
            <a:r>
              <a:rPr dirty="0" sz="1000" spc="3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as</a:t>
            </a:r>
            <a:r>
              <a:rPr dirty="0" sz="1000" spc="34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honesty, </a:t>
            </a:r>
            <a:r>
              <a:rPr dirty="0" sz="1000">
                <a:latin typeface="Times New Roman"/>
                <a:cs typeface="Times New Roman"/>
              </a:rPr>
              <a:t>kindness,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respect,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responsibility,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which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are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foundational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2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fostering</a:t>
            </a:r>
            <a:r>
              <a:rPr dirty="0" sz="1000" spc="2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mental</a:t>
            </a:r>
            <a:r>
              <a:rPr dirty="0" sz="1000" spc="2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wellness</a:t>
            </a:r>
            <a:r>
              <a:rPr dirty="0" sz="1000" spc="2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2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promoting</a:t>
            </a:r>
            <a:r>
              <a:rPr dirty="0" sz="1000" spc="27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harmonious </a:t>
            </a:r>
            <a:r>
              <a:rPr dirty="0" sz="1000">
                <a:latin typeface="Times New Roman"/>
                <a:cs typeface="Times New Roman"/>
              </a:rPr>
              <a:t>social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relationships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(Narvaez,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2006;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UNICEF,</a:t>
            </a:r>
            <a:r>
              <a:rPr dirty="0" sz="1000" spc="-10">
                <a:latin typeface="Times New Roman"/>
                <a:cs typeface="Times New Roman"/>
              </a:rPr>
              <a:t> 2012).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21734" y="3922903"/>
            <a:ext cx="3091180" cy="1843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99400"/>
              </a:lnSpc>
              <a:spcBef>
                <a:spcPts val="100"/>
              </a:spcBef>
            </a:pPr>
            <a:r>
              <a:rPr dirty="0" sz="1000" spc="-10">
                <a:latin typeface="Times New Roman"/>
                <a:cs typeface="Times New Roman"/>
              </a:rPr>
              <a:t>Within</a:t>
            </a:r>
            <a:r>
              <a:rPr dirty="0" sz="1000" spc="14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this</a:t>
            </a:r>
            <a:r>
              <a:rPr dirty="0" sz="1000" spc="14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study,</a:t>
            </a:r>
            <a:r>
              <a:rPr dirty="0" sz="1000" spc="13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values</a:t>
            </a:r>
            <a:r>
              <a:rPr dirty="0" sz="1000" spc="1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are</a:t>
            </a:r>
            <a:r>
              <a:rPr dirty="0" sz="1000" spc="1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perceived</a:t>
            </a:r>
            <a:r>
              <a:rPr dirty="0" sz="1000" spc="15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as</a:t>
            </a:r>
            <a:r>
              <a:rPr dirty="0" sz="1000" spc="1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enduring</a:t>
            </a:r>
            <a:r>
              <a:rPr dirty="0" sz="1000" spc="1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ideals</a:t>
            </a:r>
            <a:r>
              <a:rPr dirty="0" sz="1000" spc="-5">
                <a:latin typeface="Times New Roman"/>
                <a:cs typeface="Times New Roman"/>
              </a:rPr>
              <a:t> deeply</a:t>
            </a:r>
            <a:r>
              <a:rPr dirty="0" sz="1000" spc="24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rooted</a:t>
            </a:r>
            <a:r>
              <a:rPr dirty="0" sz="1000" spc="23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in</a:t>
            </a:r>
            <a:r>
              <a:rPr dirty="0" sz="1000" spc="24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cultural,</a:t>
            </a:r>
            <a:r>
              <a:rPr dirty="0" sz="1000" spc="24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ethical,</a:t>
            </a:r>
            <a:r>
              <a:rPr dirty="0" sz="1000" spc="24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and</a:t>
            </a:r>
            <a:r>
              <a:rPr dirty="0" sz="1000" spc="24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spiritual</a:t>
            </a:r>
            <a:r>
              <a:rPr dirty="0" sz="1000" spc="229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traditions</a:t>
            </a:r>
            <a:r>
              <a:rPr dirty="0" sz="100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(Ghosh,</a:t>
            </a:r>
            <a:r>
              <a:rPr dirty="0" sz="1000" spc="17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2014;</a:t>
            </a:r>
            <a:r>
              <a:rPr dirty="0" sz="1000" spc="15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Kumar</a:t>
            </a:r>
            <a:r>
              <a:rPr dirty="0" sz="1000" spc="16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&amp;</a:t>
            </a:r>
            <a:r>
              <a:rPr dirty="0" sz="1000" spc="17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Pathak,</a:t>
            </a:r>
            <a:r>
              <a:rPr dirty="0" sz="1000" spc="17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2017).</a:t>
            </a:r>
            <a:r>
              <a:rPr dirty="0" sz="1000" spc="17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These</a:t>
            </a:r>
            <a:r>
              <a:rPr dirty="0" sz="1000" spc="16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values</a:t>
            </a:r>
            <a:r>
              <a:rPr dirty="0" sz="1000" spc="1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not </a:t>
            </a:r>
            <a:r>
              <a:rPr dirty="0" sz="1000" spc="-5">
                <a:latin typeface="Times New Roman"/>
                <a:cs typeface="Times New Roman"/>
              </a:rPr>
              <a:t>only</a:t>
            </a:r>
            <a:r>
              <a:rPr dirty="0" sz="1000" spc="1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contribute</a:t>
            </a:r>
            <a:r>
              <a:rPr dirty="0" sz="1000" spc="13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to</a:t>
            </a:r>
            <a:r>
              <a:rPr dirty="0" sz="1000" spc="13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individual</a:t>
            </a:r>
            <a:r>
              <a:rPr dirty="0" sz="1000" spc="12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self-growth</a:t>
            </a:r>
            <a:r>
              <a:rPr dirty="0" sz="1000" spc="1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but</a:t>
            </a:r>
            <a:r>
              <a:rPr dirty="0" sz="1000" spc="13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also</a:t>
            </a:r>
            <a:r>
              <a:rPr dirty="0" sz="1000" spc="1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enhance</a:t>
            </a:r>
            <a:r>
              <a:rPr dirty="0" sz="1000" spc="-5">
                <a:latin typeface="Times New Roman"/>
                <a:cs typeface="Times New Roman"/>
              </a:rPr>
              <a:t> collective</a:t>
            </a:r>
            <a:r>
              <a:rPr dirty="0" sz="1000" spc="27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social</a:t>
            </a:r>
            <a:r>
              <a:rPr dirty="0" sz="1000" spc="27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cohesion</a:t>
            </a:r>
            <a:r>
              <a:rPr dirty="0" sz="1000" spc="26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(Narvaez,</a:t>
            </a:r>
            <a:r>
              <a:rPr dirty="0" sz="1000" spc="28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2006).</a:t>
            </a:r>
            <a:r>
              <a:rPr dirty="0" sz="1000" spc="27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The</a:t>
            </a:r>
            <a:r>
              <a:rPr dirty="0" sz="1000" spc="26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wisdom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embedded</a:t>
            </a:r>
            <a:r>
              <a:rPr dirty="0" sz="1000" spc="42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in</a:t>
            </a:r>
            <a:r>
              <a:rPr dirty="0" sz="1000" spc="42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Basavanna’s</a:t>
            </a:r>
            <a:r>
              <a:rPr dirty="0" sz="1000" spc="4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Vachanas,</a:t>
            </a:r>
            <a:r>
              <a:rPr dirty="0" sz="1000" spc="42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Hitopadesha,</a:t>
            </a:r>
            <a:r>
              <a:rPr dirty="0" sz="1000" spc="4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and</a:t>
            </a:r>
            <a:r>
              <a:rPr dirty="0" sz="1000" spc="-5">
                <a:latin typeface="Times New Roman"/>
                <a:cs typeface="Times New Roman"/>
              </a:rPr>
              <a:t> Panchatantra</a:t>
            </a:r>
            <a:r>
              <a:rPr dirty="0" sz="1000" spc="-6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stories</a:t>
            </a:r>
            <a:r>
              <a:rPr dirty="0" sz="1000" spc="-6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serves</a:t>
            </a:r>
            <a:r>
              <a:rPr dirty="0" sz="1000" spc="-6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as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</a:t>
            </a:r>
            <a:r>
              <a:rPr dirty="0" sz="1000" spc="-6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rich</a:t>
            </a:r>
            <a:r>
              <a:rPr dirty="0" sz="1000" spc="-5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repository</a:t>
            </a:r>
            <a:r>
              <a:rPr dirty="0" sz="1000" spc="-5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of</a:t>
            </a:r>
            <a:r>
              <a:rPr dirty="0" sz="1000" spc="-5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such</a:t>
            </a:r>
            <a:r>
              <a:rPr dirty="0" sz="1000" spc="-5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values </a:t>
            </a:r>
            <a:r>
              <a:rPr dirty="0" sz="1000" spc="-5">
                <a:latin typeface="Times New Roman"/>
                <a:cs typeface="Times New Roman"/>
              </a:rPr>
              <a:t>(Hiremath,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1996;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Singh </a:t>
            </a:r>
            <a:r>
              <a:rPr dirty="0" sz="1000" spc="-10">
                <a:latin typeface="Times New Roman"/>
                <a:cs typeface="Times New Roman"/>
              </a:rPr>
              <a:t>&amp;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Misra,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2013).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These </a:t>
            </a:r>
            <a:r>
              <a:rPr dirty="0" sz="1000" spc="-5">
                <a:latin typeface="Times New Roman"/>
                <a:cs typeface="Times New Roman"/>
              </a:rPr>
              <a:t>texts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provide</a:t>
            </a:r>
            <a:r>
              <a:rPr dirty="0" sz="1000" spc="-5">
                <a:latin typeface="Times New Roman"/>
                <a:cs typeface="Times New Roman"/>
              </a:rPr>
              <a:t> practical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insights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and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timeless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lessons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that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can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5">
                <a:latin typeface="Times New Roman"/>
                <a:cs typeface="Times New Roman"/>
              </a:rPr>
              <a:t>be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woven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into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everyday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life,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helping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individuals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develop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balanced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mind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and</a:t>
            </a:r>
            <a:r>
              <a:rPr dirty="0" sz="1000" spc="24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emotional</a:t>
            </a:r>
            <a:r>
              <a:rPr dirty="0" sz="1000" spc="24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stability</a:t>
            </a:r>
            <a:r>
              <a:rPr dirty="0" sz="1000" spc="24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(Ghosh,</a:t>
            </a:r>
            <a:r>
              <a:rPr dirty="0" sz="1000" spc="2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2014;</a:t>
            </a:r>
            <a:r>
              <a:rPr dirty="0" sz="1000" spc="2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Kumar</a:t>
            </a:r>
            <a:r>
              <a:rPr dirty="0" sz="1000" spc="24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&amp;</a:t>
            </a:r>
            <a:r>
              <a:rPr dirty="0" sz="1000" spc="24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Pathak, 2017).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21734" y="5892165"/>
            <a:ext cx="3088005" cy="935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ts val="1195"/>
              </a:lnSpc>
              <a:spcBef>
                <a:spcPts val="95"/>
              </a:spcBef>
            </a:pPr>
            <a:r>
              <a:rPr dirty="0" sz="1000" b="1">
                <a:latin typeface="Times New Roman"/>
                <a:cs typeface="Times New Roman"/>
              </a:rPr>
              <a:t>4.2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Classification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of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Values</a:t>
            </a: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195"/>
              </a:lnSpc>
            </a:pPr>
            <a:r>
              <a:rPr dirty="0" sz="1000">
                <a:latin typeface="Times New Roman"/>
                <a:cs typeface="Times New Roman"/>
              </a:rPr>
              <a:t>Values</a:t>
            </a:r>
            <a:r>
              <a:rPr dirty="0" sz="1000" spc="229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can</a:t>
            </a:r>
            <a:r>
              <a:rPr dirty="0" sz="1000" spc="229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be</a:t>
            </a:r>
            <a:r>
              <a:rPr dirty="0" sz="1000" spc="2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systematically</a:t>
            </a:r>
            <a:r>
              <a:rPr dirty="0" sz="1000" spc="2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categorized</a:t>
            </a:r>
            <a:r>
              <a:rPr dirty="0" sz="1000" spc="2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based</a:t>
            </a:r>
            <a:r>
              <a:rPr dirty="0" sz="1000" spc="2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on</a:t>
            </a:r>
            <a:r>
              <a:rPr dirty="0" sz="1000" spc="23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their</a:t>
            </a:r>
            <a:endParaRPr sz="10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9400"/>
              </a:lnSpc>
              <a:spcBef>
                <a:spcPts val="5"/>
              </a:spcBef>
            </a:pPr>
            <a:r>
              <a:rPr dirty="0" sz="1000">
                <a:latin typeface="Times New Roman"/>
                <a:cs typeface="Times New Roman"/>
              </a:rPr>
              <a:t>function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aspects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life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they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influence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(Halstead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Times New Roman"/>
                <a:cs typeface="Times New Roman"/>
              </a:rPr>
              <a:t>&amp;</a:t>
            </a:r>
            <a:r>
              <a:rPr dirty="0" sz="1000">
                <a:latin typeface="Times New Roman"/>
                <a:cs typeface="Times New Roman"/>
              </a:rPr>
              <a:t> Taylor,</a:t>
            </a:r>
            <a:r>
              <a:rPr dirty="0" sz="1000" spc="10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2000).</a:t>
            </a:r>
            <a:r>
              <a:rPr dirty="0" sz="1000" spc="11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This</a:t>
            </a:r>
            <a:r>
              <a:rPr dirty="0" sz="1000" spc="11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classification</a:t>
            </a:r>
            <a:r>
              <a:rPr dirty="0" sz="1000" spc="1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aids</a:t>
            </a:r>
            <a:r>
              <a:rPr dirty="0" sz="1000" spc="11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114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comprehensively </a:t>
            </a:r>
            <a:r>
              <a:rPr dirty="0" sz="1000">
                <a:latin typeface="Times New Roman"/>
                <a:cs typeface="Times New Roman"/>
              </a:rPr>
              <a:t>addressing</a:t>
            </a:r>
            <a:r>
              <a:rPr dirty="0" sz="1000" spc="1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1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varied</a:t>
            </a:r>
            <a:r>
              <a:rPr dirty="0" sz="1000" spc="1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dimensions</a:t>
            </a:r>
            <a:r>
              <a:rPr dirty="0" sz="1000" spc="1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2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human</a:t>
            </a:r>
            <a:r>
              <a:rPr dirty="0" sz="1000" spc="20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development </a:t>
            </a:r>
            <a:r>
              <a:rPr dirty="0" sz="1000">
                <a:latin typeface="Times New Roman"/>
                <a:cs typeface="Times New Roman"/>
              </a:rPr>
              <a:t>(Narvaez,</a:t>
            </a:r>
            <a:r>
              <a:rPr dirty="0" sz="1000" spc="-6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2006).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21734" y="6953250"/>
            <a:ext cx="3091815" cy="7842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87630" indent="-74930">
              <a:lnSpc>
                <a:spcPts val="1195"/>
              </a:lnSpc>
              <a:spcBef>
                <a:spcPts val="95"/>
              </a:spcBef>
              <a:buChar char="•"/>
              <a:tabLst>
                <a:tab pos="87630" algn="l"/>
              </a:tabLst>
            </a:pPr>
            <a:r>
              <a:rPr dirty="0" sz="1000">
                <a:latin typeface="Times New Roman"/>
                <a:cs typeface="Times New Roman"/>
              </a:rPr>
              <a:t>Personal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Values:</a:t>
            </a:r>
            <a:endParaRPr sz="10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9500"/>
              </a:lnSpc>
            </a:pPr>
            <a:r>
              <a:rPr dirty="0" sz="1000">
                <a:latin typeface="Times New Roman"/>
                <a:cs typeface="Times New Roman"/>
              </a:rPr>
              <a:t>These encompass traits such as </a:t>
            </a:r>
            <a:r>
              <a:rPr dirty="0" sz="1000" spc="-10">
                <a:latin typeface="Times New Roman"/>
                <a:cs typeface="Times New Roman"/>
              </a:rPr>
              <a:t>self-</a:t>
            </a:r>
            <a:r>
              <a:rPr dirty="0" sz="1000">
                <a:latin typeface="Times New Roman"/>
                <a:cs typeface="Times New Roman"/>
              </a:rPr>
              <a:t>respect, courage, </a:t>
            </a:r>
            <a:r>
              <a:rPr dirty="0" sz="1000" spc="-20">
                <a:latin typeface="Times New Roman"/>
                <a:cs typeface="Times New Roman"/>
              </a:rPr>
              <a:t>self-</a:t>
            </a:r>
            <a:r>
              <a:rPr dirty="0" sz="1000">
                <a:latin typeface="Times New Roman"/>
                <a:cs typeface="Times New Roman"/>
              </a:rPr>
              <a:t>discipline,</a:t>
            </a:r>
            <a:r>
              <a:rPr dirty="0" sz="1000" spc="14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3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honesty,</a:t>
            </a:r>
            <a:r>
              <a:rPr dirty="0" sz="1000" spc="14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which</a:t>
            </a:r>
            <a:r>
              <a:rPr dirty="0" sz="1000" spc="14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primarily</a:t>
            </a:r>
            <a:r>
              <a:rPr dirty="0" sz="1000" spc="13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regulate</a:t>
            </a:r>
            <a:r>
              <a:rPr dirty="0" sz="1000" spc="140">
                <a:latin typeface="Times New Roman"/>
                <a:cs typeface="Times New Roman"/>
              </a:rPr>
              <a:t>  </a:t>
            </a:r>
            <a:r>
              <a:rPr dirty="0" sz="1000" spc="-25">
                <a:latin typeface="Times New Roman"/>
                <a:cs typeface="Times New Roman"/>
              </a:rPr>
              <a:t>an </a:t>
            </a:r>
            <a:r>
              <a:rPr dirty="0" sz="1000">
                <a:latin typeface="Times New Roman"/>
                <a:cs typeface="Times New Roman"/>
              </a:rPr>
              <a:t>individual’s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behavior and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self-</a:t>
            </a:r>
            <a:r>
              <a:rPr dirty="0" sz="1000">
                <a:latin typeface="Times New Roman"/>
                <a:cs typeface="Times New Roman"/>
              </a:rPr>
              <a:t>governance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(Nair,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2010). </a:t>
            </a:r>
            <a:r>
              <a:rPr dirty="0" sz="1000" spc="-25">
                <a:latin typeface="Times New Roman"/>
                <a:cs typeface="Times New Roman"/>
              </a:rPr>
              <a:t>For</a:t>
            </a: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000">
                <a:latin typeface="Times New Roman"/>
                <a:cs typeface="Times New Roman"/>
              </a:rPr>
              <a:t>instance,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Basavanna’s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teachings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highlight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importance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of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21734" y="7710678"/>
            <a:ext cx="30911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06755" algn="l"/>
                <a:tab pos="1054100" algn="l"/>
                <a:tab pos="1825625" algn="l"/>
                <a:tab pos="2451100" algn="l"/>
              </a:tabLst>
            </a:pPr>
            <a:r>
              <a:rPr dirty="0" sz="1000" spc="-10">
                <a:latin typeface="Times New Roman"/>
                <a:cs typeface="Times New Roman"/>
              </a:rPr>
              <a:t>self-purity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25">
                <a:latin typeface="Times New Roman"/>
                <a:cs typeface="Times New Roman"/>
              </a:rPr>
              <a:t>and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maintaining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integrity,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encouraging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21734" y="7861554"/>
            <a:ext cx="308800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Times New Roman"/>
                <a:cs typeface="Times New Roman"/>
              </a:rPr>
              <a:t>individuals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cultivate inner strength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and ethical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consistency </a:t>
            </a:r>
            <a:r>
              <a:rPr dirty="0" sz="1000">
                <a:latin typeface="Times New Roman"/>
                <a:cs typeface="Times New Roman"/>
              </a:rPr>
              <a:t>(Hiremath,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1996).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721734" y="8317483"/>
            <a:ext cx="3088005" cy="328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7630" indent="-74930">
              <a:lnSpc>
                <a:spcPts val="1195"/>
              </a:lnSpc>
              <a:spcBef>
                <a:spcPts val="95"/>
              </a:spcBef>
              <a:buChar char="•"/>
              <a:tabLst>
                <a:tab pos="87630" algn="l"/>
              </a:tabLst>
            </a:pPr>
            <a:r>
              <a:rPr dirty="0" sz="1000">
                <a:latin typeface="Times New Roman"/>
                <a:cs typeface="Times New Roman"/>
              </a:rPr>
              <a:t>Social</a:t>
            </a:r>
            <a:r>
              <a:rPr dirty="0" sz="1000" spc="-10">
                <a:latin typeface="Times New Roman"/>
                <a:cs typeface="Times New Roman"/>
              </a:rPr>
              <a:t> Values: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195"/>
              </a:lnSpc>
            </a:pPr>
            <a:r>
              <a:rPr dirty="0" sz="1000">
                <a:latin typeface="Times New Roman"/>
                <a:cs typeface="Times New Roman"/>
              </a:rPr>
              <a:t>Social</a:t>
            </a:r>
            <a:r>
              <a:rPr dirty="0" sz="1000" spc="1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values</a:t>
            </a:r>
            <a:r>
              <a:rPr dirty="0" sz="1000" spc="1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foster</a:t>
            </a:r>
            <a:r>
              <a:rPr dirty="0" sz="1000" spc="1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cooperative</a:t>
            </a:r>
            <a:r>
              <a:rPr dirty="0" sz="1000" spc="1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behavior,</a:t>
            </a:r>
            <a:r>
              <a:rPr dirty="0" sz="1000" spc="1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mutual</a:t>
            </a:r>
            <a:r>
              <a:rPr dirty="0" sz="1000" spc="1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respect,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21734" y="8620759"/>
            <a:ext cx="16700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5925" algn="l"/>
                <a:tab pos="1066165" algn="l"/>
              </a:tabLst>
            </a:pPr>
            <a:r>
              <a:rPr dirty="0" sz="1000" spc="-25">
                <a:latin typeface="Times New Roman"/>
                <a:cs typeface="Times New Roman"/>
              </a:rPr>
              <a:t>and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peaceful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coexistence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85474" y="8620759"/>
            <a:ext cx="3492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Times New Roman"/>
                <a:cs typeface="Times New Roman"/>
              </a:rPr>
              <a:t>within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129094" y="8620759"/>
            <a:ext cx="6819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Times New Roman"/>
                <a:cs typeface="Times New Roman"/>
              </a:rPr>
              <a:t>communities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721734" y="8771635"/>
            <a:ext cx="30873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imes New Roman"/>
                <a:cs typeface="Times New Roman"/>
              </a:rPr>
              <a:t>(UNESCO,2015).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Empathy,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justice,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kindness,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10">
                <a:latin typeface="Times New Roman"/>
                <a:cs typeface="Times New Roman"/>
              </a:rPr>
              <a:t> tolerance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721734" y="8922511"/>
            <a:ext cx="3091815" cy="480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9950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are</a:t>
            </a:r>
            <a:r>
              <a:rPr dirty="0" sz="1000" spc="1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typical</a:t>
            </a:r>
            <a:r>
              <a:rPr dirty="0" sz="1000" spc="1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examples.</a:t>
            </a:r>
            <a:r>
              <a:rPr dirty="0" sz="1000" spc="1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1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Panchatantra</a:t>
            </a:r>
            <a:r>
              <a:rPr dirty="0" sz="1000" spc="1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stories</a:t>
            </a:r>
            <a:r>
              <a:rPr dirty="0" sz="1000" spc="1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effectively </a:t>
            </a:r>
            <a:r>
              <a:rPr dirty="0" sz="1000">
                <a:latin typeface="Times New Roman"/>
                <a:cs typeface="Times New Roman"/>
              </a:rPr>
              <a:t>communicate</a:t>
            </a:r>
            <a:r>
              <a:rPr dirty="0" sz="1000" spc="3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these</a:t>
            </a:r>
            <a:r>
              <a:rPr dirty="0" sz="1000" spc="3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values</a:t>
            </a:r>
            <a:r>
              <a:rPr dirty="0" sz="1000" spc="3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through</a:t>
            </a:r>
            <a:r>
              <a:rPr dirty="0" sz="1000" spc="3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engaging</a:t>
            </a:r>
            <a:r>
              <a:rPr dirty="0" sz="1000" spc="3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tales</a:t>
            </a:r>
            <a:r>
              <a:rPr dirty="0" sz="1000" spc="37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that </a:t>
            </a:r>
            <a:r>
              <a:rPr dirty="0" sz="1000">
                <a:latin typeface="Times New Roman"/>
                <a:cs typeface="Times New Roman"/>
              </a:rPr>
              <a:t>promote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understanding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wise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interactions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among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people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6712" y="563372"/>
            <a:ext cx="7905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imes New Roman"/>
                <a:cs typeface="Times New Roman"/>
              </a:rPr>
              <a:t>(Ghosh,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2014).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6712" y="866901"/>
            <a:ext cx="3015615" cy="1238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87630" indent="-74930">
              <a:lnSpc>
                <a:spcPts val="1195"/>
              </a:lnSpc>
              <a:spcBef>
                <a:spcPts val="95"/>
              </a:spcBef>
              <a:buChar char="•"/>
              <a:tabLst>
                <a:tab pos="87630" algn="l"/>
              </a:tabLst>
            </a:pPr>
            <a:r>
              <a:rPr dirty="0" sz="1000">
                <a:latin typeface="Times New Roman"/>
                <a:cs typeface="Times New Roman"/>
              </a:rPr>
              <a:t>Spiritual</a:t>
            </a:r>
            <a:r>
              <a:rPr dirty="0" sz="1000" spc="-10">
                <a:latin typeface="Times New Roman"/>
                <a:cs typeface="Times New Roman"/>
              </a:rPr>
              <a:t> Values:</a:t>
            </a:r>
            <a:endParaRPr sz="10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9500"/>
              </a:lnSpc>
            </a:pPr>
            <a:r>
              <a:rPr dirty="0" sz="1000">
                <a:latin typeface="Times New Roman"/>
                <a:cs typeface="Times New Roman"/>
              </a:rPr>
              <a:t>These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values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pertain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inner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realm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peace,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devotion, </a:t>
            </a:r>
            <a:r>
              <a:rPr dirty="0" sz="1000">
                <a:latin typeface="Times New Roman"/>
                <a:cs typeface="Times New Roman"/>
              </a:rPr>
              <a:t>truthfulness,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mindfulness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(Singh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&amp;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Misra,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2013).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The </a:t>
            </a:r>
            <a:r>
              <a:rPr dirty="0" sz="1000">
                <a:latin typeface="Times New Roman"/>
                <a:cs typeface="Times New Roman"/>
              </a:rPr>
              <a:t>Hitopadesha,</a:t>
            </a:r>
            <a:r>
              <a:rPr dirty="0" sz="1000" spc="2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20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particular,</a:t>
            </a:r>
            <a:r>
              <a:rPr dirty="0" sz="1000" spc="2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emphasizes</a:t>
            </a:r>
            <a:r>
              <a:rPr dirty="0" sz="1000" spc="1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spiritual</a:t>
            </a:r>
            <a:r>
              <a:rPr dirty="0" sz="1000" spc="19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growth, self-</a:t>
            </a:r>
            <a:r>
              <a:rPr dirty="0" sz="1000">
                <a:latin typeface="Times New Roman"/>
                <a:cs typeface="Times New Roman"/>
              </a:rPr>
              <a:t>realization,</a:t>
            </a:r>
            <a:r>
              <a:rPr dirty="0" sz="1000" spc="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maintaining</a:t>
            </a:r>
            <a:r>
              <a:rPr dirty="0" sz="1000" spc="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mental</a:t>
            </a:r>
            <a:r>
              <a:rPr dirty="0" sz="1000" spc="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equanimity</a:t>
            </a:r>
            <a:r>
              <a:rPr dirty="0" sz="1000" spc="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3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the </a:t>
            </a:r>
            <a:r>
              <a:rPr dirty="0" sz="1000" spc="-10">
                <a:latin typeface="Times New Roman"/>
                <a:cs typeface="Times New Roman"/>
              </a:rPr>
              <a:t>face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challenges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(Kumar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&amp;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Pathak,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2017).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These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spiritual </a:t>
            </a:r>
            <a:r>
              <a:rPr dirty="0" sz="1000">
                <a:latin typeface="Times New Roman"/>
                <a:cs typeface="Times New Roman"/>
              </a:rPr>
              <a:t>ideals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support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regulation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foster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calm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and </a:t>
            </a:r>
            <a:r>
              <a:rPr dirty="0" sz="1000">
                <a:latin typeface="Times New Roman"/>
                <a:cs typeface="Times New Roman"/>
              </a:rPr>
              <a:t>centered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outlook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(Narvaez,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2006).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6712" y="2230881"/>
            <a:ext cx="3017520" cy="1236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87630" indent="-74930">
              <a:lnSpc>
                <a:spcPts val="1195"/>
              </a:lnSpc>
              <a:spcBef>
                <a:spcPts val="95"/>
              </a:spcBef>
              <a:buChar char="•"/>
              <a:tabLst>
                <a:tab pos="87630" algn="l"/>
              </a:tabLst>
            </a:pPr>
            <a:r>
              <a:rPr dirty="0" sz="1000">
                <a:latin typeface="Times New Roman"/>
                <a:cs typeface="Times New Roman"/>
              </a:rPr>
              <a:t>Moral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Values:</a:t>
            </a:r>
            <a:endParaRPr sz="1000">
              <a:latin typeface="Times New Roman"/>
              <a:cs typeface="Times New Roman"/>
            </a:endParaRPr>
          </a:p>
          <a:p>
            <a:pPr algn="just" marL="12700" marR="8255">
              <a:lnSpc>
                <a:spcPts val="1190"/>
              </a:lnSpc>
              <a:spcBef>
                <a:spcPts val="40"/>
              </a:spcBef>
            </a:pPr>
            <a:r>
              <a:rPr dirty="0" sz="1000">
                <a:latin typeface="Times New Roman"/>
                <a:cs typeface="Times New Roman"/>
              </a:rPr>
              <a:t>Moral</a:t>
            </a:r>
            <a:r>
              <a:rPr dirty="0" sz="1000" spc="4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values</a:t>
            </a:r>
            <a:r>
              <a:rPr dirty="0" sz="1000" spc="4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relate</a:t>
            </a:r>
            <a:r>
              <a:rPr dirty="0" sz="1000" spc="40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4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principles</a:t>
            </a:r>
            <a:r>
              <a:rPr dirty="0" sz="1000" spc="4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4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ethics,</a:t>
            </a:r>
            <a:r>
              <a:rPr dirty="0" sz="1000" spc="40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fairness, </a:t>
            </a:r>
            <a:r>
              <a:rPr dirty="0" sz="1000">
                <a:latin typeface="Times New Roman"/>
                <a:cs typeface="Times New Roman"/>
              </a:rPr>
              <a:t>responsibility,</a:t>
            </a:r>
            <a:r>
              <a:rPr dirty="0" sz="1000" spc="2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2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altruism</a:t>
            </a:r>
            <a:r>
              <a:rPr dirty="0" sz="1000" spc="2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(Halstead</a:t>
            </a:r>
            <a:r>
              <a:rPr dirty="0" sz="1000" spc="2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&amp;</a:t>
            </a:r>
            <a:r>
              <a:rPr dirty="0" sz="1000" spc="2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Taylor,</a:t>
            </a:r>
            <a:r>
              <a:rPr dirty="0" sz="1000" spc="2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2000).</a:t>
            </a: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155"/>
              </a:lnSpc>
            </a:pPr>
            <a:r>
              <a:rPr dirty="0" sz="1000">
                <a:latin typeface="Times New Roman"/>
                <a:cs typeface="Times New Roman"/>
              </a:rPr>
              <a:t>Across</a:t>
            </a:r>
            <a:r>
              <a:rPr dirty="0" sz="1000" spc="4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Basavanna’s</a:t>
            </a:r>
            <a:r>
              <a:rPr dirty="0" sz="1000" spc="43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Vachanas,</a:t>
            </a:r>
            <a:r>
              <a:rPr dirty="0" sz="1000" spc="43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4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Hitopadesha,</a:t>
            </a:r>
            <a:r>
              <a:rPr dirty="0" sz="1000" spc="44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and</a:t>
            </a:r>
            <a:endParaRPr sz="10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9300"/>
              </a:lnSpc>
              <a:spcBef>
                <a:spcPts val="5"/>
              </a:spcBef>
            </a:pPr>
            <a:r>
              <a:rPr dirty="0" sz="1000">
                <a:latin typeface="Times New Roman"/>
                <a:cs typeface="Times New Roman"/>
              </a:rPr>
              <a:t>Panchatantra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stories,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moral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lessons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encourage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students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to </a:t>
            </a:r>
            <a:r>
              <a:rPr dirty="0" sz="1000">
                <a:latin typeface="Times New Roman"/>
                <a:cs typeface="Times New Roman"/>
              </a:rPr>
              <a:t>make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righteous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choices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develop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strong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sense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duty </a:t>
            </a:r>
            <a:r>
              <a:rPr dirty="0" sz="1000">
                <a:latin typeface="Times New Roman"/>
                <a:cs typeface="Times New Roman"/>
              </a:rPr>
              <a:t>towards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themselves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society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(Hiremath,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1996;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Ghosh, 2014).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6712" y="3593719"/>
            <a:ext cx="3016885" cy="1390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889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Times New Roman"/>
                <a:cs typeface="Times New Roman"/>
              </a:rPr>
              <a:t>4.3</a:t>
            </a:r>
            <a:r>
              <a:rPr dirty="0" sz="1000" spc="1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Integration</a:t>
            </a:r>
            <a:r>
              <a:rPr dirty="0" sz="1000" spc="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of</a:t>
            </a:r>
            <a:r>
              <a:rPr dirty="0" sz="1000" spc="1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Traditional</a:t>
            </a:r>
            <a:r>
              <a:rPr dirty="0" sz="1000" spc="1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Indian</a:t>
            </a:r>
            <a:r>
              <a:rPr dirty="0" sz="1000" spc="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Wisdom</a:t>
            </a:r>
            <a:r>
              <a:rPr dirty="0" sz="1000" spc="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in</a:t>
            </a:r>
            <a:r>
              <a:rPr dirty="0" sz="1000" spc="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Value Education</a:t>
            </a: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190"/>
              </a:lnSpc>
            </a:pPr>
            <a:r>
              <a:rPr dirty="0" sz="1000">
                <a:latin typeface="Times New Roman"/>
                <a:cs typeface="Times New Roman"/>
              </a:rPr>
              <a:t>India’s</a:t>
            </a:r>
            <a:r>
              <a:rPr dirty="0" sz="1000" spc="1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rich</a:t>
            </a:r>
            <a:r>
              <a:rPr dirty="0" sz="1000" spc="1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philosophical,</a:t>
            </a:r>
            <a:r>
              <a:rPr dirty="0" sz="1000" spc="1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literary,</a:t>
            </a:r>
            <a:r>
              <a:rPr dirty="0" sz="1000" spc="1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cultural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heritage,</a:t>
            </a:r>
            <a:endParaRPr sz="10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9400"/>
              </a:lnSpc>
              <a:spcBef>
                <a:spcPts val="5"/>
              </a:spcBef>
            </a:pPr>
            <a:r>
              <a:rPr dirty="0" sz="1000">
                <a:latin typeface="Times New Roman"/>
                <a:cs typeface="Times New Roman"/>
              </a:rPr>
              <a:t>spanning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thousands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years,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offers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profound</a:t>
            </a:r>
            <a:r>
              <a:rPr dirty="0" sz="1000" spc="-10">
                <a:latin typeface="Times New Roman"/>
                <a:cs typeface="Times New Roman"/>
              </a:rPr>
              <a:t> framework </a:t>
            </a:r>
            <a:r>
              <a:rPr dirty="0" sz="1000">
                <a:latin typeface="Times New Roman"/>
                <a:cs typeface="Times New Roman"/>
              </a:rPr>
              <a:t>for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imparting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value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education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(Singh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&amp;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Misra,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2013).</a:t>
            </a:r>
            <a:r>
              <a:rPr dirty="0" sz="1000" spc="-20">
                <a:latin typeface="Times New Roman"/>
                <a:cs typeface="Times New Roman"/>
              </a:rPr>
              <a:t> This </a:t>
            </a:r>
            <a:r>
              <a:rPr dirty="0" sz="1000">
                <a:latin typeface="Times New Roman"/>
                <a:cs typeface="Times New Roman"/>
              </a:rPr>
              <a:t>system</a:t>
            </a:r>
            <a:r>
              <a:rPr dirty="0" sz="1000" spc="2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integrates</a:t>
            </a:r>
            <a:r>
              <a:rPr dirty="0" sz="1000" spc="2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ethical</a:t>
            </a:r>
            <a:r>
              <a:rPr dirty="0" sz="1000" spc="2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norms,</a:t>
            </a:r>
            <a:r>
              <a:rPr dirty="0" sz="1000" spc="2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spiritual</a:t>
            </a:r>
            <a:r>
              <a:rPr dirty="0" sz="1000" spc="2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insights,</a:t>
            </a:r>
            <a:r>
              <a:rPr dirty="0" sz="1000" spc="28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and </a:t>
            </a:r>
            <a:r>
              <a:rPr dirty="0" sz="1000">
                <a:latin typeface="Times New Roman"/>
                <a:cs typeface="Times New Roman"/>
              </a:rPr>
              <a:t>practical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wisdom—</a:t>
            </a:r>
            <a:r>
              <a:rPr dirty="0" sz="1000">
                <a:latin typeface="Times New Roman"/>
                <a:cs typeface="Times New Roman"/>
              </a:rPr>
              <a:t>elements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highly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relevant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for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addressing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4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mental</a:t>
            </a:r>
            <a:r>
              <a:rPr dirty="0" sz="1000" spc="4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health</a:t>
            </a:r>
            <a:r>
              <a:rPr dirty="0" sz="1000" spc="4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challenges</a:t>
            </a:r>
            <a:r>
              <a:rPr dirty="0" sz="1000" spc="4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faced</a:t>
            </a:r>
            <a:r>
              <a:rPr dirty="0" sz="1000" spc="4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by</a:t>
            </a:r>
            <a:r>
              <a:rPr dirty="0" sz="1000" spc="4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contemporary </a:t>
            </a:r>
            <a:r>
              <a:rPr dirty="0" sz="1000">
                <a:latin typeface="Times New Roman"/>
                <a:cs typeface="Times New Roman"/>
              </a:rPr>
              <a:t>students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(UNESCO,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2015;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WHO,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2021).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6712" y="5108829"/>
            <a:ext cx="3018155" cy="1087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87630" indent="-74930">
              <a:lnSpc>
                <a:spcPct val="100000"/>
              </a:lnSpc>
              <a:spcBef>
                <a:spcPts val="95"/>
              </a:spcBef>
              <a:buChar char="•"/>
              <a:tabLst>
                <a:tab pos="87630" algn="l"/>
              </a:tabLst>
            </a:pPr>
            <a:r>
              <a:rPr dirty="0" sz="1000" spc="-10">
                <a:latin typeface="Times New Roman"/>
                <a:cs typeface="Times New Roman"/>
              </a:rPr>
              <a:t>Basavanna’s</a:t>
            </a:r>
            <a:r>
              <a:rPr dirty="0" sz="1000" spc="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Vachanas:</a:t>
            </a:r>
            <a:endParaRPr sz="10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9400"/>
              </a:lnSpc>
              <a:spcBef>
                <a:spcPts val="5"/>
              </a:spcBef>
            </a:pPr>
            <a:r>
              <a:rPr dirty="0" sz="1000">
                <a:latin typeface="Times New Roman"/>
                <a:cs typeface="Times New Roman"/>
              </a:rPr>
              <a:t>These</a:t>
            </a:r>
            <a:r>
              <a:rPr dirty="0" sz="1000" spc="29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poetic</a:t>
            </a:r>
            <a:r>
              <a:rPr dirty="0" sz="1000" spc="29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teachings</a:t>
            </a:r>
            <a:r>
              <a:rPr dirty="0" sz="1000" spc="29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advocate</a:t>
            </a:r>
            <a:r>
              <a:rPr dirty="0" sz="1000" spc="29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social</a:t>
            </a:r>
            <a:r>
              <a:rPr dirty="0" sz="1000" spc="295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equality, compassion,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and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personal</a:t>
            </a:r>
            <a:r>
              <a:rPr dirty="0" sz="100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integrity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(Hiremath,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1996).</a:t>
            </a:r>
            <a:r>
              <a:rPr dirty="0" sz="100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Their </a:t>
            </a:r>
            <a:r>
              <a:rPr dirty="0" sz="1000">
                <a:latin typeface="Times New Roman"/>
                <a:cs typeface="Times New Roman"/>
              </a:rPr>
              <a:t>simplicity</a:t>
            </a:r>
            <a:r>
              <a:rPr dirty="0" sz="1000" spc="24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23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depth</a:t>
            </a:r>
            <a:r>
              <a:rPr dirty="0" sz="1000" spc="24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inspire</a:t>
            </a:r>
            <a:r>
              <a:rPr dirty="0" sz="1000" spc="240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self-</a:t>
            </a:r>
            <a:r>
              <a:rPr dirty="0" sz="1000">
                <a:latin typeface="Times New Roman"/>
                <a:cs typeface="Times New Roman"/>
              </a:rPr>
              <a:t>examination</a:t>
            </a:r>
            <a:r>
              <a:rPr dirty="0" sz="1000" spc="240">
                <a:latin typeface="Times New Roman"/>
                <a:cs typeface="Times New Roman"/>
              </a:rPr>
              <a:t>  </a:t>
            </a:r>
            <a:r>
              <a:rPr dirty="0" sz="1000" spc="-25">
                <a:latin typeface="Times New Roman"/>
                <a:cs typeface="Times New Roman"/>
              </a:rPr>
              <a:t>and </a:t>
            </a:r>
            <a:r>
              <a:rPr dirty="0" sz="1000">
                <a:latin typeface="Times New Roman"/>
                <a:cs typeface="Times New Roman"/>
              </a:rPr>
              <a:t>respectful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conduct,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promoting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values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that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enable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students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relate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deeply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themselves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others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(Kumar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&amp;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Pathak, 2017).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6712" y="6321933"/>
            <a:ext cx="3018790" cy="1541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87630" indent="-74930">
              <a:lnSpc>
                <a:spcPts val="1195"/>
              </a:lnSpc>
              <a:spcBef>
                <a:spcPts val="95"/>
              </a:spcBef>
              <a:buChar char="•"/>
              <a:tabLst>
                <a:tab pos="87630" algn="l"/>
              </a:tabLst>
            </a:pPr>
            <a:r>
              <a:rPr dirty="0" sz="1000" spc="-10">
                <a:latin typeface="Times New Roman"/>
                <a:cs typeface="Times New Roman"/>
              </a:rPr>
              <a:t>Hitopadesha:</a:t>
            </a:r>
            <a:endParaRPr sz="10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9500"/>
              </a:lnSpc>
            </a:pP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1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Hitopadesha</a:t>
            </a:r>
            <a:r>
              <a:rPr dirty="0" sz="1000" spc="1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is</a:t>
            </a:r>
            <a:r>
              <a:rPr dirty="0" sz="1000" spc="1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1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classical</a:t>
            </a:r>
            <a:r>
              <a:rPr dirty="0" sz="1000" spc="1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Indian</a:t>
            </a:r>
            <a:r>
              <a:rPr dirty="0" sz="1000" spc="1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text</a:t>
            </a:r>
            <a:r>
              <a:rPr dirty="0" sz="1000" spc="1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composed</a:t>
            </a:r>
            <a:r>
              <a:rPr dirty="0" sz="1000" spc="17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of </a:t>
            </a:r>
            <a:r>
              <a:rPr dirty="0" sz="1000" spc="-10">
                <a:latin typeface="Times New Roman"/>
                <a:cs typeface="Times New Roman"/>
              </a:rPr>
              <a:t>fables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stories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with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moral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practical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lessons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aimed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at </a:t>
            </a:r>
            <a:r>
              <a:rPr dirty="0" sz="1000">
                <a:latin typeface="Times New Roman"/>
                <a:cs typeface="Times New Roman"/>
              </a:rPr>
              <a:t>guiding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wise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ethical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living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(Ghosh,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2014).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Similar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to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3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Panchatantra,</a:t>
            </a:r>
            <a:r>
              <a:rPr dirty="0" sz="1000" spc="3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it</a:t>
            </a:r>
            <a:r>
              <a:rPr dirty="0" sz="1000" spc="3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uses</a:t>
            </a:r>
            <a:r>
              <a:rPr dirty="0" sz="1000" spc="3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engaging</a:t>
            </a:r>
            <a:r>
              <a:rPr dirty="0" sz="1000" spc="3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narratives</a:t>
            </a:r>
            <a:r>
              <a:rPr dirty="0" sz="1000" spc="3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31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teach </a:t>
            </a:r>
            <a:r>
              <a:rPr dirty="0" sz="1000">
                <a:latin typeface="Times New Roman"/>
                <a:cs typeface="Times New Roman"/>
              </a:rPr>
              <a:t>virtues like prudence, cooperation, and ethical </a:t>
            </a:r>
            <a:r>
              <a:rPr dirty="0" sz="1000" spc="-10">
                <a:latin typeface="Times New Roman"/>
                <a:cs typeface="Times New Roman"/>
              </a:rPr>
              <a:t>decision-</a:t>
            </a:r>
            <a:r>
              <a:rPr dirty="0" sz="1000">
                <a:latin typeface="Times New Roman"/>
                <a:cs typeface="Times New Roman"/>
              </a:rPr>
              <a:t>making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(Singh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&amp;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Misra,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2013).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teachings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encourage self-</a:t>
            </a:r>
            <a:r>
              <a:rPr dirty="0" sz="1000">
                <a:latin typeface="Times New Roman"/>
                <a:cs typeface="Times New Roman"/>
              </a:rPr>
              <a:t>discipline,</a:t>
            </a:r>
            <a:r>
              <a:rPr dirty="0" sz="1000" spc="30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strategic</a:t>
            </a:r>
            <a:r>
              <a:rPr dirty="0" sz="1000" spc="30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thinking,</a:t>
            </a:r>
            <a:r>
              <a:rPr dirty="0" sz="1000" spc="30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300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harmonious </a:t>
            </a:r>
            <a:r>
              <a:rPr dirty="0" sz="1000">
                <a:latin typeface="Times New Roman"/>
                <a:cs typeface="Times New Roman"/>
              </a:rPr>
              <a:t>relationships, supporting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students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developing </a:t>
            </a:r>
            <a:r>
              <a:rPr dirty="0" sz="1000" spc="-10">
                <a:latin typeface="Times New Roman"/>
                <a:cs typeface="Times New Roman"/>
              </a:rPr>
              <a:t>emotional </a:t>
            </a:r>
            <a:r>
              <a:rPr dirty="0" sz="1000">
                <a:latin typeface="Times New Roman"/>
                <a:cs typeface="Times New Roman"/>
              </a:rPr>
              <a:t>intelligence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sound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judgment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(Narvaez,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2006).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6712" y="7988045"/>
            <a:ext cx="3018790" cy="1390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87630" indent="-74930">
              <a:lnSpc>
                <a:spcPct val="100000"/>
              </a:lnSpc>
              <a:spcBef>
                <a:spcPts val="95"/>
              </a:spcBef>
              <a:buChar char="•"/>
              <a:tabLst>
                <a:tab pos="87630" algn="l"/>
              </a:tabLst>
            </a:pPr>
            <a:r>
              <a:rPr dirty="0" sz="1000">
                <a:latin typeface="Times New Roman"/>
                <a:cs typeface="Times New Roman"/>
              </a:rPr>
              <a:t>Panchatantra</a:t>
            </a:r>
            <a:r>
              <a:rPr dirty="0" sz="1000" spc="-5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Stories:</a:t>
            </a:r>
            <a:endParaRPr sz="10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9300"/>
              </a:lnSpc>
              <a:spcBef>
                <a:spcPts val="10"/>
              </a:spcBef>
            </a:pPr>
            <a:r>
              <a:rPr dirty="0" sz="1000">
                <a:latin typeface="Times New Roman"/>
                <a:cs typeface="Times New Roman"/>
              </a:rPr>
              <a:t>These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traditional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fables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use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captivating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animal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characters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2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impart</a:t>
            </a:r>
            <a:r>
              <a:rPr dirty="0" sz="1000" spc="2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lessons</a:t>
            </a:r>
            <a:r>
              <a:rPr dirty="0" sz="1000" spc="2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on</a:t>
            </a:r>
            <a:r>
              <a:rPr dirty="0" sz="1000" spc="2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wisdom,</a:t>
            </a:r>
            <a:r>
              <a:rPr dirty="0" sz="1000" spc="2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cooperation,</a:t>
            </a:r>
            <a:r>
              <a:rPr dirty="0" sz="1000" spc="2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26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ethical decision-</a:t>
            </a:r>
            <a:r>
              <a:rPr dirty="0" sz="1000">
                <a:latin typeface="Times New Roman"/>
                <a:cs typeface="Times New Roman"/>
              </a:rPr>
              <a:t>making</a:t>
            </a:r>
            <a:r>
              <a:rPr dirty="0" sz="1000" spc="4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(Ghosh,</a:t>
            </a:r>
            <a:r>
              <a:rPr dirty="0" sz="1000" spc="48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2014).</a:t>
            </a:r>
            <a:r>
              <a:rPr dirty="0" sz="1000" spc="48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They</a:t>
            </a:r>
            <a:r>
              <a:rPr dirty="0" sz="1000" spc="4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nurture</a:t>
            </a:r>
            <a:r>
              <a:rPr dirty="0" sz="1000" spc="49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social </a:t>
            </a:r>
            <a:r>
              <a:rPr dirty="0" sz="1000">
                <a:latin typeface="Times New Roman"/>
                <a:cs typeface="Times New Roman"/>
              </a:rPr>
              <a:t>intelligence and equip students with practical </a:t>
            </a:r>
            <a:r>
              <a:rPr dirty="0" sz="1000" spc="-10">
                <a:latin typeface="Times New Roman"/>
                <a:cs typeface="Times New Roman"/>
              </a:rPr>
              <a:t>problem-</a:t>
            </a:r>
            <a:r>
              <a:rPr dirty="0" sz="1000">
                <a:latin typeface="Times New Roman"/>
                <a:cs typeface="Times New Roman"/>
              </a:rPr>
              <a:t>solving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skills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essential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for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everyday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life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(Nair,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2010).</a:t>
            </a:r>
            <a:endParaRPr sz="1000">
              <a:latin typeface="Times New Roman"/>
              <a:cs typeface="Times New Roman"/>
            </a:endParaRPr>
          </a:p>
          <a:p>
            <a:pPr algn="just" marL="12700" marR="9525">
              <a:lnSpc>
                <a:spcPct val="99500"/>
              </a:lnSpc>
              <a:spcBef>
                <a:spcPts val="5"/>
              </a:spcBef>
            </a:pPr>
            <a:r>
              <a:rPr dirty="0" sz="1000">
                <a:latin typeface="Times New Roman"/>
                <a:cs typeface="Times New Roman"/>
              </a:rPr>
              <a:t>By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blending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these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indigenous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sources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with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contemporary </a:t>
            </a:r>
            <a:r>
              <a:rPr dirty="0" sz="1000">
                <a:latin typeface="Times New Roman"/>
                <a:cs typeface="Times New Roman"/>
              </a:rPr>
              <a:t>educational</a:t>
            </a:r>
            <a:r>
              <a:rPr dirty="0" sz="1000" spc="3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psychology,</a:t>
            </a:r>
            <a:r>
              <a:rPr dirty="0" sz="1000" spc="3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this</a:t>
            </a:r>
            <a:r>
              <a:rPr dirty="0" sz="1000" spc="3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study</a:t>
            </a:r>
            <a:r>
              <a:rPr dirty="0" sz="1000" spc="3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offers</a:t>
            </a:r>
            <a:r>
              <a:rPr dirty="0" sz="1000" spc="3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37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culturally </a:t>
            </a:r>
            <a:r>
              <a:rPr dirty="0" sz="1000">
                <a:latin typeface="Times New Roman"/>
                <a:cs typeface="Times New Roman"/>
              </a:rPr>
              <a:t>grounded</a:t>
            </a:r>
            <a:r>
              <a:rPr dirty="0" sz="1000" spc="14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4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holistic</a:t>
            </a:r>
            <a:r>
              <a:rPr dirty="0" sz="1000" spc="13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approach</a:t>
            </a:r>
            <a:r>
              <a:rPr dirty="0" sz="1000" spc="14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14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value</a:t>
            </a:r>
            <a:r>
              <a:rPr dirty="0" sz="1000" spc="140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education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21734" y="563372"/>
            <a:ext cx="3092450" cy="935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9940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(UNESCO,</a:t>
            </a:r>
            <a:r>
              <a:rPr dirty="0" sz="1000" spc="11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2015).</a:t>
            </a:r>
            <a:r>
              <a:rPr dirty="0" sz="1000" spc="11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This</a:t>
            </a:r>
            <a:r>
              <a:rPr dirty="0" sz="1000" spc="11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integration</a:t>
            </a:r>
            <a:r>
              <a:rPr dirty="0" sz="1000" spc="1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helps</a:t>
            </a:r>
            <a:r>
              <a:rPr dirty="0" sz="1000" spc="1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students</a:t>
            </a:r>
            <a:r>
              <a:rPr dirty="0" sz="1000" spc="114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connect </a:t>
            </a:r>
            <a:r>
              <a:rPr dirty="0" sz="1000">
                <a:latin typeface="Times New Roman"/>
                <a:cs typeface="Times New Roman"/>
              </a:rPr>
              <a:t>meaningfully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with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values,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enriching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both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their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cognitive </a:t>
            </a:r>
            <a:r>
              <a:rPr dirty="0" sz="1000">
                <a:latin typeface="Times New Roman"/>
                <a:cs typeface="Times New Roman"/>
              </a:rPr>
              <a:t>understanding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11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experiences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(Narvaez,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2006; </a:t>
            </a:r>
            <a:r>
              <a:rPr dirty="0" sz="1000">
                <a:latin typeface="Times New Roman"/>
                <a:cs typeface="Times New Roman"/>
              </a:rPr>
              <a:t>Singh</a:t>
            </a:r>
            <a:r>
              <a:rPr dirty="0" sz="1000" spc="1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&amp;</a:t>
            </a:r>
            <a:r>
              <a:rPr dirty="0" sz="1000" spc="1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Misra,</a:t>
            </a:r>
            <a:r>
              <a:rPr dirty="0" sz="1000" spc="1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2013).</a:t>
            </a:r>
            <a:r>
              <a:rPr dirty="0" sz="1000" spc="1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It</a:t>
            </a:r>
            <a:r>
              <a:rPr dirty="0" sz="1000" spc="1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bridges</a:t>
            </a:r>
            <a:r>
              <a:rPr dirty="0" sz="1000" spc="1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traditional</a:t>
            </a:r>
            <a:r>
              <a:rPr dirty="0" sz="1000" spc="1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wisdom</a:t>
            </a:r>
            <a:r>
              <a:rPr dirty="0" sz="1000" spc="17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and </a:t>
            </a:r>
            <a:r>
              <a:rPr dirty="0" sz="1000">
                <a:latin typeface="Times New Roman"/>
                <a:cs typeface="Times New Roman"/>
              </a:rPr>
              <a:t>modern</a:t>
            </a:r>
            <a:r>
              <a:rPr dirty="0" sz="1000" spc="3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mental</a:t>
            </a:r>
            <a:r>
              <a:rPr dirty="0" sz="1000" spc="3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health</a:t>
            </a:r>
            <a:r>
              <a:rPr dirty="0" sz="1000" spc="3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principles</a:t>
            </a:r>
            <a:r>
              <a:rPr dirty="0" sz="1000" spc="3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3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foster</a:t>
            </a:r>
            <a:r>
              <a:rPr dirty="0" sz="1000" spc="3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well-rounded </a:t>
            </a:r>
            <a:r>
              <a:rPr dirty="0" sz="1000">
                <a:latin typeface="Times New Roman"/>
                <a:cs typeface="Times New Roman"/>
              </a:rPr>
              <a:t>development</a:t>
            </a:r>
            <a:r>
              <a:rPr dirty="0" sz="1000" spc="-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(WHO,</a:t>
            </a:r>
            <a:r>
              <a:rPr dirty="0" sz="1000" spc="-4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2021).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21734" y="1624329"/>
            <a:ext cx="3090545" cy="22993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ts val="1195"/>
              </a:lnSpc>
              <a:spcBef>
                <a:spcPts val="95"/>
              </a:spcBef>
            </a:pPr>
            <a:r>
              <a:rPr dirty="0" sz="1000" b="1">
                <a:latin typeface="Times New Roman"/>
                <a:cs typeface="Times New Roman"/>
              </a:rPr>
              <a:t>4.4 </a:t>
            </a:r>
            <a:r>
              <a:rPr dirty="0" sz="1000" spc="-10" b="1">
                <a:latin typeface="Times New Roman"/>
                <a:cs typeface="Times New Roman"/>
              </a:rPr>
              <a:t>Interpretation </a:t>
            </a:r>
            <a:r>
              <a:rPr dirty="0" sz="1000" b="1">
                <a:latin typeface="Times New Roman"/>
                <a:cs typeface="Times New Roman"/>
              </a:rPr>
              <a:t>in</a:t>
            </a:r>
            <a:r>
              <a:rPr dirty="0" sz="1000" spc="-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the</a:t>
            </a:r>
            <a:r>
              <a:rPr dirty="0" sz="1000" spc="-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Context</a:t>
            </a:r>
            <a:r>
              <a:rPr dirty="0" sz="1000" spc="-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of</a:t>
            </a:r>
            <a:r>
              <a:rPr dirty="0" sz="1000" spc="-1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the</a:t>
            </a:r>
            <a:r>
              <a:rPr dirty="0" sz="1000" spc="-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Study</a:t>
            </a:r>
            <a:endParaRPr sz="1000">
              <a:latin typeface="Times New Roman"/>
              <a:cs typeface="Times New Roman"/>
            </a:endParaRPr>
          </a:p>
          <a:p>
            <a:pPr algn="just" marL="12700" marR="5715">
              <a:lnSpc>
                <a:spcPct val="99500"/>
              </a:lnSpc>
            </a:pP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1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intervention</a:t>
            </a:r>
            <a:r>
              <a:rPr dirty="0" sz="1000" spc="1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based</a:t>
            </a:r>
            <a:r>
              <a:rPr dirty="0" sz="1000" spc="1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on</a:t>
            </a:r>
            <a:r>
              <a:rPr dirty="0" sz="1000" spc="1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these</a:t>
            </a:r>
            <a:r>
              <a:rPr dirty="0" sz="1000" spc="1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value</a:t>
            </a:r>
            <a:r>
              <a:rPr dirty="0" sz="1000" spc="1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classifications</a:t>
            </a:r>
            <a:r>
              <a:rPr dirty="0" sz="1000" spc="17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and </a:t>
            </a:r>
            <a:r>
              <a:rPr dirty="0" sz="1000">
                <a:latin typeface="Times New Roman"/>
                <a:cs typeface="Times New Roman"/>
              </a:rPr>
              <a:t>Indian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knowledge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systems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demonstrated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positive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effects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on </a:t>
            </a:r>
            <a:r>
              <a:rPr dirty="0" sz="1000">
                <a:latin typeface="Times New Roman"/>
                <a:cs typeface="Times New Roman"/>
              </a:rPr>
              <a:t>students’</a:t>
            </a:r>
            <a:r>
              <a:rPr dirty="0" sz="1000" spc="2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mental</a:t>
            </a:r>
            <a:r>
              <a:rPr dirty="0" sz="1000" spc="2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health</a:t>
            </a:r>
            <a:r>
              <a:rPr dirty="0" sz="1000" spc="2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(UNICEF,</a:t>
            </a:r>
            <a:r>
              <a:rPr dirty="0" sz="1000" spc="2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2012).</a:t>
            </a:r>
            <a:r>
              <a:rPr dirty="0" sz="1000" spc="2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Students</a:t>
            </a:r>
            <a:r>
              <a:rPr dirty="0" sz="1000" spc="29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who</a:t>
            </a:r>
            <a:endParaRPr sz="1000">
              <a:latin typeface="Times New Roman"/>
              <a:cs typeface="Times New Roman"/>
            </a:endParaRPr>
          </a:p>
          <a:p>
            <a:pPr marL="12700" marR="5080">
              <a:lnSpc>
                <a:spcPct val="99400"/>
              </a:lnSpc>
              <a:spcBef>
                <a:spcPts val="5"/>
              </a:spcBef>
            </a:pPr>
            <a:r>
              <a:rPr dirty="0" sz="1000">
                <a:latin typeface="Times New Roman"/>
                <a:cs typeface="Times New Roman"/>
              </a:rPr>
              <a:t>engaged</a:t>
            </a:r>
            <a:r>
              <a:rPr dirty="0" sz="1000" spc="1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with</a:t>
            </a:r>
            <a:r>
              <a:rPr dirty="0" sz="1000" spc="1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1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stories</a:t>
            </a:r>
            <a:r>
              <a:rPr dirty="0" sz="1000" spc="1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teachings</a:t>
            </a:r>
            <a:r>
              <a:rPr dirty="0" sz="1000" spc="1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showed</a:t>
            </a:r>
            <a:r>
              <a:rPr dirty="0" sz="1000" spc="17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improved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1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control,</a:t>
            </a:r>
            <a:r>
              <a:rPr dirty="0" sz="1000" spc="1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empathy,</a:t>
            </a:r>
            <a:r>
              <a:rPr dirty="0" sz="1000" spc="1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8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problem-</a:t>
            </a:r>
            <a:r>
              <a:rPr dirty="0" sz="1000">
                <a:latin typeface="Times New Roman"/>
                <a:cs typeface="Times New Roman"/>
              </a:rPr>
              <a:t>solving</a:t>
            </a:r>
            <a:r>
              <a:rPr dirty="0" sz="1000" spc="16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abilities (Narvaez,</a:t>
            </a:r>
            <a:r>
              <a:rPr dirty="0" sz="1000" spc="-5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2006;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Singh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&amp;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Misra,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2013).</a:t>
            </a:r>
            <a:r>
              <a:rPr dirty="0" sz="1000" spc="-4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They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reported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feeling </a:t>
            </a:r>
            <a:r>
              <a:rPr dirty="0" sz="1000">
                <a:latin typeface="Times New Roman"/>
                <a:cs typeface="Times New Roman"/>
              </a:rPr>
              <a:t>more</a:t>
            </a:r>
            <a:r>
              <a:rPr dirty="0" sz="1000" spc="1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grounded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confident</a:t>
            </a:r>
            <a:r>
              <a:rPr dirty="0" sz="1000" spc="10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managing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their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emotions </a:t>
            </a:r>
            <a:r>
              <a:rPr dirty="0" sz="1000">
                <a:latin typeface="Times New Roman"/>
                <a:cs typeface="Times New Roman"/>
              </a:rPr>
              <a:t>outcomes</a:t>
            </a:r>
            <a:r>
              <a:rPr dirty="0" sz="1000" spc="2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that</a:t>
            </a:r>
            <a:r>
              <a:rPr dirty="0" sz="1000" spc="25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align</a:t>
            </a:r>
            <a:r>
              <a:rPr dirty="0" sz="1000" spc="25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with</a:t>
            </a:r>
            <a:r>
              <a:rPr dirty="0" sz="1000" spc="2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2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spiritual</a:t>
            </a:r>
            <a:r>
              <a:rPr dirty="0" sz="1000" spc="25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2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moral</a:t>
            </a:r>
            <a:r>
              <a:rPr dirty="0" sz="1000" spc="24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values </a:t>
            </a:r>
            <a:r>
              <a:rPr dirty="0" sz="1000">
                <a:latin typeface="Times New Roman"/>
                <a:cs typeface="Times New Roman"/>
              </a:rPr>
              <a:t>imparted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by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texts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(Nair,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2010;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Kumar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&amp;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Pathak,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2017). </a:t>
            </a:r>
            <a:r>
              <a:rPr dirty="0" sz="1000">
                <a:latin typeface="Times New Roman"/>
                <a:cs typeface="Times New Roman"/>
              </a:rPr>
              <a:t>Moreover,</a:t>
            </a:r>
            <a:r>
              <a:rPr dirty="0" sz="1000" spc="1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integrating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these</a:t>
            </a:r>
            <a:r>
              <a:rPr dirty="0" sz="1000" spc="11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indigenous</a:t>
            </a:r>
            <a:r>
              <a:rPr dirty="0" sz="1000" spc="1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sources</a:t>
            </a:r>
            <a:r>
              <a:rPr dirty="0" sz="1000" spc="1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fostered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Times New Roman"/>
                <a:cs typeface="Times New Roman"/>
              </a:rPr>
              <a:t>a</a:t>
            </a:r>
            <a:r>
              <a:rPr dirty="0" sz="1000">
                <a:latin typeface="Times New Roman"/>
                <a:cs typeface="Times New Roman"/>
              </a:rPr>
              <a:t> deeper</a:t>
            </a:r>
            <a:r>
              <a:rPr dirty="0" sz="1000" spc="4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connection</a:t>
            </a:r>
            <a:r>
              <a:rPr dirty="0" sz="1000" spc="40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40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cultural</a:t>
            </a:r>
            <a:r>
              <a:rPr dirty="0" sz="1000" spc="4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identity,</a:t>
            </a:r>
            <a:r>
              <a:rPr dirty="0" sz="1000" spc="40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which</a:t>
            </a:r>
            <a:r>
              <a:rPr dirty="0" sz="1000" spc="40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supports </a:t>
            </a:r>
            <a:r>
              <a:rPr dirty="0" sz="1000">
                <a:latin typeface="Times New Roman"/>
                <a:cs typeface="Times New Roman"/>
              </a:rPr>
              <a:t>psychological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well-</a:t>
            </a:r>
            <a:r>
              <a:rPr dirty="0" sz="1000">
                <a:latin typeface="Times New Roman"/>
                <a:cs typeface="Times New Roman"/>
              </a:rPr>
              <a:t>being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by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providing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students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with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sense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1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belonging</a:t>
            </a:r>
            <a:r>
              <a:rPr dirty="0" sz="1000" spc="1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purpose</a:t>
            </a:r>
            <a:r>
              <a:rPr dirty="0" sz="1000" spc="1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(Ghosh,</a:t>
            </a:r>
            <a:r>
              <a:rPr dirty="0" sz="1000" spc="1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2014;</a:t>
            </a:r>
            <a:r>
              <a:rPr dirty="0" sz="1000" spc="1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Singh</a:t>
            </a:r>
            <a:r>
              <a:rPr dirty="0" sz="1000" spc="1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&amp;</a:t>
            </a:r>
            <a:r>
              <a:rPr dirty="0" sz="1000" spc="16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Misra, 2013).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21734" y="4049395"/>
            <a:ext cx="3091180" cy="27539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ts val="1195"/>
              </a:lnSpc>
              <a:spcBef>
                <a:spcPts val="95"/>
              </a:spcBef>
            </a:pPr>
            <a:r>
              <a:rPr dirty="0" sz="1000" b="1">
                <a:latin typeface="Times New Roman"/>
                <a:cs typeface="Times New Roman"/>
              </a:rPr>
              <a:t>Basavanna’s</a:t>
            </a:r>
            <a:r>
              <a:rPr dirty="0" sz="1000" spc="-3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Vachanas:</a:t>
            </a:r>
            <a:endParaRPr sz="1000">
              <a:latin typeface="Times New Roman"/>
              <a:cs typeface="Times New Roman"/>
            </a:endParaRPr>
          </a:p>
          <a:p>
            <a:pPr algn="just" marL="12700" marR="6350">
              <a:lnSpc>
                <a:spcPts val="1190"/>
              </a:lnSpc>
              <a:spcBef>
                <a:spcPts val="40"/>
              </a:spcBef>
            </a:pPr>
            <a:r>
              <a:rPr dirty="0" sz="1000">
                <a:latin typeface="Times New Roman"/>
                <a:cs typeface="Times New Roman"/>
              </a:rPr>
              <a:t>Basavanna,</a:t>
            </a:r>
            <a:r>
              <a:rPr dirty="0" sz="1000" spc="1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1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12th-century</a:t>
            </a:r>
            <a:r>
              <a:rPr dirty="0" sz="1000" spc="1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social</a:t>
            </a:r>
            <a:r>
              <a:rPr dirty="0" sz="1000" spc="1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reformer</a:t>
            </a:r>
            <a:r>
              <a:rPr dirty="0" sz="1000" spc="1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saint</a:t>
            </a:r>
            <a:r>
              <a:rPr dirty="0" sz="1000" spc="13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from </a:t>
            </a:r>
            <a:r>
              <a:rPr dirty="0" sz="1000">
                <a:latin typeface="Times New Roman"/>
                <a:cs typeface="Times New Roman"/>
              </a:rPr>
              <a:t>Karnataka,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composed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Vachanas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concise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poetic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sayings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that</a:t>
            </a:r>
            <a:endParaRPr sz="1000">
              <a:latin typeface="Times New Roman"/>
              <a:cs typeface="Times New Roman"/>
            </a:endParaRPr>
          </a:p>
          <a:p>
            <a:pPr algn="just" marL="12700" marR="6985">
              <a:lnSpc>
                <a:spcPts val="1190"/>
              </a:lnSpc>
              <a:spcBef>
                <a:spcPts val="10"/>
              </a:spcBef>
            </a:pPr>
            <a:r>
              <a:rPr dirty="0" sz="1000">
                <a:latin typeface="Times New Roman"/>
                <a:cs typeface="Times New Roman"/>
              </a:rPr>
              <a:t>carry</a:t>
            </a:r>
            <a:r>
              <a:rPr dirty="0" sz="1000" spc="24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profound</a:t>
            </a:r>
            <a:r>
              <a:rPr dirty="0" sz="1000" spc="25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philosophical</a:t>
            </a:r>
            <a:r>
              <a:rPr dirty="0" sz="1000" spc="24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25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ethical</a:t>
            </a:r>
            <a:r>
              <a:rPr dirty="0" sz="1000" spc="240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messages (Hiremath,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1996).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These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Vachanas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serve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not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only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spiritual</a:t>
            </a:r>
            <a:endParaRPr sz="1000">
              <a:latin typeface="Times New Roman"/>
              <a:cs typeface="Times New Roman"/>
            </a:endParaRPr>
          </a:p>
          <a:p>
            <a:pPr algn="just" marL="12700" marR="5080">
              <a:lnSpc>
                <a:spcPts val="1190"/>
              </a:lnSpc>
              <a:spcBef>
                <a:spcPts val="10"/>
              </a:spcBef>
            </a:pPr>
            <a:r>
              <a:rPr dirty="0" sz="1000">
                <a:latin typeface="Times New Roman"/>
                <a:cs typeface="Times New Roman"/>
              </a:rPr>
              <a:t>expressions</a:t>
            </a:r>
            <a:r>
              <a:rPr dirty="0" sz="1000" spc="2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but</a:t>
            </a:r>
            <a:r>
              <a:rPr dirty="0" sz="1000" spc="25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also</a:t>
            </a:r>
            <a:r>
              <a:rPr dirty="0" sz="1000" spc="25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as</a:t>
            </a:r>
            <a:r>
              <a:rPr dirty="0" sz="1000" spc="2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practical</a:t>
            </a:r>
            <a:r>
              <a:rPr dirty="0" sz="1000" spc="25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guidelines</a:t>
            </a:r>
            <a:r>
              <a:rPr dirty="0" sz="1000" spc="2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for</a:t>
            </a:r>
            <a:r>
              <a:rPr dirty="0" sz="1000" spc="25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living</a:t>
            </a:r>
            <a:r>
              <a:rPr dirty="0" sz="1000" spc="260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Times New Roman"/>
                <a:cs typeface="Times New Roman"/>
              </a:rPr>
              <a:t>a</a:t>
            </a:r>
            <a:r>
              <a:rPr dirty="0" sz="1000" spc="-10">
                <a:latin typeface="Times New Roman"/>
                <a:cs typeface="Times New Roman"/>
              </a:rPr>
              <a:t> meaningful,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value-centered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life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(Singh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&amp;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Misra,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2013).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They </a:t>
            </a:r>
            <a:r>
              <a:rPr dirty="0" sz="1000">
                <a:latin typeface="Times New Roman"/>
                <a:cs typeface="Times New Roman"/>
              </a:rPr>
              <a:t>emphasize</a:t>
            </a:r>
            <a:r>
              <a:rPr dirty="0" sz="1000" spc="4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qualities</a:t>
            </a:r>
            <a:r>
              <a:rPr dirty="0" sz="1000" spc="4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like</a:t>
            </a:r>
            <a:r>
              <a:rPr dirty="0" sz="1000" spc="4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humility,</a:t>
            </a:r>
            <a:r>
              <a:rPr dirty="0" sz="1000" spc="4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self-</a:t>
            </a:r>
            <a:r>
              <a:rPr dirty="0" sz="1000">
                <a:latin typeface="Times New Roman"/>
                <a:cs typeface="Times New Roman"/>
              </a:rPr>
              <a:t>purity,</a:t>
            </a:r>
            <a:r>
              <a:rPr dirty="0" sz="1000" spc="4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equality,</a:t>
            </a:r>
            <a:endParaRPr sz="1000">
              <a:latin typeface="Times New Roman"/>
              <a:cs typeface="Times New Roman"/>
            </a:endParaRPr>
          </a:p>
          <a:p>
            <a:pPr algn="just" marL="12700" marR="5080">
              <a:lnSpc>
                <a:spcPts val="1190"/>
              </a:lnSpc>
              <a:spcBef>
                <a:spcPts val="5"/>
              </a:spcBef>
            </a:pPr>
            <a:r>
              <a:rPr dirty="0" sz="1000">
                <a:latin typeface="Times New Roman"/>
                <a:cs typeface="Times New Roman"/>
              </a:rPr>
              <a:t>compassion,</a:t>
            </a:r>
            <a:r>
              <a:rPr dirty="0" sz="1000" spc="3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3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social</a:t>
            </a:r>
            <a:r>
              <a:rPr dirty="0" sz="1000" spc="34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justice—</a:t>
            </a:r>
            <a:r>
              <a:rPr dirty="0" sz="1000">
                <a:latin typeface="Times New Roman"/>
                <a:cs typeface="Times New Roman"/>
              </a:rPr>
              <a:t>essential</a:t>
            </a:r>
            <a:r>
              <a:rPr dirty="0" sz="1000" spc="3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for</a:t>
            </a:r>
            <a:r>
              <a:rPr dirty="0" sz="1000" spc="35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individual </a:t>
            </a:r>
            <a:r>
              <a:rPr dirty="0" sz="1000">
                <a:latin typeface="Times New Roman"/>
                <a:cs typeface="Times New Roman"/>
              </a:rPr>
              <a:t>growth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social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harmony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(Nair,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2010).</a:t>
            </a:r>
            <a:endParaRPr sz="1000">
              <a:latin typeface="Times New Roman"/>
              <a:cs typeface="Times New Roman"/>
            </a:endParaRPr>
          </a:p>
          <a:p>
            <a:pPr algn="just" marL="12700" marR="7620">
              <a:lnSpc>
                <a:spcPts val="1190"/>
              </a:lnSpc>
              <a:spcBef>
                <a:spcPts val="10"/>
              </a:spcBef>
            </a:pPr>
            <a:r>
              <a:rPr dirty="0" sz="1000">
                <a:latin typeface="Times New Roman"/>
                <a:cs typeface="Times New Roman"/>
              </a:rPr>
              <a:t>One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core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teaching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Basavanna’s</a:t>
            </a:r>
            <a:r>
              <a:rPr dirty="0" sz="1000" spc="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Vachanas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is</a:t>
            </a:r>
            <a:r>
              <a:rPr dirty="0" sz="1000" spc="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concept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“Kayaka”—</a:t>
            </a:r>
            <a:r>
              <a:rPr dirty="0" sz="1000">
                <a:latin typeface="Times New Roman"/>
                <a:cs typeface="Times New Roman"/>
              </a:rPr>
              <a:t>dignified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labor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or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righteous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work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(Hiremath,</a:t>
            </a:r>
            <a:endParaRPr sz="1000">
              <a:latin typeface="Times New Roman"/>
              <a:cs typeface="Times New Roman"/>
            </a:endParaRPr>
          </a:p>
          <a:p>
            <a:pPr algn="just" marL="12700" marR="6985">
              <a:lnSpc>
                <a:spcPts val="1190"/>
              </a:lnSpc>
              <a:spcBef>
                <a:spcPts val="5"/>
              </a:spcBef>
            </a:pPr>
            <a:r>
              <a:rPr dirty="0" sz="1000">
                <a:latin typeface="Times New Roman"/>
                <a:cs typeface="Times New Roman"/>
              </a:rPr>
              <a:t>1996).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Basavanna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urged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people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regard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all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work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as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sacred, </a:t>
            </a:r>
            <a:r>
              <a:rPr dirty="0" sz="1000">
                <a:latin typeface="Times New Roman"/>
                <a:cs typeface="Times New Roman"/>
              </a:rPr>
              <a:t>encouraging</a:t>
            </a:r>
            <a:r>
              <a:rPr dirty="0" sz="1000" spc="1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honest</a:t>
            </a:r>
            <a:r>
              <a:rPr dirty="0" sz="1000" spc="1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dedicated</a:t>
            </a:r>
            <a:r>
              <a:rPr dirty="0" sz="1000" spc="1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efforts</a:t>
            </a:r>
            <a:r>
              <a:rPr dirty="0" sz="1000" spc="1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without</a:t>
            </a:r>
            <a:r>
              <a:rPr dirty="0" sz="1000" spc="14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seeking </a:t>
            </a:r>
            <a:r>
              <a:rPr dirty="0" sz="1000">
                <a:latin typeface="Times New Roman"/>
                <a:cs typeface="Times New Roman"/>
              </a:rPr>
              <a:t>personal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gain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or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social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status.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This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teaching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fosters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strong</a:t>
            </a:r>
            <a:endParaRPr sz="1000">
              <a:latin typeface="Times New Roman"/>
              <a:cs typeface="Times New Roman"/>
            </a:endParaRPr>
          </a:p>
          <a:p>
            <a:pPr algn="just" marL="12700" marR="6985">
              <a:lnSpc>
                <a:spcPts val="1190"/>
              </a:lnSpc>
              <a:spcBef>
                <a:spcPts val="5"/>
              </a:spcBef>
            </a:pPr>
            <a:r>
              <a:rPr dirty="0" sz="1000" spc="-10">
                <a:latin typeface="Times New Roman"/>
                <a:cs typeface="Times New Roman"/>
              </a:rPr>
              <a:t>work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ethic,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responsibility,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and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sense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purpose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students, </a:t>
            </a:r>
            <a:r>
              <a:rPr dirty="0" sz="1000">
                <a:latin typeface="Times New Roman"/>
                <a:cs typeface="Times New Roman"/>
              </a:rPr>
              <a:t>which</a:t>
            </a:r>
            <a:r>
              <a:rPr dirty="0" sz="1000" spc="3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3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turn</a:t>
            </a:r>
            <a:r>
              <a:rPr dirty="0" sz="1000" spc="3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builds</a:t>
            </a:r>
            <a:r>
              <a:rPr dirty="0" sz="1000" spc="3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self-</a:t>
            </a:r>
            <a:r>
              <a:rPr dirty="0" sz="1000">
                <a:latin typeface="Times New Roman"/>
                <a:cs typeface="Times New Roman"/>
              </a:rPr>
              <a:t>esteem</a:t>
            </a:r>
            <a:r>
              <a:rPr dirty="0" sz="1000" spc="3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3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mental</a:t>
            </a:r>
            <a:r>
              <a:rPr dirty="0" sz="1000" spc="35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resilience</a:t>
            </a: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165"/>
              </a:lnSpc>
            </a:pPr>
            <a:r>
              <a:rPr dirty="0" sz="1000">
                <a:latin typeface="Times New Roman"/>
                <a:cs typeface="Times New Roman"/>
              </a:rPr>
              <a:t>(Kumar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&amp;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Pathak,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2017).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21734" y="6927342"/>
            <a:ext cx="3089275" cy="19958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Times New Roman"/>
                <a:cs typeface="Times New Roman"/>
              </a:rPr>
              <a:t>For</a:t>
            </a:r>
            <a:r>
              <a:rPr dirty="0" sz="1000" spc="-3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example,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the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Vachana: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195"/>
              </a:lnSpc>
            </a:pPr>
            <a:r>
              <a:rPr dirty="0" sz="1000" b="1">
                <a:latin typeface="Times New Roman"/>
                <a:cs typeface="Times New Roman"/>
              </a:rPr>
              <a:t>“Kayakave</a:t>
            </a:r>
            <a:r>
              <a:rPr dirty="0" sz="1000" spc="-4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Kailasa,</a:t>
            </a:r>
            <a:r>
              <a:rPr dirty="0" sz="1000" spc="-3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Kayaka</a:t>
            </a:r>
            <a:r>
              <a:rPr dirty="0" sz="1000" spc="-40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Nishpatti.”</a:t>
            </a:r>
            <a:endParaRPr sz="1000">
              <a:latin typeface="Times New Roman"/>
              <a:cs typeface="Times New Roman"/>
            </a:endParaRPr>
          </a:p>
          <a:p>
            <a:pPr marL="12700" marR="7620">
              <a:lnSpc>
                <a:spcPts val="1200"/>
              </a:lnSpc>
              <a:spcBef>
                <a:spcPts val="35"/>
              </a:spcBef>
            </a:pPr>
            <a:r>
              <a:rPr dirty="0" sz="1000">
                <a:latin typeface="Times New Roman"/>
                <a:cs typeface="Times New Roman"/>
              </a:rPr>
              <a:t>(Work</a:t>
            </a:r>
            <a:r>
              <a:rPr dirty="0" sz="1000" spc="2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itself</a:t>
            </a:r>
            <a:r>
              <a:rPr dirty="0" sz="1000" spc="2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is</a:t>
            </a:r>
            <a:r>
              <a:rPr dirty="0" sz="1000" spc="2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Kailasa</a:t>
            </a:r>
            <a:r>
              <a:rPr dirty="0" sz="1000" spc="2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[heaven],</a:t>
            </a:r>
            <a:r>
              <a:rPr dirty="0" sz="1000" spc="2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completion</a:t>
            </a:r>
            <a:r>
              <a:rPr dirty="0" sz="1000" spc="2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2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work</a:t>
            </a:r>
            <a:r>
              <a:rPr dirty="0" sz="1000" spc="22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is </a:t>
            </a:r>
            <a:r>
              <a:rPr dirty="0" sz="1000" spc="-10">
                <a:latin typeface="Times New Roman"/>
                <a:cs typeface="Times New Roman"/>
              </a:rPr>
              <a:t>bliss.)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150"/>
              </a:lnSpc>
            </a:pPr>
            <a:r>
              <a:rPr dirty="0" sz="1000">
                <a:latin typeface="Times New Roman"/>
                <a:cs typeface="Times New Roman"/>
              </a:rPr>
              <a:t>This</a:t>
            </a:r>
            <a:r>
              <a:rPr dirty="0" sz="1000" spc="2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encourages</a:t>
            </a:r>
            <a:r>
              <a:rPr dirty="0" sz="1000" spc="2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students</a:t>
            </a:r>
            <a:r>
              <a:rPr dirty="0" sz="1000" spc="2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25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value</a:t>
            </a:r>
            <a:r>
              <a:rPr dirty="0" sz="1000" spc="2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2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process</a:t>
            </a:r>
            <a:r>
              <a:rPr dirty="0" sz="1000" spc="25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26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work,</a:t>
            </a:r>
            <a:endParaRPr sz="1000">
              <a:latin typeface="Times New Roman"/>
              <a:cs typeface="Times New Roman"/>
            </a:endParaRPr>
          </a:p>
          <a:p>
            <a:pPr marL="12700" marR="5080">
              <a:lnSpc>
                <a:spcPct val="99300"/>
              </a:lnSpc>
              <a:spcBef>
                <a:spcPts val="5"/>
              </a:spcBef>
            </a:pPr>
            <a:r>
              <a:rPr dirty="0" sz="1000">
                <a:latin typeface="Times New Roman"/>
                <a:cs typeface="Times New Roman"/>
              </a:rPr>
              <a:t>cultivating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patience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10">
                <a:latin typeface="Times New Roman"/>
                <a:cs typeface="Times New Roman"/>
              </a:rPr>
              <a:t> persistence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(Hiremath,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1996). </a:t>
            </a:r>
            <a:r>
              <a:rPr dirty="0" sz="1000">
                <a:latin typeface="Times New Roman"/>
                <a:cs typeface="Times New Roman"/>
              </a:rPr>
              <a:t>Another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significant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theme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Basavanna’s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writings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is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social </a:t>
            </a:r>
            <a:r>
              <a:rPr dirty="0" sz="1000">
                <a:latin typeface="Times New Roman"/>
                <a:cs typeface="Times New Roman"/>
              </a:rPr>
              <a:t>equality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rejection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caste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discrimination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(Singh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Times New Roman"/>
                <a:cs typeface="Times New Roman"/>
              </a:rPr>
              <a:t>&amp;</a:t>
            </a:r>
            <a:r>
              <a:rPr dirty="0" sz="1000">
                <a:latin typeface="Times New Roman"/>
                <a:cs typeface="Times New Roman"/>
              </a:rPr>
              <a:t> Misra,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2013).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His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Vachanas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emphasize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respect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for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all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human </a:t>
            </a:r>
            <a:r>
              <a:rPr dirty="0" sz="1000">
                <a:latin typeface="Times New Roman"/>
                <a:cs typeface="Times New Roman"/>
              </a:rPr>
              <a:t>beings</a:t>
            </a:r>
            <a:r>
              <a:rPr dirty="0" sz="1000" spc="1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regardless</a:t>
            </a:r>
            <a:r>
              <a:rPr dirty="0" sz="1000" spc="1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1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social</a:t>
            </a:r>
            <a:r>
              <a:rPr dirty="0" sz="1000" spc="1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background,</a:t>
            </a:r>
            <a:r>
              <a:rPr dirty="0" sz="1000" spc="1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fostering</a:t>
            </a:r>
            <a:r>
              <a:rPr dirty="0" sz="1000" spc="114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empathy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kindness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among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students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(Ghosh,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2014). This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promotes </a:t>
            </a:r>
            <a:r>
              <a:rPr dirty="0" sz="1000">
                <a:latin typeface="Times New Roman"/>
                <a:cs typeface="Times New Roman"/>
              </a:rPr>
              <a:t>social</a:t>
            </a:r>
            <a:r>
              <a:rPr dirty="0" sz="1000" spc="2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values</a:t>
            </a:r>
            <a:r>
              <a:rPr dirty="0" sz="1000" spc="2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such</a:t>
            </a:r>
            <a:r>
              <a:rPr dirty="0" sz="1000" spc="2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as</a:t>
            </a:r>
            <a:r>
              <a:rPr dirty="0" sz="1000" spc="2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tolerance,</a:t>
            </a:r>
            <a:r>
              <a:rPr dirty="0" sz="1000" spc="2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cooperation,</a:t>
            </a:r>
            <a:r>
              <a:rPr dirty="0" sz="1000" spc="2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2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justice </a:t>
            </a:r>
            <a:r>
              <a:rPr dirty="0" sz="1000">
                <a:latin typeface="Times New Roman"/>
                <a:cs typeface="Times New Roman"/>
              </a:rPr>
              <a:t>crucial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for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peaceful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coexistence.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21734" y="9049004"/>
            <a:ext cx="308800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Times New Roman"/>
                <a:cs typeface="Times New Roman"/>
              </a:rPr>
              <a:t>“Jaati</a:t>
            </a:r>
            <a:r>
              <a:rPr dirty="0" sz="1000" spc="-4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Bheda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Nishedha,</a:t>
            </a:r>
            <a:r>
              <a:rPr dirty="0" sz="1000" spc="-3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Sarvajanika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Samata.”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latin typeface="Times New Roman"/>
                <a:cs typeface="Times New Roman"/>
              </a:rPr>
              <a:t>(Caste</a:t>
            </a:r>
            <a:r>
              <a:rPr dirty="0" sz="1000" spc="2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differences</a:t>
            </a:r>
            <a:r>
              <a:rPr dirty="0" sz="1000" spc="2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must</a:t>
            </a:r>
            <a:r>
              <a:rPr dirty="0" sz="1000" spc="2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be</a:t>
            </a:r>
            <a:r>
              <a:rPr dirty="0" sz="1000" spc="2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rejected;</a:t>
            </a:r>
            <a:r>
              <a:rPr dirty="0" sz="1000" spc="2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equality</a:t>
            </a:r>
            <a:r>
              <a:rPr dirty="0" sz="1000" spc="2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among</a:t>
            </a:r>
            <a:r>
              <a:rPr dirty="0" sz="1000" spc="27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all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6712" y="436879"/>
            <a:ext cx="3020060" cy="13893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195"/>
              </a:lnSpc>
              <a:spcBef>
                <a:spcPts val="95"/>
              </a:spcBef>
            </a:pPr>
            <a:r>
              <a:rPr dirty="0" sz="1000">
                <a:latin typeface="Times New Roman"/>
                <a:cs typeface="Times New Roman"/>
              </a:rPr>
              <a:t>people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is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essential.)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195"/>
              </a:lnSpc>
            </a:pPr>
            <a:r>
              <a:rPr dirty="0" sz="1000">
                <a:latin typeface="Times New Roman"/>
                <a:cs typeface="Times New Roman"/>
              </a:rPr>
              <a:t>This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teaching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nurtures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inclusive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attitudes,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reducing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social</a:t>
            </a:r>
            <a:endParaRPr sz="1000">
              <a:latin typeface="Times New Roman"/>
              <a:cs typeface="Times New Roman"/>
            </a:endParaRPr>
          </a:p>
          <a:p>
            <a:pPr marL="12700" marR="5080">
              <a:lnSpc>
                <a:spcPts val="1190"/>
              </a:lnSpc>
              <a:spcBef>
                <a:spcPts val="50"/>
              </a:spcBef>
            </a:pPr>
            <a:r>
              <a:rPr dirty="0" sz="1000">
                <a:latin typeface="Times New Roman"/>
                <a:cs typeface="Times New Roman"/>
              </a:rPr>
              <a:t>prejudices</a:t>
            </a:r>
            <a:r>
              <a:rPr dirty="0" sz="1000" spc="2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that</a:t>
            </a:r>
            <a:r>
              <a:rPr dirty="0" sz="1000" spc="229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can</a:t>
            </a:r>
            <a:r>
              <a:rPr dirty="0" sz="1000" spc="2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negatively</a:t>
            </a:r>
            <a:r>
              <a:rPr dirty="0" sz="1000" spc="2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affect</a:t>
            </a:r>
            <a:r>
              <a:rPr dirty="0" sz="1000" spc="2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mental</a:t>
            </a:r>
            <a:r>
              <a:rPr dirty="0" sz="1000" spc="2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well-</a:t>
            </a:r>
            <a:r>
              <a:rPr dirty="0" sz="1000" spc="-20">
                <a:latin typeface="Times New Roman"/>
                <a:cs typeface="Times New Roman"/>
              </a:rPr>
              <a:t>being </a:t>
            </a:r>
            <a:r>
              <a:rPr dirty="0" sz="1000">
                <a:latin typeface="Times New Roman"/>
                <a:cs typeface="Times New Roman"/>
              </a:rPr>
              <a:t>(UNESCO,</a:t>
            </a:r>
            <a:r>
              <a:rPr dirty="0" sz="1000" spc="-5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2015).</a:t>
            </a:r>
            <a:endParaRPr sz="1000">
              <a:latin typeface="Times New Roman"/>
              <a:cs typeface="Times New Roman"/>
            </a:endParaRPr>
          </a:p>
          <a:p>
            <a:pPr algn="just" marL="12700" marR="5715">
              <a:lnSpc>
                <a:spcPts val="1190"/>
              </a:lnSpc>
              <a:spcBef>
                <a:spcPts val="10"/>
              </a:spcBef>
            </a:pPr>
            <a:r>
              <a:rPr dirty="0" sz="1000">
                <a:latin typeface="Times New Roman"/>
                <a:cs typeface="Times New Roman"/>
              </a:rPr>
              <a:t>Basavanna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also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highlights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inner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purity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self-</a:t>
            </a:r>
            <a:r>
              <a:rPr dirty="0" sz="1000" spc="-10">
                <a:latin typeface="Times New Roman"/>
                <a:cs typeface="Times New Roman"/>
              </a:rPr>
              <a:t>discipline </a:t>
            </a:r>
            <a:r>
              <a:rPr dirty="0" sz="1000">
                <a:latin typeface="Times New Roman"/>
                <a:cs typeface="Times New Roman"/>
              </a:rPr>
              <a:t>as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paths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spiritual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mental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clarity</a:t>
            </a:r>
            <a:r>
              <a:rPr dirty="0" sz="1000" spc="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(Hiremath,</a:t>
            </a:r>
            <a:r>
              <a:rPr dirty="0" sz="1000" spc="9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1996).</a:t>
            </a:r>
            <a:endParaRPr sz="1000">
              <a:latin typeface="Times New Roman"/>
              <a:cs typeface="Times New Roman"/>
            </a:endParaRPr>
          </a:p>
          <a:p>
            <a:pPr algn="just" marL="12700" marR="8255">
              <a:lnSpc>
                <a:spcPts val="1190"/>
              </a:lnSpc>
              <a:spcBef>
                <a:spcPts val="5"/>
              </a:spcBef>
            </a:pPr>
            <a:r>
              <a:rPr dirty="0" sz="1000">
                <a:latin typeface="Times New Roman"/>
                <a:cs typeface="Times New Roman"/>
              </a:rPr>
              <a:t>His</a:t>
            </a:r>
            <a:r>
              <a:rPr dirty="0" sz="1000" spc="40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Vachanas</a:t>
            </a:r>
            <a:r>
              <a:rPr dirty="0" sz="1000" spc="4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encourage</a:t>
            </a:r>
            <a:r>
              <a:rPr dirty="0" sz="1000" spc="409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self-</a:t>
            </a:r>
            <a:r>
              <a:rPr dirty="0" sz="1000">
                <a:latin typeface="Times New Roman"/>
                <a:cs typeface="Times New Roman"/>
              </a:rPr>
              <a:t>reflection,</a:t>
            </a:r>
            <a:r>
              <a:rPr dirty="0" sz="1000" spc="40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honesty,</a:t>
            </a:r>
            <a:r>
              <a:rPr dirty="0" sz="1000" spc="409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and </a:t>
            </a:r>
            <a:r>
              <a:rPr dirty="0" sz="1000">
                <a:latin typeface="Times New Roman"/>
                <a:cs typeface="Times New Roman"/>
              </a:rPr>
              <a:t>humility,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helping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students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manage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emotions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develop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Times New Roman"/>
                <a:cs typeface="Times New Roman"/>
              </a:rPr>
              <a:t>a</a:t>
            </a:r>
            <a:r>
              <a:rPr dirty="0" sz="1000">
                <a:latin typeface="Times New Roman"/>
                <a:cs typeface="Times New Roman"/>
              </a:rPr>
              <a:t> balanced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personality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(Narvaez,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2006).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6712" y="1951989"/>
            <a:ext cx="3017520" cy="16929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Times New Roman"/>
                <a:cs typeface="Times New Roman"/>
              </a:rPr>
              <a:t>“Atma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Shuddhi</a:t>
            </a:r>
            <a:r>
              <a:rPr dirty="0" sz="1000" spc="-3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Mattu</a:t>
            </a:r>
            <a:r>
              <a:rPr dirty="0" sz="1000" spc="-3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Pramaada</a:t>
            </a:r>
            <a:r>
              <a:rPr dirty="0" sz="1000" spc="-30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Thagolabeda.”</a:t>
            </a: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195"/>
              </a:lnSpc>
            </a:pPr>
            <a:r>
              <a:rPr dirty="0" sz="1000">
                <a:latin typeface="Times New Roman"/>
                <a:cs typeface="Times New Roman"/>
              </a:rPr>
              <a:t>(Cleanse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self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remove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pride.)</a:t>
            </a:r>
            <a:endParaRPr sz="1000">
              <a:latin typeface="Times New Roman"/>
              <a:cs typeface="Times New Roman"/>
            </a:endParaRPr>
          </a:p>
          <a:p>
            <a:pPr algn="just" marL="12700" marR="6985">
              <a:lnSpc>
                <a:spcPct val="99500"/>
              </a:lnSpc>
            </a:pPr>
            <a:r>
              <a:rPr dirty="0" sz="1000">
                <a:latin typeface="Times New Roman"/>
                <a:cs typeface="Times New Roman"/>
              </a:rPr>
              <a:t>Internalizing</a:t>
            </a:r>
            <a:r>
              <a:rPr dirty="0" sz="1000" spc="1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such</a:t>
            </a:r>
            <a:r>
              <a:rPr dirty="0" sz="1000" spc="1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messages</a:t>
            </a:r>
            <a:r>
              <a:rPr dirty="0" sz="1000" spc="1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guides</a:t>
            </a:r>
            <a:r>
              <a:rPr dirty="0" sz="1000" spc="1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students</a:t>
            </a:r>
            <a:r>
              <a:rPr dirty="0" sz="1000" spc="1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17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cultivate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control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reduce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negative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feelings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like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anger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jealousy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(Singh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&amp;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Misra,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2013).</a:t>
            </a:r>
            <a:endParaRPr sz="1000">
              <a:latin typeface="Times New Roman"/>
              <a:cs typeface="Times New Roman"/>
            </a:endParaRPr>
          </a:p>
          <a:p>
            <a:pPr algn="just" marL="12700" marR="6350">
              <a:lnSpc>
                <a:spcPts val="1200"/>
              </a:lnSpc>
              <a:spcBef>
                <a:spcPts val="30"/>
              </a:spcBef>
            </a:pPr>
            <a:r>
              <a:rPr dirty="0" sz="1000">
                <a:latin typeface="Times New Roman"/>
                <a:cs typeface="Times New Roman"/>
              </a:rPr>
              <a:t>Furthermore,</a:t>
            </a:r>
            <a:r>
              <a:rPr dirty="0" sz="1000" spc="4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4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Vachanas</a:t>
            </a:r>
            <a:r>
              <a:rPr dirty="0" sz="1000" spc="4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promote</a:t>
            </a:r>
            <a:r>
              <a:rPr dirty="0" sz="1000" spc="4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compassion</a:t>
            </a:r>
            <a:r>
              <a:rPr dirty="0" sz="1000" spc="44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and </a:t>
            </a:r>
            <a:r>
              <a:rPr dirty="0" sz="1000" spc="-10">
                <a:latin typeface="Times New Roman"/>
                <a:cs typeface="Times New Roman"/>
              </a:rPr>
              <a:t>service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others,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inspiring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altruism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and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community support</a:t>
            </a: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150"/>
              </a:lnSpc>
            </a:pPr>
            <a:r>
              <a:rPr dirty="0" sz="1000">
                <a:latin typeface="Times New Roman"/>
                <a:cs typeface="Times New Roman"/>
              </a:rPr>
              <a:t>(Hiremath,</a:t>
            </a:r>
            <a:r>
              <a:rPr dirty="0" sz="1000" spc="1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1996).</a:t>
            </a:r>
            <a:r>
              <a:rPr dirty="0" sz="1000" spc="1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Basavanna’s</a:t>
            </a:r>
            <a:r>
              <a:rPr dirty="0" sz="1000" spc="1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call</a:t>
            </a:r>
            <a:r>
              <a:rPr dirty="0" sz="1000" spc="1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for</a:t>
            </a:r>
            <a:r>
              <a:rPr dirty="0" sz="1000" spc="1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sincere</a:t>
            </a:r>
            <a:r>
              <a:rPr dirty="0" sz="1000" spc="1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love</a:t>
            </a:r>
            <a:r>
              <a:rPr dirty="0" sz="1000" spc="14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and</a:t>
            </a:r>
            <a:endParaRPr sz="1000">
              <a:latin typeface="Times New Roman"/>
              <a:cs typeface="Times New Roman"/>
            </a:endParaRPr>
          </a:p>
          <a:p>
            <a:pPr algn="just" marL="12700" marR="5080">
              <a:lnSpc>
                <a:spcPts val="1190"/>
              </a:lnSpc>
              <a:spcBef>
                <a:spcPts val="50"/>
              </a:spcBef>
            </a:pPr>
            <a:r>
              <a:rPr dirty="0" sz="1000">
                <a:latin typeface="Times New Roman"/>
                <a:cs typeface="Times New Roman"/>
              </a:rPr>
              <a:t>care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for fellow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beings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contributes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building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social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bonds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4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14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supportive</a:t>
            </a:r>
            <a:r>
              <a:rPr dirty="0" sz="1000" spc="135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environment—</a:t>
            </a:r>
            <a:r>
              <a:rPr dirty="0" sz="1000">
                <a:latin typeface="Times New Roman"/>
                <a:cs typeface="Times New Roman"/>
              </a:rPr>
              <a:t>important</a:t>
            </a:r>
            <a:r>
              <a:rPr dirty="0" sz="1000" spc="14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factors</a:t>
            </a:r>
            <a:r>
              <a:rPr dirty="0" sz="1000" spc="140">
                <a:latin typeface="Times New Roman"/>
                <a:cs typeface="Times New Roman"/>
              </a:rPr>
              <a:t>  </a:t>
            </a:r>
            <a:r>
              <a:rPr dirty="0" sz="1000" spc="-25">
                <a:latin typeface="Times New Roman"/>
                <a:cs typeface="Times New Roman"/>
              </a:rPr>
              <a:t>in </a:t>
            </a:r>
            <a:r>
              <a:rPr dirty="0" sz="1000">
                <a:latin typeface="Times New Roman"/>
                <a:cs typeface="Times New Roman"/>
              </a:rPr>
              <a:t>psychological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health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(Nair,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2010;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WHO,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2021).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6712" y="3770503"/>
            <a:ext cx="3018790" cy="631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latin typeface="Times New Roman"/>
                <a:cs typeface="Times New Roman"/>
              </a:rPr>
              <a:t>CONCLUSION</a:t>
            </a:r>
            <a:endParaRPr sz="1000">
              <a:latin typeface="Times New Roman"/>
              <a:cs typeface="Times New Roman"/>
            </a:endParaRPr>
          </a:p>
          <a:p>
            <a:pPr algn="just" marL="12700" marR="5080">
              <a:lnSpc>
                <a:spcPts val="1190"/>
              </a:lnSpc>
              <a:spcBef>
                <a:spcPts val="50"/>
              </a:spcBef>
            </a:pPr>
            <a:r>
              <a:rPr dirty="0" sz="1000">
                <a:latin typeface="Times New Roman"/>
                <a:cs typeface="Times New Roman"/>
              </a:rPr>
              <a:t>This</a:t>
            </a:r>
            <a:r>
              <a:rPr dirty="0" sz="1000" spc="1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study</a:t>
            </a:r>
            <a:r>
              <a:rPr dirty="0" sz="1000" spc="1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highlights</a:t>
            </a:r>
            <a:r>
              <a:rPr dirty="0" sz="1000" spc="1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1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significant</a:t>
            </a:r>
            <a:r>
              <a:rPr dirty="0" sz="1000" spc="1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role</a:t>
            </a:r>
            <a:r>
              <a:rPr dirty="0" sz="1000" spc="1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1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value-</a:t>
            </a:r>
            <a:r>
              <a:rPr dirty="0" sz="1000" spc="-10">
                <a:latin typeface="Times New Roman"/>
                <a:cs typeface="Times New Roman"/>
              </a:rPr>
              <a:t>based </a:t>
            </a:r>
            <a:r>
              <a:rPr dirty="0" sz="1000">
                <a:latin typeface="Times New Roman"/>
                <a:cs typeface="Times New Roman"/>
              </a:rPr>
              <a:t>education</a:t>
            </a:r>
            <a:r>
              <a:rPr dirty="0" sz="1000" spc="18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rooted</a:t>
            </a:r>
            <a:r>
              <a:rPr dirty="0" sz="1000" spc="19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18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Indian</a:t>
            </a:r>
            <a:r>
              <a:rPr dirty="0" sz="1000" spc="19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knowledge</a:t>
            </a:r>
            <a:r>
              <a:rPr dirty="0" sz="1000" spc="19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systems</a:t>
            </a:r>
            <a:r>
              <a:rPr dirty="0" sz="1000" spc="190">
                <a:latin typeface="Times New Roman"/>
                <a:cs typeface="Times New Roman"/>
              </a:rPr>
              <a:t>  </a:t>
            </a:r>
            <a:r>
              <a:rPr dirty="0" sz="1000" spc="-25">
                <a:latin typeface="Times New Roman"/>
                <a:cs typeface="Times New Roman"/>
              </a:rPr>
              <a:t>in </a:t>
            </a:r>
            <a:r>
              <a:rPr dirty="0" sz="1000">
                <a:latin typeface="Times New Roman"/>
                <a:cs typeface="Times New Roman"/>
              </a:rPr>
              <a:t>promoting</a:t>
            </a:r>
            <a:r>
              <a:rPr dirty="0" sz="1000" spc="37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students'</a:t>
            </a:r>
            <a:r>
              <a:rPr dirty="0" sz="1000" spc="36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mental</a:t>
            </a:r>
            <a:r>
              <a:rPr dirty="0" sz="1000" spc="37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health</a:t>
            </a:r>
            <a:r>
              <a:rPr dirty="0" sz="1000" spc="37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375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holistic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6712" y="4377054"/>
            <a:ext cx="30149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imes New Roman"/>
                <a:cs typeface="Times New Roman"/>
              </a:rPr>
              <a:t>development.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By</a:t>
            </a:r>
            <a:r>
              <a:rPr dirty="0" sz="1000" spc="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integrating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teachings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from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Basavanna’s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6712" y="4528185"/>
            <a:ext cx="3018790" cy="2148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9940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Vachanas,</a:t>
            </a:r>
            <a:r>
              <a:rPr dirty="0" sz="1000" spc="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Hitopadesha,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Panchatantra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stories,</a:t>
            </a:r>
            <a:r>
              <a:rPr dirty="0" sz="1000" spc="9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the </a:t>
            </a:r>
            <a:r>
              <a:rPr dirty="0" sz="1000" spc="-10">
                <a:latin typeface="Times New Roman"/>
                <a:cs typeface="Times New Roman"/>
              </a:rPr>
              <a:t>intervention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successfully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fostered</a:t>
            </a:r>
            <a:r>
              <a:rPr dirty="0" sz="100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essential personal,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social, </a:t>
            </a:r>
            <a:r>
              <a:rPr dirty="0" sz="1000">
                <a:latin typeface="Times New Roman"/>
                <a:cs typeface="Times New Roman"/>
              </a:rPr>
              <a:t>spiritual,</a:t>
            </a:r>
            <a:r>
              <a:rPr dirty="0" sz="1000" spc="12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13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moral</a:t>
            </a:r>
            <a:r>
              <a:rPr dirty="0" sz="1000" spc="12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values.</a:t>
            </a:r>
            <a:r>
              <a:rPr dirty="0" sz="1000" spc="13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These</a:t>
            </a:r>
            <a:r>
              <a:rPr dirty="0" sz="1000" spc="12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values</a:t>
            </a:r>
            <a:r>
              <a:rPr dirty="0" sz="1000" spc="12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not</a:t>
            </a:r>
            <a:r>
              <a:rPr dirty="0" sz="1000" spc="49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only </a:t>
            </a:r>
            <a:r>
              <a:rPr dirty="0" sz="1000">
                <a:latin typeface="Times New Roman"/>
                <a:cs typeface="Times New Roman"/>
              </a:rPr>
              <a:t>contributed</a:t>
            </a:r>
            <a:r>
              <a:rPr dirty="0" sz="1000" spc="1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20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enhanced</a:t>
            </a:r>
            <a:r>
              <a:rPr dirty="0" sz="1000" spc="20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emotional</a:t>
            </a:r>
            <a:r>
              <a:rPr dirty="0" sz="1000" spc="2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regulation,</a:t>
            </a:r>
            <a:r>
              <a:rPr dirty="0" sz="1000" spc="20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empathy,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problem-</a:t>
            </a:r>
            <a:r>
              <a:rPr dirty="0" sz="1000">
                <a:latin typeface="Times New Roman"/>
                <a:cs typeface="Times New Roman"/>
              </a:rPr>
              <a:t>solving</a:t>
            </a:r>
            <a:r>
              <a:rPr dirty="0" sz="1000" spc="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skills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but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also</a:t>
            </a:r>
            <a:r>
              <a:rPr dirty="0" sz="1000" spc="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strengthened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students’ </a:t>
            </a:r>
            <a:r>
              <a:rPr dirty="0" sz="1000">
                <a:latin typeface="Times New Roman"/>
                <a:cs typeface="Times New Roman"/>
              </a:rPr>
              <a:t>cultural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identity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sense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belonging.</a:t>
            </a:r>
            <a:endParaRPr sz="1000">
              <a:latin typeface="Times New Roman"/>
              <a:cs typeface="Times New Roman"/>
            </a:endParaRPr>
          </a:p>
          <a:p>
            <a:pPr algn="just" marL="12700" marR="6985">
              <a:lnSpc>
                <a:spcPct val="99500"/>
              </a:lnSpc>
              <a:spcBef>
                <a:spcPts val="10"/>
              </a:spcBef>
            </a:pP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findings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affirm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that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value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education,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when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culturally </a:t>
            </a:r>
            <a:r>
              <a:rPr dirty="0" sz="1000">
                <a:latin typeface="Times New Roman"/>
                <a:cs typeface="Times New Roman"/>
              </a:rPr>
              <a:t>contextualized,</a:t>
            </a:r>
            <a:r>
              <a:rPr dirty="0" sz="1000" spc="2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becomes</a:t>
            </a:r>
            <a:r>
              <a:rPr dirty="0" sz="1000" spc="2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2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powerful</a:t>
            </a:r>
            <a:r>
              <a:rPr dirty="0" sz="1000" spc="2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tool</a:t>
            </a:r>
            <a:r>
              <a:rPr dirty="0" sz="1000" spc="2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for</a:t>
            </a:r>
            <a:r>
              <a:rPr dirty="0" sz="1000" spc="29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nurturing </a:t>
            </a:r>
            <a:r>
              <a:rPr dirty="0" sz="1000">
                <a:latin typeface="Times New Roman"/>
                <a:cs typeface="Times New Roman"/>
              </a:rPr>
              <a:t>mental</a:t>
            </a:r>
            <a:r>
              <a:rPr dirty="0" sz="1000" spc="260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well-</a:t>
            </a:r>
            <a:r>
              <a:rPr dirty="0" sz="1000">
                <a:latin typeface="Times New Roman"/>
                <a:cs typeface="Times New Roman"/>
              </a:rPr>
              <a:t>being</a:t>
            </a:r>
            <a:r>
              <a:rPr dirty="0" sz="1000" spc="26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alongside</a:t>
            </a:r>
            <a:r>
              <a:rPr dirty="0" sz="1000" spc="26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academic</a:t>
            </a:r>
            <a:r>
              <a:rPr dirty="0" sz="1000" spc="254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growth.</a:t>
            </a:r>
            <a:r>
              <a:rPr dirty="0" sz="1000" spc="265">
                <a:latin typeface="Times New Roman"/>
                <a:cs typeface="Times New Roman"/>
              </a:rPr>
              <a:t>  </a:t>
            </a:r>
            <a:r>
              <a:rPr dirty="0" sz="1000" spc="-25">
                <a:latin typeface="Times New Roman"/>
                <a:cs typeface="Times New Roman"/>
              </a:rPr>
              <a:t>It </a:t>
            </a:r>
            <a:r>
              <a:rPr dirty="0" sz="1000">
                <a:latin typeface="Times New Roman"/>
                <a:cs typeface="Times New Roman"/>
              </a:rPr>
              <a:t>encourages</a:t>
            </a:r>
            <a:r>
              <a:rPr dirty="0" sz="1000" spc="23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students</a:t>
            </a:r>
            <a:r>
              <a:rPr dirty="0" sz="1000" spc="235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24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develop</a:t>
            </a:r>
            <a:r>
              <a:rPr dirty="0" sz="1000" spc="240">
                <a:latin typeface="Times New Roman"/>
                <a:cs typeface="Times New Roman"/>
              </a:rPr>
              <a:t>  </a:t>
            </a:r>
            <a:r>
              <a:rPr dirty="0" sz="1000">
                <a:latin typeface="Times New Roman"/>
                <a:cs typeface="Times New Roman"/>
              </a:rPr>
              <a:t>resilience,</a:t>
            </a:r>
            <a:r>
              <a:rPr dirty="0" sz="1000" spc="240">
                <a:latin typeface="Times New Roman"/>
                <a:cs typeface="Times New Roman"/>
              </a:rPr>
              <a:t>  </a:t>
            </a:r>
            <a:r>
              <a:rPr dirty="0" sz="1000" spc="-10">
                <a:latin typeface="Times New Roman"/>
                <a:cs typeface="Times New Roman"/>
              </a:rPr>
              <a:t>ethical </a:t>
            </a:r>
            <a:r>
              <a:rPr dirty="0" sz="1000">
                <a:latin typeface="Times New Roman"/>
                <a:cs typeface="Times New Roman"/>
              </a:rPr>
              <a:t>reasoning,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social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harmony,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all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which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are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critical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for </a:t>
            </a:r>
            <a:r>
              <a:rPr dirty="0" sz="1000">
                <a:latin typeface="Times New Roman"/>
                <a:cs typeface="Times New Roman"/>
              </a:rPr>
              <a:t>navigating</a:t>
            </a:r>
            <a:r>
              <a:rPr dirty="0" sz="1000" spc="1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contemporary</a:t>
            </a:r>
            <a:r>
              <a:rPr dirty="0" sz="1000" spc="1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challenges.</a:t>
            </a:r>
            <a:r>
              <a:rPr dirty="0" sz="1000" spc="20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Incorporating</a:t>
            </a:r>
            <a:r>
              <a:rPr dirty="0" sz="1000" spc="19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such </a:t>
            </a:r>
            <a:r>
              <a:rPr dirty="0" sz="1000">
                <a:latin typeface="Times New Roman"/>
                <a:cs typeface="Times New Roman"/>
              </a:rPr>
              <a:t>traditional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wisdom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into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modern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educational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framework </a:t>
            </a:r>
            <a:r>
              <a:rPr dirty="0" sz="1000">
                <a:latin typeface="Times New Roman"/>
                <a:cs typeface="Times New Roman"/>
              </a:rPr>
              <a:t>offers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sustainable</a:t>
            </a:r>
            <a:r>
              <a:rPr dirty="0" sz="1000" spc="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approach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mental</a:t>
            </a:r>
            <a:r>
              <a:rPr dirty="0" sz="1000" spc="9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health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promotion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6712" y="6649973"/>
            <a:ext cx="30156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235" algn="l"/>
                <a:tab pos="918210" algn="l"/>
                <a:tab pos="1460500" algn="l"/>
                <a:tab pos="2023745" algn="l"/>
                <a:tab pos="2459355" algn="l"/>
              </a:tabLst>
            </a:pPr>
            <a:r>
              <a:rPr dirty="0" sz="1000" spc="-20">
                <a:latin typeface="Times New Roman"/>
                <a:cs typeface="Times New Roman"/>
              </a:rPr>
              <a:t>that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respects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cultural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heritage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while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addressing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6712" y="6802373"/>
            <a:ext cx="10833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imes New Roman"/>
                <a:cs typeface="Times New Roman"/>
              </a:rPr>
              <a:t>psychological</a:t>
            </a:r>
            <a:r>
              <a:rPr dirty="0" sz="1000" spc="-5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needs.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6712" y="6953250"/>
            <a:ext cx="3016885" cy="1238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99400"/>
              </a:lnSpc>
              <a:spcBef>
                <a:spcPts val="100"/>
              </a:spcBef>
            </a:pPr>
            <a:r>
              <a:rPr dirty="0" sz="1000" spc="-5">
                <a:latin typeface="Times New Roman"/>
                <a:cs typeface="Times New Roman"/>
              </a:rPr>
              <a:t>Future</a:t>
            </a:r>
            <a:r>
              <a:rPr dirty="0" sz="1000" spc="11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educational</a:t>
            </a:r>
            <a:r>
              <a:rPr dirty="0" sz="1000" spc="10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policies</a:t>
            </a:r>
            <a:r>
              <a:rPr dirty="0" sz="1000" spc="10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and</a:t>
            </a:r>
            <a:r>
              <a:rPr dirty="0" sz="1000" spc="11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curricula</a:t>
            </a:r>
            <a:r>
              <a:rPr dirty="0" sz="1000" spc="10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should</a:t>
            </a:r>
            <a:r>
              <a:rPr dirty="0" sz="1000" spc="11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consider</a:t>
            </a:r>
            <a:r>
              <a:rPr dirty="0" sz="1000" spc="-5">
                <a:latin typeface="Times New Roman"/>
                <a:cs typeface="Times New Roman"/>
              </a:rPr>
              <a:t> adopting</a:t>
            </a:r>
            <a:r>
              <a:rPr dirty="0" sz="1000" spc="26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value-based</a:t>
            </a:r>
            <a:r>
              <a:rPr dirty="0" sz="1000" spc="28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skill</a:t>
            </a:r>
            <a:r>
              <a:rPr dirty="0" sz="1000" spc="27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training</a:t>
            </a:r>
            <a:r>
              <a:rPr dirty="0" sz="1000" spc="28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programs</a:t>
            </a:r>
            <a:r>
              <a:rPr dirty="0" sz="1000" spc="27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that</a:t>
            </a:r>
            <a:r>
              <a:rPr dirty="0" sz="1000" spc="275">
                <a:latin typeface="Times New Roman"/>
                <a:cs typeface="Times New Roman"/>
              </a:rPr>
              <a:t> </a:t>
            </a:r>
            <a:r>
              <a:rPr dirty="0" sz="1000" spc="-15">
                <a:latin typeface="Times New Roman"/>
                <a:cs typeface="Times New Roman"/>
              </a:rPr>
              <a:t>draw</a:t>
            </a:r>
            <a:r>
              <a:rPr dirty="0" sz="1000" spc="-10">
                <a:latin typeface="Times New Roman"/>
                <a:cs typeface="Times New Roman"/>
              </a:rPr>
              <a:t> from</a:t>
            </a:r>
            <a:r>
              <a:rPr dirty="0" sz="1000" spc="-5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indigenous</a:t>
            </a:r>
            <a:r>
              <a:rPr dirty="0" sz="1000" spc="-6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sources</a:t>
            </a:r>
            <a:r>
              <a:rPr dirty="0" sz="1000" spc="-6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to</a:t>
            </a:r>
            <a:r>
              <a:rPr dirty="0" sz="1000" spc="-6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create</a:t>
            </a:r>
            <a:r>
              <a:rPr dirty="0" sz="1000" spc="-6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</a:t>
            </a:r>
            <a:r>
              <a:rPr dirty="0" sz="1000" spc="-6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balanced,</a:t>
            </a:r>
            <a:r>
              <a:rPr dirty="0" sz="1000" spc="-7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inclusive,</a:t>
            </a:r>
            <a:r>
              <a:rPr dirty="0" sz="1000" spc="-5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and</a:t>
            </a:r>
            <a:r>
              <a:rPr dirty="0" sz="1000" spc="-5">
                <a:latin typeface="Times New Roman"/>
                <a:cs typeface="Times New Roman"/>
              </a:rPr>
              <a:t> emotionally</a:t>
            </a:r>
            <a:r>
              <a:rPr dirty="0" sz="1000" spc="21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supportive</a:t>
            </a:r>
            <a:r>
              <a:rPr dirty="0" sz="1000" spc="19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learning</a:t>
            </a:r>
            <a:r>
              <a:rPr dirty="0" sz="1000" spc="21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environment.</a:t>
            </a:r>
            <a:r>
              <a:rPr dirty="0" sz="1000" spc="204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Continued </a:t>
            </a:r>
            <a:r>
              <a:rPr dirty="0" sz="1000" spc="-10">
                <a:latin typeface="Times New Roman"/>
                <a:cs typeface="Times New Roman"/>
              </a:rPr>
              <a:t>research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and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wider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implementation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can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further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validate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and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expand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the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benefits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of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this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culturally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integrated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approach,</a:t>
            </a:r>
            <a:r>
              <a:rPr dirty="0" sz="1000" spc="-5">
                <a:latin typeface="Times New Roman"/>
                <a:cs typeface="Times New Roman"/>
              </a:rPr>
              <a:t> ultimately</a:t>
            </a:r>
            <a:r>
              <a:rPr dirty="0" sz="1000" spc="11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contributing</a:t>
            </a:r>
            <a:r>
              <a:rPr dirty="0" sz="1000" spc="10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to</a:t>
            </a:r>
            <a:r>
              <a:rPr dirty="0" sz="1000" spc="10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healthier</a:t>
            </a:r>
            <a:r>
              <a:rPr dirty="0" sz="1000" spc="11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and</a:t>
            </a:r>
            <a:r>
              <a:rPr dirty="0" sz="1000" spc="10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more</a:t>
            </a:r>
            <a:r>
              <a:rPr dirty="0" sz="1000" spc="95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harmonious</a:t>
            </a:r>
            <a:r>
              <a:rPr dirty="0" sz="100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societies.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9008" y="8471407"/>
            <a:ext cx="2893695" cy="9385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221F1F"/>
                </a:solidFill>
                <a:latin typeface="Times New Roman"/>
                <a:cs typeface="Times New Roman"/>
              </a:rPr>
              <a:t>REFERENCES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265430" marR="5080" indent="-119380">
              <a:lnSpc>
                <a:spcPct val="107200"/>
              </a:lnSpc>
              <a:spcBef>
                <a:spcPts val="5"/>
              </a:spcBef>
              <a:buSzPct val="77777"/>
              <a:buAutoNum type="arabicPeriod"/>
              <a:tabLst>
                <a:tab pos="265430" algn="l"/>
                <a:tab pos="295910" algn="l"/>
              </a:tabLst>
            </a:pP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	Basavanna.</a:t>
            </a:r>
            <a:r>
              <a:rPr dirty="0" sz="900" spc="275">
                <a:solidFill>
                  <a:srgbClr val="221F1F"/>
                </a:solidFill>
                <a:latin typeface="Times New Roman"/>
                <a:cs typeface="Times New Roman"/>
              </a:rPr>
              <a:t> 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(2010).</a:t>
            </a:r>
            <a:r>
              <a:rPr dirty="0" sz="900" spc="280">
                <a:solidFill>
                  <a:srgbClr val="221F1F"/>
                </a:solidFill>
                <a:latin typeface="Times New Roman"/>
                <a:cs typeface="Times New Roman"/>
              </a:rPr>
              <a:t> 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Selected</a:t>
            </a:r>
            <a:r>
              <a:rPr dirty="0" sz="900" spc="285">
                <a:solidFill>
                  <a:srgbClr val="221F1F"/>
                </a:solidFill>
                <a:latin typeface="Times New Roman"/>
                <a:cs typeface="Times New Roman"/>
              </a:rPr>
              <a:t> 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Vachanas</a:t>
            </a:r>
            <a:r>
              <a:rPr dirty="0" sz="900" spc="275">
                <a:solidFill>
                  <a:srgbClr val="221F1F"/>
                </a:solidFill>
                <a:latin typeface="Times New Roman"/>
                <a:cs typeface="Times New Roman"/>
              </a:rPr>
              <a:t>   </a:t>
            </a:r>
            <a:r>
              <a:rPr dirty="0" sz="900" spc="-25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 Basavanna</a:t>
            </a:r>
            <a:r>
              <a:rPr dirty="0" sz="900" spc="31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(S.</a:t>
            </a:r>
            <a:r>
              <a:rPr dirty="0" sz="900" spc="32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Ramaswamy,</a:t>
            </a:r>
            <a:r>
              <a:rPr dirty="0" sz="900" spc="31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Trans.).</a:t>
            </a:r>
            <a:r>
              <a:rPr dirty="0" sz="900" spc="32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Kannada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University</a:t>
            </a:r>
            <a:r>
              <a:rPr dirty="0" sz="900" spc="2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Press.</a:t>
            </a:r>
            <a:endParaRPr sz="900">
              <a:latin typeface="Times New Roman"/>
              <a:cs typeface="Times New Roman"/>
            </a:endParaRPr>
          </a:p>
          <a:p>
            <a:pPr algn="just" marL="264795" indent="-118110">
              <a:lnSpc>
                <a:spcPct val="100000"/>
              </a:lnSpc>
              <a:spcBef>
                <a:spcPts val="240"/>
              </a:spcBef>
              <a:buSzPct val="77777"/>
              <a:buAutoNum type="arabicPeriod"/>
              <a:tabLst>
                <a:tab pos="264795" algn="l"/>
              </a:tabLst>
            </a:pP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Banerjee,</a:t>
            </a:r>
            <a:r>
              <a:rPr dirty="0" sz="900" spc="4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R.</a:t>
            </a:r>
            <a:r>
              <a:rPr dirty="0" sz="900" spc="4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(2019).</a:t>
            </a:r>
            <a:r>
              <a:rPr dirty="0" sz="900" spc="4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Role</a:t>
            </a:r>
            <a:r>
              <a:rPr dirty="0" sz="900" spc="43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900" spc="43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cultural</a:t>
            </a:r>
            <a:r>
              <a:rPr dirty="0" sz="900" spc="4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heritage</a:t>
            </a:r>
            <a:r>
              <a:rPr dirty="0" sz="900" spc="43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21F1F"/>
                </a:solidFill>
                <a:latin typeface="Times New Roman"/>
                <a:cs typeface="Times New Roman"/>
              </a:rPr>
              <a:t>in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38396" y="427736"/>
            <a:ext cx="2834640" cy="3868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31445" marR="6985">
              <a:lnSpc>
                <a:spcPct val="106700"/>
              </a:lnSpc>
              <a:spcBef>
                <a:spcPts val="100"/>
              </a:spcBef>
            </a:pP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mental</a:t>
            </a:r>
            <a:r>
              <a:rPr dirty="0" sz="900" spc="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health:</a:t>
            </a:r>
            <a:r>
              <a:rPr dirty="0" sz="900" spc="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Lessons</a:t>
            </a:r>
            <a:r>
              <a:rPr dirty="0" sz="900" spc="7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from</a:t>
            </a:r>
            <a:r>
              <a:rPr dirty="0" sz="900" spc="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Indian</a:t>
            </a:r>
            <a:r>
              <a:rPr dirty="0" sz="900" spc="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traditions.</a:t>
            </a:r>
            <a:r>
              <a:rPr dirty="0" sz="900" spc="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Journal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900" spc="1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Cultural</a:t>
            </a:r>
            <a:r>
              <a:rPr dirty="0" sz="900" spc="1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Psychology,</a:t>
            </a:r>
            <a:r>
              <a:rPr dirty="0" sz="900" spc="1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7(2),</a:t>
            </a:r>
            <a:r>
              <a:rPr dirty="0" sz="900" spc="1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101–</a:t>
            </a:r>
            <a:r>
              <a:rPr dirty="0" sz="900" spc="-20">
                <a:solidFill>
                  <a:srgbClr val="221F1F"/>
                </a:solidFill>
                <a:latin typeface="Times New Roman"/>
                <a:cs typeface="Times New Roman"/>
              </a:rPr>
              <a:t>113.</a:t>
            </a:r>
            <a:endParaRPr sz="900">
              <a:latin typeface="Times New Roman"/>
              <a:cs typeface="Times New Roman"/>
            </a:endParaRPr>
          </a:p>
          <a:p>
            <a:pPr algn="just" marL="130175" marR="7620" indent="-118110">
              <a:lnSpc>
                <a:spcPct val="106700"/>
              </a:lnSpc>
              <a:spcBef>
                <a:spcPts val="180"/>
              </a:spcBef>
              <a:buSzPct val="77777"/>
              <a:buAutoNum type="arabicPeriod" startAt="3"/>
              <a:tabLst>
                <a:tab pos="131445" algn="l"/>
              </a:tabLst>
            </a:pP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Chakraborty,</a:t>
            </a:r>
            <a:r>
              <a:rPr dirty="0" sz="900" spc="2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S.</a:t>
            </a:r>
            <a:r>
              <a:rPr dirty="0" sz="900" spc="2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(2018).</a:t>
            </a:r>
            <a:r>
              <a:rPr dirty="0" sz="900" spc="2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Values</a:t>
            </a:r>
            <a:r>
              <a:rPr dirty="0" sz="900" spc="2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900" spc="27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ethics</a:t>
            </a:r>
            <a:r>
              <a:rPr dirty="0" sz="900" spc="2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in</a:t>
            </a:r>
            <a:r>
              <a:rPr dirty="0" sz="900" spc="2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Indian 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education:</a:t>
            </a:r>
            <a:r>
              <a:rPr dirty="0" sz="900" spc="3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221F1F"/>
                </a:solidFill>
                <a:latin typeface="Times New Roman"/>
                <a:cs typeface="Times New Roman"/>
              </a:rPr>
              <a:t>A</a:t>
            </a:r>
            <a:r>
              <a:rPr dirty="0" sz="900" spc="3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philosophical</a:t>
            </a:r>
            <a:r>
              <a:rPr dirty="0" sz="900" spc="3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approach.</a:t>
            </a:r>
            <a:r>
              <a:rPr dirty="0" sz="900" spc="3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Philosophy</a:t>
            </a:r>
            <a:r>
              <a:rPr dirty="0" sz="900" spc="3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 	Education</a:t>
            </a:r>
            <a:r>
              <a:rPr dirty="0" sz="900" spc="2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Journal,</a:t>
            </a:r>
            <a:r>
              <a:rPr dirty="0" sz="900" spc="2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52(4),</a:t>
            </a:r>
            <a:r>
              <a:rPr dirty="0" sz="900" spc="2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202–</a:t>
            </a:r>
            <a:r>
              <a:rPr dirty="0" sz="900" spc="-20">
                <a:solidFill>
                  <a:srgbClr val="221F1F"/>
                </a:solidFill>
                <a:latin typeface="Times New Roman"/>
                <a:cs typeface="Times New Roman"/>
              </a:rPr>
              <a:t>215.</a:t>
            </a:r>
            <a:endParaRPr sz="900">
              <a:latin typeface="Times New Roman"/>
              <a:cs typeface="Times New Roman"/>
            </a:endParaRPr>
          </a:p>
          <a:p>
            <a:pPr algn="just" marL="130175" marR="6985" indent="-118110">
              <a:lnSpc>
                <a:spcPct val="106700"/>
              </a:lnSpc>
              <a:spcBef>
                <a:spcPts val="180"/>
              </a:spcBef>
              <a:buSzPct val="77777"/>
              <a:buAutoNum type="arabicPeriod" startAt="3"/>
              <a:tabLst>
                <a:tab pos="131445" algn="l"/>
              </a:tabLst>
            </a:pP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Desai,</a:t>
            </a:r>
            <a:r>
              <a:rPr dirty="0" sz="900" spc="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V.,</a:t>
            </a:r>
            <a:r>
              <a:rPr dirty="0" sz="900" spc="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221F1F"/>
                </a:solidFill>
                <a:latin typeface="Times New Roman"/>
                <a:cs typeface="Times New Roman"/>
              </a:rPr>
              <a:t>&amp;</a:t>
            </a:r>
            <a:r>
              <a:rPr dirty="0" sz="900" spc="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Patel,</a:t>
            </a:r>
            <a:r>
              <a:rPr dirty="0" sz="900" spc="7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221F1F"/>
                </a:solidFill>
                <a:latin typeface="Times New Roman"/>
                <a:cs typeface="Times New Roman"/>
              </a:rPr>
              <a:t>M.</a:t>
            </a:r>
            <a:r>
              <a:rPr dirty="0" sz="900" spc="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(2020).</a:t>
            </a:r>
            <a:r>
              <a:rPr dirty="0" sz="900" spc="7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Emotional</a:t>
            </a:r>
            <a:r>
              <a:rPr dirty="0" sz="900" spc="8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intelligence 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900" spc="4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value-based</a:t>
            </a:r>
            <a:r>
              <a:rPr dirty="0" sz="900" spc="14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education.</a:t>
            </a:r>
            <a:r>
              <a:rPr dirty="0" sz="900" spc="4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International</a:t>
            </a:r>
            <a:r>
              <a:rPr dirty="0" sz="900" spc="14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Journal</a:t>
            </a:r>
            <a:r>
              <a:rPr dirty="0" sz="900" spc="4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 	Emotional</a:t>
            </a:r>
            <a:r>
              <a:rPr dirty="0" sz="900" spc="18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Education,</a:t>
            </a:r>
            <a:r>
              <a:rPr dirty="0" sz="900" spc="17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12(1),</a:t>
            </a:r>
            <a:r>
              <a:rPr dirty="0" sz="900" spc="17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56–</a:t>
            </a:r>
            <a:r>
              <a:rPr dirty="0" sz="900" spc="-25">
                <a:solidFill>
                  <a:srgbClr val="221F1F"/>
                </a:solidFill>
                <a:latin typeface="Times New Roman"/>
                <a:cs typeface="Times New Roman"/>
              </a:rPr>
              <a:t>68.</a:t>
            </a:r>
            <a:endParaRPr sz="900">
              <a:latin typeface="Times New Roman"/>
              <a:cs typeface="Times New Roman"/>
            </a:endParaRPr>
          </a:p>
          <a:p>
            <a:pPr algn="just" marL="130175" marR="6350" indent="-118110">
              <a:lnSpc>
                <a:spcPct val="107200"/>
              </a:lnSpc>
              <a:spcBef>
                <a:spcPts val="175"/>
              </a:spcBef>
              <a:buSzPct val="77777"/>
              <a:buAutoNum type="arabicPeriod" startAt="3"/>
              <a:tabLst>
                <a:tab pos="131445" algn="l"/>
              </a:tabLst>
            </a:pP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Gupta,</a:t>
            </a:r>
            <a:r>
              <a:rPr dirty="0" sz="900" spc="4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A.,</a:t>
            </a:r>
            <a:r>
              <a:rPr dirty="0" sz="900" spc="4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221F1F"/>
                </a:solidFill>
                <a:latin typeface="Times New Roman"/>
                <a:cs typeface="Times New Roman"/>
              </a:rPr>
              <a:t>&amp;</a:t>
            </a:r>
            <a:r>
              <a:rPr dirty="0" sz="900" spc="4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Kumar,</a:t>
            </a:r>
            <a:r>
              <a:rPr dirty="0" sz="900" spc="4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S.</a:t>
            </a:r>
            <a:r>
              <a:rPr dirty="0" sz="900" spc="4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(2016).</a:t>
            </a:r>
            <a:r>
              <a:rPr dirty="0" sz="900" spc="41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Integrating</a:t>
            </a:r>
            <a:r>
              <a:rPr dirty="0" sz="900" spc="41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221F1F"/>
                </a:solidFill>
                <a:latin typeface="Times New Roman"/>
                <a:cs typeface="Times New Roman"/>
              </a:rPr>
              <a:t>value </a:t>
            </a:r>
            <a:r>
              <a:rPr dirty="0" sz="900" spc="-2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education</a:t>
            </a:r>
            <a:r>
              <a:rPr dirty="0" sz="900" spc="2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in</a:t>
            </a:r>
            <a:r>
              <a:rPr dirty="0" sz="900" spc="2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dirty="0" sz="900" spc="2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curriculum:</a:t>
            </a:r>
            <a:r>
              <a:rPr dirty="0" sz="900" spc="2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An</a:t>
            </a:r>
            <a:r>
              <a:rPr dirty="0" sz="900" spc="2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Indian</a:t>
            </a:r>
            <a:r>
              <a:rPr dirty="0" sz="900" spc="2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perspective. 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Educational</a:t>
            </a:r>
            <a:r>
              <a:rPr dirty="0" sz="900" spc="1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Research</a:t>
            </a:r>
            <a:r>
              <a:rPr dirty="0" sz="900" spc="1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Review,</a:t>
            </a:r>
            <a:r>
              <a:rPr dirty="0" sz="900" spc="1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11(3),</a:t>
            </a:r>
            <a:r>
              <a:rPr dirty="0" sz="900" spc="1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15–</a:t>
            </a:r>
            <a:r>
              <a:rPr dirty="0" sz="900" spc="-25">
                <a:solidFill>
                  <a:srgbClr val="221F1F"/>
                </a:solidFill>
                <a:latin typeface="Times New Roman"/>
                <a:cs typeface="Times New Roman"/>
              </a:rPr>
              <a:t>24.</a:t>
            </a:r>
            <a:endParaRPr sz="900">
              <a:latin typeface="Times New Roman"/>
              <a:cs typeface="Times New Roman"/>
            </a:endParaRPr>
          </a:p>
          <a:p>
            <a:pPr algn="just" marL="130175" marR="8255" indent="-118110">
              <a:lnSpc>
                <a:spcPct val="106700"/>
              </a:lnSpc>
              <a:spcBef>
                <a:spcPts val="165"/>
              </a:spcBef>
              <a:buSzPct val="77777"/>
              <a:buAutoNum type="arabicPeriod" startAt="3"/>
              <a:tabLst>
                <a:tab pos="131445" algn="l"/>
              </a:tabLst>
            </a:pPr>
            <a:r>
              <a:rPr dirty="0" sz="900" spc="30">
                <a:solidFill>
                  <a:srgbClr val="221F1F"/>
                </a:solidFill>
                <a:latin typeface="Times New Roman"/>
                <a:cs typeface="Times New Roman"/>
              </a:rPr>
              <a:t>Hitopadesha.</a:t>
            </a:r>
            <a:r>
              <a:rPr dirty="0" sz="900" spc="-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30">
                <a:solidFill>
                  <a:srgbClr val="221F1F"/>
                </a:solidFill>
                <a:latin typeface="Times New Roman"/>
                <a:cs typeface="Times New Roman"/>
              </a:rPr>
              <a:t>(2012).</a:t>
            </a:r>
            <a:r>
              <a:rPr dirty="0" sz="900" spc="1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30">
                <a:solidFill>
                  <a:srgbClr val="221F1F"/>
                </a:solidFill>
                <a:latin typeface="Times New Roman"/>
                <a:cs typeface="Times New Roman"/>
              </a:rPr>
              <a:t>Hitopadesha: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3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dirty="0" sz="900" spc="-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30">
                <a:solidFill>
                  <a:srgbClr val="221F1F"/>
                </a:solidFill>
                <a:latin typeface="Times New Roman"/>
                <a:cs typeface="Times New Roman"/>
              </a:rPr>
              <a:t>ancient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Indian 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fables</a:t>
            </a:r>
            <a:r>
              <a:rPr dirty="0" sz="900" spc="1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(R.</a:t>
            </a:r>
            <a:r>
              <a:rPr dirty="0" sz="900" spc="1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Mukherjee,</a:t>
            </a:r>
            <a:r>
              <a:rPr dirty="0" sz="900" spc="1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Trans.).</a:t>
            </a:r>
            <a:r>
              <a:rPr dirty="0" sz="900" spc="17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Heritage</a:t>
            </a:r>
            <a:r>
              <a:rPr dirty="0" sz="900" spc="1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Publishers.</a:t>
            </a:r>
            <a:endParaRPr sz="900">
              <a:latin typeface="Times New Roman"/>
              <a:cs typeface="Times New Roman"/>
            </a:endParaRPr>
          </a:p>
          <a:p>
            <a:pPr algn="just" marL="130175" marR="6985" indent="-118110">
              <a:lnSpc>
                <a:spcPct val="106800"/>
              </a:lnSpc>
              <a:spcBef>
                <a:spcPts val="180"/>
              </a:spcBef>
              <a:buSzPct val="77777"/>
              <a:buAutoNum type="arabicPeriod" startAt="3"/>
              <a:tabLst>
                <a:tab pos="131445" algn="l"/>
              </a:tabLst>
            </a:pP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Iyer,</a:t>
            </a:r>
            <a:r>
              <a:rPr dirty="0" sz="900" spc="15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S.</a:t>
            </a:r>
            <a:r>
              <a:rPr dirty="0" sz="900" spc="15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(2016).</a:t>
            </a:r>
            <a:r>
              <a:rPr dirty="0" sz="900" spc="15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dirty="0" sz="900" spc="14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relevance</a:t>
            </a:r>
            <a:r>
              <a:rPr dirty="0" sz="900" spc="14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900" spc="15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ancient</a:t>
            </a:r>
            <a:r>
              <a:rPr dirty="0" sz="900" spc="15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Indian 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scriptures</a:t>
            </a:r>
            <a:r>
              <a:rPr dirty="0" sz="900" spc="484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in</a:t>
            </a:r>
            <a:r>
              <a:rPr dirty="0" sz="900" spc="48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modern</a:t>
            </a:r>
            <a:r>
              <a:rPr dirty="0" sz="900" spc="484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education.</a:t>
            </a:r>
            <a:r>
              <a:rPr dirty="0" sz="900" spc="48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Educational 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Philosophy</a:t>
            </a:r>
            <a:r>
              <a:rPr dirty="0" sz="900" spc="1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900" spc="1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Theory,</a:t>
            </a:r>
            <a:r>
              <a:rPr dirty="0" sz="900" spc="1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48(5),</a:t>
            </a:r>
            <a:r>
              <a:rPr dirty="0" sz="900" spc="1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505–</a:t>
            </a:r>
            <a:r>
              <a:rPr dirty="0" sz="900" spc="-20">
                <a:solidFill>
                  <a:srgbClr val="221F1F"/>
                </a:solidFill>
                <a:latin typeface="Times New Roman"/>
                <a:cs typeface="Times New Roman"/>
              </a:rPr>
              <a:t>517.</a:t>
            </a:r>
            <a:endParaRPr sz="900">
              <a:latin typeface="Times New Roman"/>
              <a:cs typeface="Times New Roman"/>
            </a:endParaRPr>
          </a:p>
          <a:p>
            <a:pPr algn="just" marL="130175" marR="5715" indent="-118110">
              <a:lnSpc>
                <a:spcPct val="106700"/>
              </a:lnSpc>
              <a:spcBef>
                <a:spcPts val="180"/>
              </a:spcBef>
              <a:buSzPct val="77777"/>
              <a:buAutoNum type="arabicPeriod" startAt="3"/>
              <a:tabLst>
                <a:tab pos="131445" algn="l"/>
              </a:tabLst>
            </a:pP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Joshi,</a:t>
            </a:r>
            <a:r>
              <a:rPr dirty="0" sz="900" spc="2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R.,</a:t>
            </a:r>
            <a:r>
              <a:rPr dirty="0" sz="900" spc="2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221F1F"/>
                </a:solidFill>
                <a:latin typeface="Times New Roman"/>
                <a:cs typeface="Times New Roman"/>
              </a:rPr>
              <a:t>&amp;</a:t>
            </a:r>
            <a:r>
              <a:rPr dirty="0" sz="900" spc="2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Mehta,</a:t>
            </a:r>
            <a:r>
              <a:rPr dirty="0" sz="900" spc="2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K.</a:t>
            </a:r>
            <a:r>
              <a:rPr dirty="0" sz="900" spc="2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(2021).</a:t>
            </a:r>
            <a:r>
              <a:rPr dirty="0" sz="900" spc="2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Effect</a:t>
            </a:r>
            <a:r>
              <a:rPr dirty="0" sz="900" spc="2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900" spc="2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story-</a:t>
            </a:r>
            <a:r>
              <a:rPr dirty="0" sz="900" spc="-20">
                <a:solidFill>
                  <a:srgbClr val="221F1F"/>
                </a:solidFill>
                <a:latin typeface="Times New Roman"/>
                <a:cs typeface="Times New Roman"/>
              </a:rPr>
              <a:t>based </a:t>
            </a:r>
            <a:r>
              <a:rPr dirty="0" sz="900" spc="-2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value</a:t>
            </a:r>
            <a:r>
              <a:rPr dirty="0" sz="900" spc="21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education</a:t>
            </a:r>
            <a:r>
              <a:rPr dirty="0" sz="900" spc="21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on</a:t>
            </a:r>
            <a:r>
              <a:rPr dirty="0" sz="900" spc="22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student</a:t>
            </a:r>
            <a:r>
              <a:rPr dirty="0" sz="900" spc="204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empathy.</a:t>
            </a:r>
            <a:r>
              <a:rPr dirty="0" sz="900" spc="22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Journal</a:t>
            </a:r>
            <a:r>
              <a:rPr dirty="0" sz="900" spc="21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 spc="-25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 	School</a:t>
            </a:r>
            <a:r>
              <a:rPr dirty="0" sz="900" spc="1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Psychology,</a:t>
            </a:r>
            <a:r>
              <a:rPr dirty="0" sz="900" spc="1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59(1),</a:t>
            </a:r>
            <a:r>
              <a:rPr dirty="0" sz="900" spc="1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35–</a:t>
            </a:r>
            <a:r>
              <a:rPr dirty="0" sz="900" spc="-25">
                <a:solidFill>
                  <a:srgbClr val="221F1F"/>
                </a:solidFill>
                <a:latin typeface="Times New Roman"/>
                <a:cs typeface="Times New Roman"/>
              </a:rPr>
              <a:t>45.</a:t>
            </a:r>
            <a:endParaRPr sz="900">
              <a:latin typeface="Times New Roman"/>
              <a:cs typeface="Times New Roman"/>
            </a:endParaRPr>
          </a:p>
          <a:p>
            <a:pPr algn="just" marL="130175" marR="5080" indent="-118110">
              <a:lnSpc>
                <a:spcPct val="107200"/>
              </a:lnSpc>
              <a:spcBef>
                <a:spcPts val="175"/>
              </a:spcBef>
              <a:buSzPct val="77777"/>
              <a:buAutoNum type="arabicPeriod" startAt="3"/>
              <a:tabLst>
                <a:tab pos="131445" algn="l"/>
              </a:tabLst>
            </a:pP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Kumar,</a:t>
            </a:r>
            <a:r>
              <a:rPr dirty="0" sz="900" spc="1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N.</a:t>
            </a:r>
            <a:r>
              <a:rPr dirty="0" sz="900" spc="1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(2018).</a:t>
            </a:r>
            <a:r>
              <a:rPr dirty="0" sz="900" spc="11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Mindfulness</a:t>
            </a:r>
            <a:r>
              <a:rPr dirty="0" sz="900" spc="1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900" spc="1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self-regulation</a:t>
            </a:r>
            <a:r>
              <a:rPr dirty="0" sz="900" spc="1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21F1F"/>
                </a:solidFill>
                <a:latin typeface="Times New Roman"/>
                <a:cs typeface="Times New Roman"/>
              </a:rPr>
              <a:t>in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 	Indian</a:t>
            </a:r>
            <a:r>
              <a:rPr dirty="0" sz="900" spc="17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philosophical</a:t>
            </a:r>
            <a:r>
              <a:rPr dirty="0" sz="900" spc="18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traditions.</a:t>
            </a:r>
            <a:r>
              <a:rPr dirty="0" sz="900" spc="18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Journal</a:t>
            </a:r>
            <a:r>
              <a:rPr dirty="0" sz="900" spc="18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900" spc="18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Mental 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Health</a:t>
            </a:r>
            <a:r>
              <a:rPr dirty="0" sz="900" spc="1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900" spc="11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Spirituality,</a:t>
            </a:r>
            <a:r>
              <a:rPr dirty="0" sz="900" spc="1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14(3),</a:t>
            </a:r>
            <a:r>
              <a:rPr dirty="0" sz="900" spc="10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221F1F"/>
                </a:solidFill>
                <a:latin typeface="Times New Roman"/>
                <a:cs typeface="Times New Roman"/>
              </a:rPr>
              <a:t>77–</a:t>
            </a:r>
            <a:r>
              <a:rPr dirty="0" sz="900" spc="-25">
                <a:solidFill>
                  <a:srgbClr val="221F1F"/>
                </a:solidFill>
                <a:latin typeface="Times New Roman"/>
                <a:cs typeface="Times New Roman"/>
              </a:rPr>
              <a:t>90.</a:t>
            </a:r>
            <a:endParaRPr sz="900">
              <a:latin typeface="Times New Roman"/>
              <a:cs typeface="Times New Roman"/>
            </a:endParaRPr>
          </a:p>
          <a:p>
            <a:pPr algn="just" marL="131445" marR="6350" indent="-119380">
              <a:lnSpc>
                <a:spcPct val="107200"/>
              </a:lnSpc>
              <a:spcBef>
                <a:spcPts val="160"/>
              </a:spcBef>
              <a:buSzPct val="77777"/>
              <a:buAutoNum type="arabicPeriod" startAt="3"/>
              <a:tabLst>
                <a:tab pos="131445" algn="l"/>
                <a:tab pos="252095" algn="l"/>
              </a:tabLst>
            </a:pP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Kumaran,</a:t>
            </a:r>
            <a:r>
              <a:rPr dirty="0" sz="900" spc="1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R.,</a:t>
            </a:r>
            <a:r>
              <a:rPr dirty="0" sz="900" spc="13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221F1F"/>
                </a:solidFill>
                <a:latin typeface="Times New Roman"/>
                <a:cs typeface="Times New Roman"/>
              </a:rPr>
              <a:t>&amp;</a:t>
            </a:r>
            <a:r>
              <a:rPr dirty="0" sz="900" spc="1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Singh,</a:t>
            </a:r>
            <a:r>
              <a:rPr dirty="0" sz="900" spc="13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A.</a:t>
            </a:r>
            <a:r>
              <a:rPr dirty="0" sz="900" spc="1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(2019).</a:t>
            </a:r>
            <a:r>
              <a:rPr dirty="0" sz="900" spc="13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Value</a:t>
            </a:r>
            <a:r>
              <a:rPr dirty="0" sz="900" spc="13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education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900" spc="15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mental</a:t>
            </a:r>
            <a:r>
              <a:rPr dirty="0" sz="900" spc="15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health:</a:t>
            </a:r>
            <a:r>
              <a:rPr dirty="0" sz="900" spc="14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Integrating</a:t>
            </a:r>
            <a:r>
              <a:rPr dirty="0" sz="900" spc="15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cultural</a:t>
            </a:r>
            <a:r>
              <a:rPr dirty="0" sz="900" spc="15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wisdom</a:t>
            </a:r>
            <a:r>
              <a:rPr dirty="0" sz="900" spc="14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 spc="-25">
                <a:solidFill>
                  <a:srgbClr val="221F1F"/>
                </a:solidFill>
                <a:latin typeface="Times New Roman"/>
                <a:cs typeface="Times New Roman"/>
              </a:rPr>
              <a:t>in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 Indian</a:t>
            </a:r>
            <a:r>
              <a:rPr dirty="0" sz="900" spc="3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schools.</a:t>
            </a:r>
            <a:r>
              <a:rPr dirty="0" sz="900" spc="31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International</a:t>
            </a:r>
            <a:r>
              <a:rPr dirty="0" sz="900" spc="3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Journal</a:t>
            </a:r>
            <a:r>
              <a:rPr dirty="0" sz="900" spc="3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900" spc="31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Educational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38396" y="4270375"/>
            <a:ext cx="2835910" cy="1705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31445" marR="5080">
              <a:lnSpc>
                <a:spcPct val="106700"/>
              </a:lnSpc>
              <a:spcBef>
                <a:spcPts val="100"/>
              </a:spcBef>
              <a:tabLst>
                <a:tab pos="1470660" algn="l"/>
                <a:tab pos="2474595" algn="l"/>
              </a:tabLst>
            </a:pP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Research,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900" spc="-25">
                <a:solidFill>
                  <a:srgbClr val="221F1F"/>
                </a:solidFill>
                <a:latin typeface="Times New Roman"/>
                <a:cs typeface="Times New Roman"/>
              </a:rPr>
              <a:t>98,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	45–</a:t>
            </a:r>
            <a:r>
              <a:rPr dirty="0" sz="900" spc="-25">
                <a:solidFill>
                  <a:srgbClr val="221F1F"/>
                </a:solidFill>
                <a:latin typeface="Times New Roman"/>
                <a:cs typeface="Times New Roman"/>
              </a:rPr>
              <a:t>56.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  <a:hlinkClick r:id="rId2"/>
              </a:rPr>
              <a:t>https://doi.org/10.1016/j.ijer.2019.04.007</a:t>
            </a:r>
            <a:endParaRPr sz="900">
              <a:latin typeface="Times New Roman"/>
              <a:cs typeface="Times New Roman"/>
            </a:endParaRPr>
          </a:p>
          <a:p>
            <a:pPr algn="just" marL="131445" marR="8255" indent="-119380">
              <a:lnSpc>
                <a:spcPct val="106700"/>
              </a:lnSpc>
              <a:spcBef>
                <a:spcPts val="180"/>
              </a:spcBef>
              <a:buSzPct val="77777"/>
              <a:buAutoNum type="arabicPeriod" startAt="11"/>
              <a:tabLst>
                <a:tab pos="131445" algn="l"/>
                <a:tab pos="252095" algn="l"/>
              </a:tabLst>
            </a:pP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Mishra,</a:t>
            </a:r>
            <a:r>
              <a:rPr dirty="0" sz="900" spc="2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L.</a:t>
            </a:r>
            <a:r>
              <a:rPr dirty="0" sz="900" spc="25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(2017).</a:t>
            </a:r>
            <a:r>
              <a:rPr dirty="0" sz="900" spc="2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Traditional</a:t>
            </a:r>
            <a:r>
              <a:rPr dirty="0" sz="900" spc="27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stories</a:t>
            </a:r>
            <a:r>
              <a:rPr dirty="0" sz="900" spc="28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as</a:t>
            </a:r>
            <a:r>
              <a:rPr dirty="0" sz="900" spc="2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tools</a:t>
            </a:r>
            <a:r>
              <a:rPr dirty="0" sz="900" spc="2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21F1F"/>
                </a:solidFill>
                <a:latin typeface="Times New Roman"/>
                <a:cs typeface="Times New Roman"/>
              </a:rPr>
              <a:t>for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 social</a:t>
            </a:r>
            <a:r>
              <a:rPr dirty="0" sz="900" spc="19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900" spc="20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emotional</a:t>
            </a:r>
            <a:r>
              <a:rPr dirty="0" sz="900" spc="19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learning.</a:t>
            </a:r>
            <a:r>
              <a:rPr dirty="0" sz="900" spc="19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Journal</a:t>
            </a:r>
            <a:r>
              <a:rPr dirty="0" sz="900" spc="19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900" spc="20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 spc="-20">
                <a:solidFill>
                  <a:srgbClr val="221F1F"/>
                </a:solidFill>
                <a:latin typeface="Times New Roman"/>
                <a:cs typeface="Times New Roman"/>
              </a:rPr>
              <a:t>Moral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Education,</a:t>
            </a:r>
            <a:r>
              <a:rPr dirty="0" sz="900" spc="17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46(1),</a:t>
            </a:r>
            <a:r>
              <a:rPr dirty="0" sz="900" spc="17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23–</a:t>
            </a:r>
            <a:r>
              <a:rPr dirty="0" sz="900" spc="-25">
                <a:solidFill>
                  <a:srgbClr val="221F1F"/>
                </a:solidFill>
                <a:latin typeface="Times New Roman"/>
                <a:cs typeface="Times New Roman"/>
              </a:rPr>
              <a:t>34.</a:t>
            </a:r>
            <a:endParaRPr sz="900">
              <a:latin typeface="Times New Roman"/>
              <a:cs typeface="Times New Roman"/>
            </a:endParaRPr>
          </a:p>
          <a:p>
            <a:pPr algn="just" marL="131445" marR="8890" indent="-119380">
              <a:lnSpc>
                <a:spcPct val="106700"/>
              </a:lnSpc>
              <a:spcBef>
                <a:spcPts val="180"/>
              </a:spcBef>
              <a:buSzPct val="77777"/>
              <a:buAutoNum type="arabicPeriod" startAt="11"/>
              <a:tabLst>
                <a:tab pos="131445" algn="l"/>
                <a:tab pos="252095" algn="l"/>
              </a:tabLst>
            </a:pP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Mitra,</a:t>
            </a:r>
            <a:r>
              <a:rPr dirty="0" sz="900" spc="1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S.</a:t>
            </a:r>
            <a:r>
              <a:rPr dirty="0" sz="900" spc="1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(2015).</a:t>
            </a:r>
            <a:r>
              <a:rPr dirty="0" sz="900" spc="1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Panchatantra</a:t>
            </a:r>
            <a:r>
              <a:rPr dirty="0" sz="900" spc="13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900" spc="15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its</a:t>
            </a:r>
            <a:r>
              <a:rPr dirty="0" sz="900" spc="1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relevance</a:t>
            </a:r>
            <a:r>
              <a:rPr dirty="0" sz="900" spc="1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21F1F"/>
                </a:solidFill>
                <a:latin typeface="Times New Roman"/>
                <a:cs typeface="Times New Roman"/>
              </a:rPr>
              <a:t>in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 moral</a:t>
            </a:r>
            <a:r>
              <a:rPr dirty="0" sz="900" spc="3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education.</a:t>
            </a:r>
            <a:r>
              <a:rPr dirty="0" sz="900" spc="3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Journal</a:t>
            </a:r>
            <a:r>
              <a:rPr dirty="0" sz="900" spc="33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900" spc="31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Indian</a:t>
            </a:r>
            <a:r>
              <a:rPr dirty="0" sz="900" spc="3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Folklore</a:t>
            </a:r>
            <a:r>
              <a:rPr dirty="0" sz="900" spc="31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Studies,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32(2),</a:t>
            </a:r>
            <a:r>
              <a:rPr dirty="0" sz="900" spc="38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101–</a:t>
            </a:r>
            <a:r>
              <a:rPr dirty="0" sz="900" spc="-20">
                <a:solidFill>
                  <a:srgbClr val="221F1F"/>
                </a:solidFill>
                <a:latin typeface="Times New Roman"/>
                <a:cs typeface="Times New Roman"/>
              </a:rPr>
              <a:t>118.</a:t>
            </a:r>
            <a:endParaRPr sz="900">
              <a:latin typeface="Times New Roman"/>
              <a:cs typeface="Times New Roman"/>
            </a:endParaRPr>
          </a:p>
          <a:p>
            <a:pPr algn="just" marL="131445" marR="5080" indent="-119380">
              <a:lnSpc>
                <a:spcPct val="107200"/>
              </a:lnSpc>
              <a:spcBef>
                <a:spcPts val="175"/>
              </a:spcBef>
              <a:buSzPct val="77777"/>
              <a:buAutoNum type="arabicPeriod" startAt="11"/>
              <a:tabLst>
                <a:tab pos="131445" algn="l"/>
                <a:tab pos="252095" algn="l"/>
              </a:tabLst>
            </a:pP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	Nair,</a:t>
            </a:r>
            <a:r>
              <a:rPr dirty="0" sz="900" spc="254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P.,</a:t>
            </a:r>
            <a:r>
              <a:rPr dirty="0" sz="900" spc="254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 spc="70">
                <a:solidFill>
                  <a:srgbClr val="221F1F"/>
                </a:solidFill>
                <a:latin typeface="Times New Roman"/>
                <a:cs typeface="Times New Roman"/>
              </a:rPr>
              <a:t>&amp;</a:t>
            </a:r>
            <a:r>
              <a:rPr dirty="0" sz="900" spc="25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Sharma,</a:t>
            </a:r>
            <a:r>
              <a:rPr dirty="0" sz="900" spc="26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R.</a:t>
            </a:r>
            <a:r>
              <a:rPr dirty="0" sz="900" spc="25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(2020).</a:t>
            </a:r>
            <a:r>
              <a:rPr dirty="0" sz="900" spc="254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Indigenous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knowledge</a:t>
            </a:r>
            <a:r>
              <a:rPr dirty="0" sz="900" spc="32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systems</a:t>
            </a:r>
            <a:r>
              <a:rPr dirty="0" sz="900" spc="33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900" spc="34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student</a:t>
            </a:r>
            <a:r>
              <a:rPr dirty="0" sz="900" spc="33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well-being:</a:t>
            </a:r>
            <a:r>
              <a:rPr dirty="0" sz="900" spc="32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 spc="5">
                <a:solidFill>
                  <a:srgbClr val="221F1F"/>
                </a:solidFill>
                <a:latin typeface="Times New Roman"/>
                <a:cs typeface="Times New Roman"/>
              </a:rPr>
              <a:t>A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psychological</a:t>
            </a:r>
            <a:r>
              <a:rPr dirty="0" sz="900" spc="35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perspective.</a:t>
            </a:r>
            <a:r>
              <a:rPr dirty="0" sz="900" spc="3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Journal</a:t>
            </a:r>
            <a:r>
              <a:rPr dirty="0" sz="900" spc="3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900" spc="3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Cross-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Cultural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38396" y="5950077"/>
            <a:ext cx="2835910" cy="3091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31445" marR="5080">
              <a:lnSpc>
                <a:spcPct val="106700"/>
              </a:lnSpc>
              <a:spcBef>
                <a:spcPts val="100"/>
              </a:spcBef>
              <a:tabLst>
                <a:tab pos="1397000" algn="l"/>
                <a:tab pos="2349500" algn="l"/>
              </a:tabLst>
            </a:pP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Psychology,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51(3),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	224–</a:t>
            </a:r>
            <a:r>
              <a:rPr dirty="0" sz="900" spc="-20">
                <a:solidFill>
                  <a:srgbClr val="221F1F"/>
                </a:solidFill>
                <a:latin typeface="Times New Roman"/>
                <a:cs typeface="Times New Roman"/>
              </a:rPr>
              <a:t>238. 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  <a:hlinkClick r:id="rId3"/>
              </a:rPr>
              <a:t>https://doi.org/10.1177/0022022120901234</a:t>
            </a:r>
            <a:endParaRPr sz="900">
              <a:latin typeface="Times New Roman"/>
              <a:cs typeface="Times New Roman"/>
            </a:endParaRPr>
          </a:p>
          <a:p>
            <a:pPr algn="just" marL="131445" marR="8255" indent="-119380">
              <a:lnSpc>
                <a:spcPct val="107400"/>
              </a:lnSpc>
              <a:spcBef>
                <a:spcPts val="160"/>
              </a:spcBef>
              <a:buSzPct val="77777"/>
              <a:buAutoNum type="arabicPeriod" startAt="14"/>
              <a:tabLst>
                <a:tab pos="131445" algn="l"/>
                <a:tab pos="252095" algn="l"/>
              </a:tabLst>
            </a:pP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Narayan,</a:t>
            </a:r>
            <a:r>
              <a:rPr dirty="0" sz="900" spc="3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J.</a:t>
            </a:r>
            <a:r>
              <a:rPr dirty="0" sz="900" spc="37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(2015).</a:t>
            </a:r>
            <a:r>
              <a:rPr dirty="0" sz="900" spc="3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Educational</a:t>
            </a:r>
            <a:r>
              <a:rPr dirty="0" sz="900" spc="3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interventions</a:t>
            </a:r>
            <a:r>
              <a:rPr dirty="0" sz="900" spc="3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21F1F"/>
                </a:solidFill>
                <a:latin typeface="Times New Roman"/>
                <a:cs typeface="Times New Roman"/>
              </a:rPr>
              <a:t>for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 mental</a:t>
            </a:r>
            <a:r>
              <a:rPr dirty="0" sz="900" spc="5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health</a:t>
            </a:r>
            <a:r>
              <a:rPr dirty="0" sz="900" spc="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in</a:t>
            </a:r>
            <a:r>
              <a:rPr dirty="0" sz="900" spc="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India.</a:t>
            </a:r>
            <a:r>
              <a:rPr dirty="0" sz="900" spc="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International</a:t>
            </a:r>
            <a:r>
              <a:rPr dirty="0" sz="900" spc="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Journal</a:t>
            </a:r>
            <a:r>
              <a:rPr dirty="0" sz="900" spc="5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900" spc="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Mental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Health</a:t>
            </a:r>
            <a:r>
              <a:rPr dirty="0" sz="900" spc="1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Promotion,</a:t>
            </a:r>
            <a:r>
              <a:rPr dirty="0" sz="900" spc="1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17(3),</a:t>
            </a:r>
            <a:r>
              <a:rPr dirty="0" sz="900" spc="1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115–</a:t>
            </a:r>
            <a:r>
              <a:rPr dirty="0" sz="900" spc="-20">
                <a:solidFill>
                  <a:srgbClr val="221F1F"/>
                </a:solidFill>
                <a:latin typeface="Times New Roman"/>
                <a:cs typeface="Times New Roman"/>
              </a:rPr>
              <a:t>124.</a:t>
            </a:r>
            <a:endParaRPr sz="900">
              <a:latin typeface="Times New Roman"/>
              <a:cs typeface="Times New Roman"/>
            </a:endParaRPr>
          </a:p>
          <a:p>
            <a:pPr algn="just" marL="131445" marR="8255" indent="-119380">
              <a:lnSpc>
                <a:spcPct val="106700"/>
              </a:lnSpc>
              <a:spcBef>
                <a:spcPts val="180"/>
              </a:spcBef>
              <a:buSzPct val="77777"/>
              <a:buAutoNum type="arabicPeriod" startAt="14"/>
              <a:tabLst>
                <a:tab pos="131445" algn="l"/>
                <a:tab pos="252095" algn="l"/>
              </a:tabLst>
            </a:pP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	Pandey,</a:t>
            </a:r>
            <a:r>
              <a:rPr dirty="0" sz="900" spc="2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R.</a:t>
            </a:r>
            <a:r>
              <a:rPr dirty="0" sz="900" spc="2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(2019).</a:t>
            </a:r>
            <a:r>
              <a:rPr dirty="0" sz="900" spc="2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dirty="0" sz="900" spc="25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impact</a:t>
            </a:r>
            <a:r>
              <a:rPr dirty="0" sz="900" spc="2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900" spc="25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value</a:t>
            </a:r>
            <a:r>
              <a:rPr dirty="0" sz="900" spc="25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education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on</a:t>
            </a:r>
            <a:r>
              <a:rPr dirty="0" sz="900" spc="33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student</a:t>
            </a:r>
            <a:r>
              <a:rPr dirty="0" sz="900" spc="33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behavior</a:t>
            </a:r>
            <a:r>
              <a:rPr dirty="0" sz="900" spc="33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900" spc="33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attitude.</a:t>
            </a:r>
            <a:r>
              <a:rPr dirty="0" sz="900" spc="33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Journal</a:t>
            </a:r>
            <a:r>
              <a:rPr dirty="0" sz="900" spc="32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 spc="-25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 Educational</a:t>
            </a:r>
            <a:r>
              <a:rPr dirty="0" sz="900" spc="21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Psychology,</a:t>
            </a:r>
            <a:r>
              <a:rPr dirty="0" sz="900" spc="20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111(6),</a:t>
            </a:r>
            <a:r>
              <a:rPr dirty="0" sz="900" spc="2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987–</a:t>
            </a:r>
            <a:r>
              <a:rPr dirty="0" sz="900" spc="-20">
                <a:solidFill>
                  <a:srgbClr val="221F1F"/>
                </a:solidFill>
                <a:latin typeface="Times New Roman"/>
                <a:cs typeface="Times New Roman"/>
              </a:rPr>
              <a:t>999.</a:t>
            </a:r>
            <a:endParaRPr sz="900">
              <a:latin typeface="Times New Roman"/>
              <a:cs typeface="Times New Roman"/>
            </a:endParaRPr>
          </a:p>
          <a:p>
            <a:pPr algn="just" marL="131445" marR="8890" indent="-119380">
              <a:lnSpc>
                <a:spcPct val="106700"/>
              </a:lnSpc>
              <a:spcBef>
                <a:spcPts val="180"/>
              </a:spcBef>
              <a:buSzPct val="77777"/>
              <a:buAutoNum type="arabicPeriod" startAt="14"/>
              <a:tabLst>
                <a:tab pos="131445" algn="l"/>
                <a:tab pos="252095" algn="l"/>
              </a:tabLst>
            </a:pP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	Sharma,</a:t>
            </a:r>
            <a:r>
              <a:rPr dirty="0" sz="900" spc="41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221F1F"/>
                </a:solidFill>
                <a:latin typeface="Times New Roman"/>
                <a:cs typeface="Times New Roman"/>
              </a:rPr>
              <a:t>M.</a:t>
            </a:r>
            <a:r>
              <a:rPr dirty="0" sz="900" spc="4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(2018).</a:t>
            </a:r>
            <a:r>
              <a:rPr dirty="0" sz="900" spc="43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Role</a:t>
            </a:r>
            <a:r>
              <a:rPr dirty="0" sz="900" spc="40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900" spc="4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moral</a:t>
            </a:r>
            <a:r>
              <a:rPr dirty="0" sz="900" spc="43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education</a:t>
            </a:r>
            <a:r>
              <a:rPr dirty="0" sz="900" spc="43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21F1F"/>
                </a:solidFill>
                <a:latin typeface="Times New Roman"/>
                <a:cs typeface="Times New Roman"/>
              </a:rPr>
              <a:t>in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 mental</a:t>
            </a:r>
            <a:r>
              <a:rPr dirty="0" sz="900" spc="204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health</a:t>
            </a:r>
            <a:r>
              <a:rPr dirty="0" sz="900" spc="21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promotion.</a:t>
            </a:r>
            <a:r>
              <a:rPr dirty="0" sz="900" spc="204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International</a:t>
            </a:r>
            <a:r>
              <a:rPr dirty="0" sz="900" spc="21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Journal</a:t>
            </a:r>
            <a:r>
              <a:rPr dirty="0" sz="900" spc="20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 spc="-25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 Educational</a:t>
            </a:r>
            <a:r>
              <a:rPr dirty="0" sz="900" spc="2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Development,</a:t>
            </a:r>
            <a:r>
              <a:rPr dirty="0" sz="900" spc="1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62,</a:t>
            </a:r>
            <a:r>
              <a:rPr dirty="0" sz="900" spc="18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33–</a:t>
            </a:r>
            <a:r>
              <a:rPr dirty="0" sz="900" spc="-25">
                <a:solidFill>
                  <a:srgbClr val="221F1F"/>
                </a:solidFill>
                <a:latin typeface="Times New Roman"/>
                <a:cs typeface="Times New Roman"/>
              </a:rPr>
              <a:t>40.</a:t>
            </a:r>
            <a:endParaRPr sz="900">
              <a:latin typeface="Times New Roman"/>
              <a:cs typeface="Times New Roman"/>
            </a:endParaRPr>
          </a:p>
          <a:p>
            <a:pPr algn="just" marL="131445" marR="7620" indent="-119380">
              <a:lnSpc>
                <a:spcPct val="106700"/>
              </a:lnSpc>
              <a:spcBef>
                <a:spcPts val="175"/>
              </a:spcBef>
              <a:buSzPct val="77777"/>
              <a:buAutoNum type="arabicPeriod" startAt="14"/>
              <a:tabLst>
                <a:tab pos="131445" algn="l"/>
                <a:tab pos="252095" algn="l"/>
              </a:tabLst>
            </a:pP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Sharma,</a:t>
            </a:r>
            <a:r>
              <a:rPr dirty="0" sz="900" spc="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V.,</a:t>
            </a:r>
            <a:r>
              <a:rPr dirty="0" sz="900" spc="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221F1F"/>
                </a:solidFill>
                <a:latin typeface="Times New Roman"/>
                <a:cs typeface="Times New Roman"/>
              </a:rPr>
              <a:t>&amp;</a:t>
            </a:r>
            <a:r>
              <a:rPr dirty="0" sz="900" spc="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Rao,</a:t>
            </a:r>
            <a:r>
              <a:rPr dirty="0" sz="900" spc="5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P.</a:t>
            </a:r>
            <a:r>
              <a:rPr dirty="0" sz="900" spc="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(2017).</a:t>
            </a:r>
            <a:r>
              <a:rPr dirty="0" sz="900" spc="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Ethics</a:t>
            </a:r>
            <a:r>
              <a:rPr dirty="0" sz="900" spc="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education</a:t>
            </a:r>
            <a:r>
              <a:rPr dirty="0" sz="900" spc="5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 adolescent</a:t>
            </a:r>
            <a:r>
              <a:rPr dirty="0" sz="900" spc="3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well-being.</a:t>
            </a:r>
            <a:r>
              <a:rPr dirty="0" sz="900" spc="28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Child</a:t>
            </a:r>
            <a:r>
              <a:rPr dirty="0" sz="900" spc="2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900" spc="31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Adolescent</a:t>
            </a:r>
            <a:r>
              <a:rPr dirty="0" sz="900" spc="2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Mental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Health,</a:t>
            </a:r>
            <a:r>
              <a:rPr dirty="0" sz="900" spc="31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22(4),</a:t>
            </a:r>
            <a:r>
              <a:rPr dirty="0" sz="900" spc="3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213–</a:t>
            </a:r>
            <a:r>
              <a:rPr dirty="0" sz="900" spc="-20">
                <a:solidFill>
                  <a:srgbClr val="221F1F"/>
                </a:solidFill>
                <a:latin typeface="Times New Roman"/>
                <a:cs typeface="Times New Roman"/>
              </a:rPr>
              <a:t>219.</a:t>
            </a:r>
            <a:endParaRPr sz="900">
              <a:latin typeface="Times New Roman"/>
              <a:cs typeface="Times New Roman"/>
            </a:endParaRPr>
          </a:p>
          <a:p>
            <a:pPr algn="just" marL="131445" marR="8255" indent="-119380">
              <a:lnSpc>
                <a:spcPct val="107300"/>
              </a:lnSpc>
              <a:spcBef>
                <a:spcPts val="175"/>
              </a:spcBef>
              <a:buSzPct val="77777"/>
              <a:buAutoNum type="arabicPeriod" startAt="14"/>
              <a:tabLst>
                <a:tab pos="131445" algn="l"/>
                <a:tab pos="252095" algn="l"/>
              </a:tabLst>
            </a:pP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	Singh,</a:t>
            </a:r>
            <a:r>
              <a:rPr dirty="0" sz="900" spc="3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K.,</a:t>
            </a:r>
            <a:r>
              <a:rPr dirty="0" sz="900" spc="3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70">
                <a:solidFill>
                  <a:srgbClr val="221F1F"/>
                </a:solidFill>
                <a:latin typeface="Times New Roman"/>
                <a:cs typeface="Times New Roman"/>
              </a:rPr>
              <a:t>&amp;</a:t>
            </a:r>
            <a:r>
              <a:rPr dirty="0" sz="900" spc="3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Verma,</a:t>
            </a:r>
            <a:r>
              <a:rPr dirty="0" sz="900" spc="3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P.</a:t>
            </a:r>
            <a:r>
              <a:rPr dirty="0" sz="900" spc="31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(2021).</a:t>
            </a:r>
            <a:r>
              <a:rPr dirty="0" sz="900" spc="3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Cultural</a:t>
            </a:r>
            <a:r>
              <a:rPr dirty="0" sz="900" spc="3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identity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900" spc="14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adolescent</a:t>
            </a:r>
            <a:r>
              <a:rPr dirty="0" sz="900" spc="14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mental</a:t>
            </a:r>
            <a:r>
              <a:rPr dirty="0" sz="900" spc="14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health:</a:t>
            </a:r>
            <a:r>
              <a:rPr dirty="0" sz="900" spc="14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 spc="55">
                <a:solidFill>
                  <a:srgbClr val="221F1F"/>
                </a:solidFill>
                <a:latin typeface="Times New Roman"/>
                <a:cs typeface="Times New Roman"/>
              </a:rPr>
              <a:t>A</a:t>
            </a:r>
            <a:r>
              <a:rPr dirty="0" sz="900" spc="13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study</a:t>
            </a:r>
            <a:r>
              <a:rPr dirty="0" sz="900" spc="15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in</a:t>
            </a:r>
            <a:r>
              <a:rPr dirty="0" sz="900" spc="14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 spc="-10">
                <a:solidFill>
                  <a:srgbClr val="221F1F"/>
                </a:solidFill>
                <a:latin typeface="Times New Roman"/>
                <a:cs typeface="Times New Roman"/>
              </a:rPr>
              <a:t>Indian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schools.</a:t>
            </a:r>
            <a:r>
              <a:rPr dirty="0" sz="900" spc="1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Asian</a:t>
            </a:r>
            <a:r>
              <a:rPr dirty="0" sz="900" spc="13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Journal</a:t>
            </a:r>
            <a:r>
              <a:rPr dirty="0" sz="900" spc="1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900" spc="13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Psychology,</a:t>
            </a:r>
            <a:r>
              <a:rPr dirty="0" sz="900" spc="11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15(2),</a:t>
            </a:r>
            <a:r>
              <a:rPr dirty="0" sz="900" spc="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221F1F"/>
                </a:solidFill>
                <a:latin typeface="Times New Roman"/>
                <a:cs typeface="Times New Roman"/>
              </a:rPr>
              <a:t>78–</a:t>
            </a:r>
            <a:r>
              <a:rPr dirty="0" sz="900" spc="-25">
                <a:solidFill>
                  <a:srgbClr val="221F1F"/>
                </a:solidFill>
                <a:latin typeface="Times New Roman"/>
                <a:cs typeface="Times New Roman"/>
              </a:rPr>
              <a:t>89.</a:t>
            </a:r>
            <a:endParaRPr sz="900">
              <a:latin typeface="Times New Roman"/>
              <a:cs typeface="Times New Roman"/>
            </a:endParaRPr>
          </a:p>
          <a:p>
            <a:pPr algn="just" marL="131445" marR="6350" indent="-119380">
              <a:lnSpc>
                <a:spcPct val="107200"/>
              </a:lnSpc>
              <a:spcBef>
                <a:spcPts val="165"/>
              </a:spcBef>
              <a:buSzPct val="77777"/>
              <a:buAutoNum type="arabicPeriod" startAt="14"/>
              <a:tabLst>
                <a:tab pos="131445" algn="l"/>
                <a:tab pos="252095" algn="l"/>
              </a:tabLst>
            </a:pP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	Verma,</a:t>
            </a:r>
            <a:r>
              <a:rPr dirty="0" sz="900" spc="18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L.</a:t>
            </a:r>
            <a:r>
              <a:rPr dirty="0" sz="900" spc="18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(2019).</a:t>
            </a:r>
            <a:r>
              <a:rPr dirty="0" sz="900" spc="17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Cross-cultural</a:t>
            </a:r>
            <a:r>
              <a:rPr dirty="0" sz="900" spc="18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>
                <a:solidFill>
                  <a:srgbClr val="221F1F"/>
                </a:solidFill>
                <a:latin typeface="Times New Roman"/>
                <a:cs typeface="Times New Roman"/>
              </a:rPr>
              <a:t>approaches</a:t>
            </a:r>
            <a:r>
              <a:rPr dirty="0" sz="900" spc="18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900" spc="-25">
                <a:solidFill>
                  <a:srgbClr val="221F1F"/>
                </a:solidFill>
                <a:latin typeface="Times New Roman"/>
                <a:cs typeface="Times New Roman"/>
              </a:rPr>
              <a:t>to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 value</a:t>
            </a:r>
            <a:r>
              <a:rPr dirty="0" sz="900" spc="1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education</a:t>
            </a:r>
            <a:r>
              <a:rPr dirty="0" sz="900" spc="20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900" spc="20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mental</a:t>
            </a:r>
            <a:r>
              <a:rPr dirty="0" sz="900" spc="21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health.</a:t>
            </a:r>
            <a:r>
              <a:rPr dirty="0" sz="900" spc="2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Global</a:t>
            </a:r>
            <a:r>
              <a:rPr dirty="0" sz="900" spc="21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221F1F"/>
                </a:solidFill>
                <a:latin typeface="Times New Roman"/>
                <a:cs typeface="Times New Roman"/>
              </a:rPr>
              <a:t>Journal</a:t>
            </a:r>
            <a:r>
              <a:rPr dirty="0" sz="900" spc="2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 Educational</a:t>
            </a:r>
            <a:r>
              <a:rPr dirty="0" sz="900" spc="1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Research,</a:t>
            </a:r>
            <a:r>
              <a:rPr dirty="0" sz="900" spc="15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8(2),</a:t>
            </a:r>
            <a:r>
              <a:rPr dirty="0" sz="900" spc="15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900" spc="20">
                <a:solidFill>
                  <a:srgbClr val="221F1F"/>
                </a:solidFill>
                <a:latin typeface="Times New Roman"/>
                <a:cs typeface="Times New Roman"/>
              </a:rPr>
              <a:t>45–</a:t>
            </a:r>
            <a:r>
              <a:rPr dirty="0" sz="900" spc="-25">
                <a:solidFill>
                  <a:srgbClr val="221F1F"/>
                </a:solidFill>
                <a:latin typeface="Times New Roman"/>
                <a:cs typeface="Times New Roman"/>
              </a:rPr>
              <a:t>55.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9008" y="1036065"/>
            <a:ext cx="5608320" cy="16281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466725">
              <a:lnSpc>
                <a:spcPct val="100000"/>
              </a:lnSpc>
              <a:spcBef>
                <a:spcPts val="95"/>
              </a:spcBef>
            </a:pPr>
            <a:r>
              <a:rPr dirty="0" sz="1000" spc="70" b="1">
                <a:solidFill>
                  <a:srgbClr val="221F1F"/>
                </a:solidFill>
                <a:latin typeface="Times New Roman"/>
                <a:cs typeface="Times New Roman"/>
              </a:rPr>
              <a:t>Appendix</a:t>
            </a:r>
            <a:r>
              <a:rPr dirty="0" sz="1000" spc="280" b="1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40" b="1">
                <a:solidFill>
                  <a:srgbClr val="221F1F"/>
                </a:solidFill>
                <a:latin typeface="Times New Roman"/>
                <a:cs typeface="Times New Roman"/>
              </a:rPr>
              <a:t>A</a:t>
            </a:r>
            <a:endParaRPr sz="1000">
              <a:latin typeface="Times New Roman"/>
              <a:cs typeface="Times New Roman"/>
            </a:endParaRPr>
          </a:p>
          <a:p>
            <a:pPr algn="ctr" marL="462915">
              <a:lnSpc>
                <a:spcPct val="100000"/>
              </a:lnSpc>
            </a:pPr>
            <a:r>
              <a:rPr dirty="0" sz="1000" spc="60" b="1">
                <a:solidFill>
                  <a:srgbClr val="221F1F"/>
                </a:solidFill>
                <a:latin typeface="Times New Roman"/>
                <a:cs typeface="Times New Roman"/>
              </a:rPr>
              <a:t>Narrative</a:t>
            </a:r>
            <a:r>
              <a:rPr dirty="0" sz="1000" spc="90" b="1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65" b="1">
                <a:solidFill>
                  <a:srgbClr val="221F1F"/>
                </a:solidFill>
                <a:latin typeface="Times New Roman"/>
                <a:cs typeface="Times New Roman"/>
              </a:rPr>
              <a:t>Overview</a:t>
            </a:r>
            <a:r>
              <a:rPr dirty="0" sz="1000" spc="105" b="1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65" b="1">
                <a:solidFill>
                  <a:srgbClr val="221F1F"/>
                </a:solidFill>
                <a:latin typeface="Times New Roman"/>
                <a:cs typeface="Times New Roman"/>
              </a:rPr>
              <a:t>Rating</a:t>
            </a:r>
            <a:r>
              <a:rPr dirty="0" sz="1000" spc="105" b="1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30" b="1">
                <a:solidFill>
                  <a:srgbClr val="221F1F"/>
                </a:solidFill>
                <a:latin typeface="Times New Roman"/>
                <a:cs typeface="Times New Roman"/>
              </a:rPr>
              <a:t>Scale</a:t>
            </a:r>
            <a:endParaRPr sz="1000">
              <a:latin typeface="Times New Roman"/>
              <a:cs typeface="Times New Roman"/>
            </a:endParaRPr>
          </a:p>
          <a:p>
            <a:pPr algn="ctr" marL="464184">
              <a:lnSpc>
                <a:spcPct val="100000"/>
              </a:lnSpc>
              <a:spcBef>
                <a:spcPts val="994"/>
              </a:spcBef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Circle</a:t>
            </a:r>
            <a:r>
              <a:rPr dirty="0" sz="1000" spc="2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dirty="0" sz="1000" spc="2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number</a:t>
            </a:r>
            <a:r>
              <a:rPr dirty="0" sz="1000" spc="2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that</a:t>
            </a:r>
            <a:r>
              <a:rPr dirty="0" sz="1000" spc="2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you</a:t>
            </a:r>
            <a:r>
              <a:rPr dirty="0" sz="1000" spc="28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feel</a:t>
            </a:r>
            <a:r>
              <a:rPr dirty="0" sz="1000" spc="2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is</a:t>
            </a:r>
            <a:r>
              <a:rPr dirty="0" sz="1000" spc="2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appropriate</a:t>
            </a:r>
            <a:r>
              <a:rPr dirty="0" sz="1000" spc="28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for</a:t>
            </a:r>
            <a:r>
              <a:rPr dirty="0" sz="1000" spc="2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dirty="0" sz="1000" spc="2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paper</a:t>
            </a:r>
            <a:r>
              <a:rPr dirty="0" sz="1000" spc="28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that</a:t>
            </a:r>
            <a:r>
              <a:rPr dirty="0" sz="1000" spc="2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you</a:t>
            </a:r>
            <a:r>
              <a:rPr dirty="0" sz="1000" spc="28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are</a:t>
            </a:r>
            <a:r>
              <a:rPr dirty="0" sz="1000" spc="2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reading:</a:t>
            </a:r>
            <a:endParaRPr sz="1000">
              <a:latin typeface="Times New Roman"/>
              <a:cs typeface="Times New Roman"/>
            </a:endParaRPr>
          </a:p>
          <a:p>
            <a:pPr marL="628650">
              <a:lnSpc>
                <a:spcPct val="100000"/>
              </a:lnSpc>
              <a:tabLst>
                <a:tab pos="2210435" algn="l"/>
                <a:tab pos="4154170" algn="l"/>
              </a:tabLst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1</a:t>
            </a:r>
            <a:r>
              <a:rPr dirty="0" sz="1000" spc="11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=</a:t>
            </a:r>
            <a:r>
              <a:rPr dirty="0" sz="1000" spc="13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Absent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	2</a:t>
            </a:r>
            <a:r>
              <a:rPr dirty="0" sz="1000" spc="2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=</a:t>
            </a:r>
            <a:r>
              <a:rPr dirty="0" sz="1000" spc="21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Present</a:t>
            </a:r>
            <a:r>
              <a:rPr dirty="0" sz="1000" spc="2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but</a:t>
            </a:r>
            <a:r>
              <a:rPr dirty="0" sz="1000" spc="21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not</a:t>
            </a:r>
            <a:r>
              <a:rPr dirty="0" sz="1000" spc="2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complete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	3</a:t>
            </a:r>
            <a:r>
              <a:rPr dirty="0" sz="1000" spc="21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=</a:t>
            </a:r>
            <a:r>
              <a:rPr dirty="0" sz="1000" spc="2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Present</a:t>
            </a:r>
            <a:r>
              <a:rPr dirty="0" sz="1000" spc="229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1000" spc="229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complete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 spc="50" b="1">
                <a:solidFill>
                  <a:srgbClr val="221F1F"/>
                </a:solidFill>
                <a:latin typeface="Times New Roman"/>
                <a:cs typeface="Times New Roman"/>
              </a:rPr>
              <a:t>Initial</a:t>
            </a:r>
            <a:r>
              <a:rPr dirty="0" sz="1000" spc="100" b="1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45" b="1">
                <a:solidFill>
                  <a:srgbClr val="221F1F"/>
                </a:solidFill>
                <a:latin typeface="Times New Roman"/>
                <a:cs typeface="Times New Roman"/>
              </a:rPr>
              <a:t>Impression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405765" algn="l"/>
                <a:tab pos="772795" algn="l"/>
              </a:tabLst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1</a:t>
            </a:r>
            <a:r>
              <a:rPr dirty="0" sz="1000" spc="26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50">
                <a:solidFill>
                  <a:srgbClr val="221F1F"/>
                </a:solidFill>
                <a:latin typeface="Times New Roman"/>
                <a:cs typeface="Times New Roman"/>
              </a:rPr>
              <a:t>2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1000" spc="-50">
                <a:solidFill>
                  <a:srgbClr val="221F1F"/>
                </a:solidFill>
                <a:latin typeface="Times New Roman"/>
                <a:cs typeface="Times New Roman"/>
              </a:rPr>
              <a:t>3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	Does</a:t>
            </a:r>
            <a:r>
              <a:rPr dirty="0" sz="1000" spc="2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dirty="0" sz="1000" spc="2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review</a:t>
            </a:r>
            <a:r>
              <a:rPr dirty="0" sz="1000" spc="25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appear</a:t>
            </a:r>
            <a:r>
              <a:rPr dirty="0" sz="1000" spc="2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to</a:t>
            </a:r>
            <a:r>
              <a:rPr dirty="0" sz="1000" spc="2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be</a:t>
            </a:r>
            <a:r>
              <a:rPr dirty="0" sz="1000" spc="2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relvant</a:t>
            </a:r>
            <a:r>
              <a:rPr dirty="0" sz="1000" spc="25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to</a:t>
            </a:r>
            <a:r>
              <a:rPr dirty="0" sz="1000" spc="2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an</a:t>
            </a:r>
            <a:r>
              <a:rPr dirty="0" sz="1000" spc="2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issue</a:t>
            </a:r>
            <a:r>
              <a:rPr dirty="0" sz="1000" spc="2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1000" spc="2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interest</a:t>
            </a:r>
            <a:r>
              <a:rPr dirty="0" sz="1000" spc="2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(18,</a:t>
            </a:r>
            <a:r>
              <a:rPr dirty="0" sz="1000" spc="1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21F1F"/>
                </a:solidFill>
                <a:latin typeface="Times New Roman"/>
                <a:cs typeface="Times New Roman"/>
              </a:rPr>
              <a:t>30)?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 sz="1000" spc="40" b="1">
                <a:solidFill>
                  <a:srgbClr val="221F1F"/>
                </a:solidFill>
                <a:latin typeface="Times New Roman"/>
                <a:cs typeface="Times New Roman"/>
              </a:rPr>
              <a:t>Abstract</a:t>
            </a:r>
            <a:endParaRPr sz="10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89101" y="2789612"/>
          <a:ext cx="4656455" cy="889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830"/>
                <a:gridCol w="194945"/>
                <a:gridCol w="280034"/>
                <a:gridCol w="3940175"/>
              </a:tblGrid>
              <a:tr h="144145">
                <a:tc>
                  <a:txBody>
                    <a:bodyPr/>
                    <a:lstStyle/>
                    <a:p>
                      <a:pPr algn="ctr" marR="23495">
                        <a:lnSpc>
                          <a:spcPts val="104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04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040"/>
                        </a:lnSpc>
                      </a:pP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000" spc="2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specific</a:t>
                      </a:r>
                      <a:r>
                        <a:rPr dirty="0" sz="1000" spc="229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purpose</a:t>
                      </a:r>
                      <a:r>
                        <a:rPr dirty="0" sz="1000" spc="23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000" spc="22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2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review</a:t>
                      </a:r>
                      <a:r>
                        <a:rPr dirty="0" sz="1000" spc="24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stated</a:t>
                      </a:r>
                      <a:r>
                        <a:rPr dirty="0" sz="1000" spc="2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(3,</a:t>
                      </a:r>
                      <a:r>
                        <a:rPr dirty="0" sz="1000" spc="1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15)?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49860">
                <a:tc>
                  <a:txBody>
                    <a:bodyPr/>
                    <a:lstStyle/>
                    <a:p>
                      <a:pPr algn="ctr" marR="23495">
                        <a:lnSpc>
                          <a:spcPts val="108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08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080"/>
                        </a:lnSpc>
                      </a:pP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000" spc="22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context</a:t>
                      </a:r>
                      <a:r>
                        <a:rPr dirty="0" sz="1000" spc="2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000" spc="26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54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overview</a:t>
                      </a:r>
                      <a:r>
                        <a:rPr dirty="0" sz="1000" spc="27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provided?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algn="ctr" marR="23495">
                        <a:lnSpc>
                          <a:spcPts val="109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09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095"/>
                        </a:lnSpc>
                      </a:pP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000" spc="2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1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type</a:t>
                      </a:r>
                      <a:r>
                        <a:rPr dirty="0" sz="1000" spc="21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000" spc="229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dirty="0" sz="1000" spc="24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design</a:t>
                      </a:r>
                      <a:r>
                        <a:rPr dirty="0" sz="1000" spc="23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stated?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2400">
                <a:tc>
                  <a:txBody>
                    <a:bodyPr/>
                    <a:lstStyle/>
                    <a:p>
                      <a:pPr algn="ctr" marR="23495">
                        <a:lnSpc>
                          <a:spcPts val="110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10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100"/>
                        </a:lnSpc>
                      </a:pP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dirty="0" sz="1000" spc="29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9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search</a:t>
                      </a:r>
                      <a:r>
                        <a:rPr dirty="0" sz="1000" spc="29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methods</a:t>
                      </a:r>
                      <a:r>
                        <a:rPr dirty="0" sz="1000" spc="27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clearly</a:t>
                      </a:r>
                      <a:r>
                        <a:rPr dirty="0" sz="1000" spc="29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summarized?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49225">
                <a:tc>
                  <a:txBody>
                    <a:bodyPr/>
                    <a:lstStyle/>
                    <a:p>
                      <a:pPr algn="ctr" marR="23495">
                        <a:lnSpc>
                          <a:spcPts val="107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7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07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075"/>
                        </a:lnSpc>
                      </a:pP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dirty="0" sz="1000" spc="24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4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important</a:t>
                      </a:r>
                      <a:r>
                        <a:rPr dirty="0" sz="1000" spc="2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findings</a:t>
                      </a:r>
                      <a:r>
                        <a:rPr dirty="0" sz="1000" spc="26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clearly</a:t>
                      </a:r>
                      <a:r>
                        <a:rPr dirty="0" sz="1000" spc="26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discussed?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42875">
                <a:tc>
                  <a:txBody>
                    <a:bodyPr/>
                    <a:lstStyle/>
                    <a:p>
                      <a:pPr algn="ctr" marR="23495">
                        <a:lnSpc>
                          <a:spcPts val="102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2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02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025"/>
                        </a:lnSpc>
                      </a:pP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dirty="0" sz="1000" spc="229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major</a:t>
                      </a:r>
                      <a:r>
                        <a:rPr dirty="0" sz="1000" spc="23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conclusions</a:t>
                      </a:r>
                      <a:r>
                        <a:rPr dirty="0" sz="1000" spc="2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000" spc="229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recommendations</a:t>
                      </a:r>
                      <a:r>
                        <a:rPr dirty="0" sz="1000" spc="24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clearly</a:t>
                      </a:r>
                      <a:r>
                        <a:rPr dirty="0" sz="1000" spc="23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outlined?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99008" y="3805554"/>
            <a:ext cx="8051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40" b="1">
                <a:solidFill>
                  <a:srgbClr val="221F1F"/>
                </a:solidFill>
                <a:latin typeface="Times New Roman"/>
                <a:cs typeface="Times New Roman"/>
              </a:rPr>
              <a:t>Introduction</a:t>
            </a:r>
            <a:endParaRPr sz="10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89101" y="4106348"/>
          <a:ext cx="6129655" cy="587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830"/>
                <a:gridCol w="194945"/>
                <a:gridCol w="280034"/>
                <a:gridCol w="5413375"/>
              </a:tblGrid>
              <a:tr h="145415">
                <a:tc>
                  <a:txBody>
                    <a:bodyPr/>
                    <a:lstStyle/>
                    <a:p>
                      <a:pPr algn="ctr" marR="23495">
                        <a:lnSpc>
                          <a:spcPts val="104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04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045"/>
                        </a:lnSpc>
                      </a:pP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000" spc="2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29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specific</a:t>
                      </a:r>
                      <a:r>
                        <a:rPr dirty="0" sz="1000" spc="2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purpose</a:t>
                      </a:r>
                      <a:r>
                        <a:rPr dirty="0" sz="1000" spc="2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000" spc="229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review</a:t>
                      </a:r>
                      <a:r>
                        <a:rPr dirty="0" sz="1000" spc="21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clearly</a:t>
                      </a:r>
                      <a:r>
                        <a:rPr dirty="0" sz="1000" spc="22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stated</a:t>
                      </a:r>
                      <a:r>
                        <a:rPr dirty="0" sz="1000" spc="22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dirty="0" sz="1000" spc="229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upon</a:t>
                      </a:r>
                      <a:r>
                        <a:rPr dirty="0" sz="1000" spc="22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000" spc="204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brief</a:t>
                      </a:r>
                      <a:r>
                        <a:rPr dirty="0" sz="1000" spc="229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review</a:t>
                      </a:r>
                      <a:r>
                        <a:rPr dirty="0" sz="1000" spc="2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000" spc="22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literature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0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090"/>
                        </a:lnSpc>
                      </a:pP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(1,</a:t>
                      </a:r>
                      <a:r>
                        <a:rPr dirty="0" sz="1000" spc="17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3,</a:t>
                      </a:r>
                      <a:r>
                        <a:rPr dirty="0" sz="1000" spc="17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18,</a:t>
                      </a:r>
                      <a:r>
                        <a:rPr dirty="0" sz="1000" spc="17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24)?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48590">
                <a:tc>
                  <a:txBody>
                    <a:bodyPr/>
                    <a:lstStyle/>
                    <a:p>
                      <a:pPr algn="ctr" marR="23495">
                        <a:lnSpc>
                          <a:spcPts val="107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7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07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070"/>
                        </a:lnSpc>
                      </a:pP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000" spc="18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19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need/importance</a:t>
                      </a:r>
                      <a:r>
                        <a:rPr dirty="0" sz="1000" spc="204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000" spc="204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context</a:t>
                      </a:r>
                      <a:r>
                        <a:rPr dirty="0" sz="1000" spc="19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000" spc="204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dirty="0" sz="1000" spc="2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study</a:t>
                      </a:r>
                      <a:r>
                        <a:rPr dirty="0" sz="1000" spc="204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established</a:t>
                      </a:r>
                      <a:r>
                        <a:rPr dirty="0" sz="1000" spc="2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(2,</a:t>
                      </a:r>
                      <a:r>
                        <a:rPr dirty="0" sz="1000" spc="12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11,</a:t>
                      </a:r>
                      <a:r>
                        <a:rPr dirty="0" sz="1000" spc="1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24)?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42875">
                <a:tc>
                  <a:txBody>
                    <a:bodyPr/>
                    <a:lstStyle/>
                    <a:p>
                      <a:pPr algn="ctr" marR="23495">
                        <a:lnSpc>
                          <a:spcPts val="103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03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030"/>
                        </a:lnSpc>
                      </a:pP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dirty="0" sz="1000" spc="27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novel</a:t>
                      </a:r>
                      <a:r>
                        <a:rPr dirty="0" sz="1000" spc="27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terms</a:t>
                      </a:r>
                      <a:r>
                        <a:rPr dirty="0" sz="1000" spc="28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defined</a:t>
                      </a:r>
                      <a:r>
                        <a:rPr dirty="0" sz="1000" spc="27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(10,</a:t>
                      </a:r>
                      <a:r>
                        <a:rPr dirty="0" sz="1000" spc="27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29)?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99008" y="4819269"/>
            <a:ext cx="5594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0" b="1">
                <a:solidFill>
                  <a:srgbClr val="221F1F"/>
                </a:solidFill>
                <a:latin typeface="Times New Roman"/>
                <a:cs typeface="Times New Roman"/>
              </a:rPr>
              <a:t>Methods</a:t>
            </a:r>
            <a:endParaRPr sz="100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89101" y="5124634"/>
          <a:ext cx="6172200" cy="1037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830"/>
                <a:gridCol w="194945"/>
                <a:gridCol w="280034"/>
                <a:gridCol w="5455920"/>
              </a:tblGrid>
              <a:tr h="291465">
                <a:tc>
                  <a:txBody>
                    <a:bodyPr/>
                    <a:lstStyle/>
                    <a:p>
                      <a:pPr algn="ctr" marR="23495">
                        <a:lnSpc>
                          <a:spcPts val="109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09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065"/>
                        </a:lnSpc>
                      </a:pP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Were</a:t>
                      </a:r>
                      <a:r>
                        <a:rPr dirty="0" sz="1000" spc="37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37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electronic</a:t>
                      </a:r>
                      <a:r>
                        <a:rPr dirty="0" sz="1000" spc="38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databases</a:t>
                      </a:r>
                      <a:r>
                        <a:rPr dirty="0" sz="1000" spc="36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dirty="0" sz="1000" spc="39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000" spc="37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conduct</a:t>
                      </a:r>
                      <a:r>
                        <a:rPr dirty="0" sz="1000" spc="38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37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literature</a:t>
                      </a:r>
                      <a:r>
                        <a:rPr dirty="0" sz="1000" spc="38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searches</a:t>
                      </a:r>
                      <a:r>
                        <a:rPr dirty="0" sz="1000" spc="37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identified</a:t>
                      </a:r>
                      <a:r>
                        <a:rPr dirty="0" sz="1000" spc="42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(MEDLINE,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47955">
                        <a:lnSpc>
                          <a:spcPts val="1135"/>
                        </a:lnSpc>
                      </a:pP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CINAHL,</a:t>
                      </a:r>
                      <a:r>
                        <a:rPr dirty="0" sz="1000" spc="16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etc.)</a:t>
                      </a:r>
                      <a:r>
                        <a:rPr dirty="0" sz="1000" spc="16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(3,</a:t>
                      </a:r>
                      <a:r>
                        <a:rPr dirty="0" sz="1000" spc="1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13,</a:t>
                      </a:r>
                      <a:r>
                        <a:rPr dirty="0" sz="1000" spc="9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17)?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algn="ctr" marR="23495">
                        <a:lnSpc>
                          <a:spcPts val="109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09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095"/>
                        </a:lnSpc>
                      </a:pP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Were</a:t>
                      </a:r>
                      <a:r>
                        <a:rPr dirty="0" sz="1000" spc="27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6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search</a:t>
                      </a:r>
                      <a:r>
                        <a:rPr dirty="0" sz="1000" spc="27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years</a:t>
                      </a:r>
                      <a:r>
                        <a:rPr dirty="0" sz="1000" spc="27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stated?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2400">
                <a:tc>
                  <a:txBody>
                    <a:bodyPr/>
                    <a:lstStyle/>
                    <a:p>
                      <a:pPr algn="ctr" marR="23495">
                        <a:lnSpc>
                          <a:spcPts val="110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10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100"/>
                        </a:lnSpc>
                      </a:pP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Were</a:t>
                      </a:r>
                      <a:r>
                        <a:rPr dirty="0" sz="1000" spc="29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9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search</a:t>
                      </a:r>
                      <a:r>
                        <a:rPr dirty="0" sz="1000" spc="29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terms</a:t>
                      </a:r>
                      <a:r>
                        <a:rPr dirty="0" sz="1000" spc="29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stated</a:t>
                      </a:r>
                      <a:r>
                        <a:rPr dirty="0" sz="1000" spc="29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(3)?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algn="ctr" marR="23495">
                        <a:lnSpc>
                          <a:spcPts val="109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09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095"/>
                        </a:lnSpc>
                      </a:pP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Were</a:t>
                      </a:r>
                      <a:r>
                        <a:rPr dirty="0" sz="1000" spc="23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standard</a:t>
                      </a:r>
                      <a:r>
                        <a:rPr dirty="0" sz="1000" spc="24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terms</a:t>
                      </a:r>
                      <a:r>
                        <a:rPr dirty="0" sz="1000" spc="2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dirty="0" sz="1000" spc="2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dirty="0" sz="1000" spc="23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search</a:t>
                      </a:r>
                      <a:r>
                        <a:rPr dirty="0" sz="1000" spc="23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terms,</a:t>
                      </a:r>
                      <a:r>
                        <a:rPr dirty="0" sz="1000" spc="229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including</a:t>
                      </a:r>
                      <a:r>
                        <a:rPr dirty="0" sz="1000" spc="28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Medical</a:t>
                      </a:r>
                      <a:r>
                        <a:rPr dirty="0" sz="1000" spc="254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Subject</a:t>
                      </a:r>
                      <a:r>
                        <a:rPr dirty="0" sz="1000" spc="24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Headings</a:t>
                      </a:r>
                      <a:r>
                        <a:rPr dirty="0" sz="1000" spc="24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(17)?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91465">
                <a:tc>
                  <a:txBody>
                    <a:bodyPr/>
                    <a:lstStyle/>
                    <a:p>
                      <a:pPr algn="ctr" marR="23495">
                        <a:lnSpc>
                          <a:spcPts val="113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3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13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7955" marR="33020">
                        <a:lnSpc>
                          <a:spcPts val="1150"/>
                        </a:lnSpc>
                      </a:pP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Were</a:t>
                      </a:r>
                      <a:r>
                        <a:rPr dirty="0" sz="1000" spc="13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13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guidelines</a:t>
                      </a:r>
                      <a:r>
                        <a:rPr dirty="0" sz="1000" spc="13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000" spc="13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including</a:t>
                      </a:r>
                      <a:r>
                        <a:rPr dirty="0" sz="1000" spc="13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000" spc="13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excluding</a:t>
                      </a:r>
                      <a:r>
                        <a:rPr dirty="0" sz="1000" spc="14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articles</a:t>
                      </a:r>
                      <a:r>
                        <a:rPr dirty="0" sz="1000" spc="13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000" spc="13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13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literature</a:t>
                      </a:r>
                      <a:r>
                        <a:rPr dirty="0" sz="1000" spc="13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review</a:t>
                      </a:r>
                      <a:r>
                        <a:rPr dirty="0" sz="1000" spc="13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000" spc="-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clearly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identified</a:t>
                      </a:r>
                      <a:r>
                        <a:rPr dirty="0" sz="1000" spc="29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(10,</a:t>
                      </a:r>
                      <a:r>
                        <a:rPr dirty="0" sz="1000" spc="2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18,</a:t>
                      </a:r>
                      <a:r>
                        <a:rPr dirty="0" sz="1000" spc="22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22)?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699008" y="6288404"/>
            <a:ext cx="6699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40" b="1">
                <a:solidFill>
                  <a:srgbClr val="221F1F"/>
                </a:solidFill>
                <a:latin typeface="Times New Roman"/>
                <a:cs typeface="Times New Roman"/>
              </a:rPr>
              <a:t>Discussion</a:t>
            </a:r>
            <a:endParaRPr sz="1000">
              <a:latin typeface="Times New Roman"/>
              <a:cs typeface="Times New Roman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89101" y="6591103"/>
          <a:ext cx="6151245" cy="1343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830"/>
                <a:gridCol w="194945"/>
                <a:gridCol w="280034"/>
                <a:gridCol w="5434330"/>
              </a:tblGrid>
              <a:tr h="144145">
                <a:tc>
                  <a:txBody>
                    <a:bodyPr/>
                    <a:lstStyle/>
                    <a:p>
                      <a:pPr algn="ctr" marR="23495">
                        <a:lnSpc>
                          <a:spcPts val="104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04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040"/>
                        </a:lnSpc>
                      </a:pP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Were</a:t>
                      </a:r>
                      <a:r>
                        <a:rPr dirty="0" sz="1000" spc="23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results</a:t>
                      </a:r>
                      <a:r>
                        <a:rPr dirty="0" sz="1000" spc="229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summarized</a:t>
                      </a:r>
                      <a:r>
                        <a:rPr dirty="0" sz="1000" spc="24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000" spc="2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000" spc="23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comprehensible</a:t>
                      </a:r>
                      <a:r>
                        <a:rPr dirty="0" sz="1000" spc="23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manner</a:t>
                      </a:r>
                      <a:r>
                        <a:rPr dirty="0" sz="1000" spc="23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(3,</a:t>
                      </a:r>
                      <a:r>
                        <a:rPr dirty="0" sz="1000" spc="1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10)?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0495">
                <a:tc>
                  <a:txBody>
                    <a:bodyPr/>
                    <a:lstStyle/>
                    <a:p>
                      <a:pPr algn="ctr" marR="23495">
                        <a:lnSpc>
                          <a:spcPts val="109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09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090"/>
                        </a:lnSpc>
                      </a:pP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dirty="0" sz="1000" spc="2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2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critical</a:t>
                      </a:r>
                      <a:r>
                        <a:rPr dirty="0" sz="1000" spc="229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appraisal</a:t>
                      </a:r>
                      <a:r>
                        <a:rPr dirty="0" sz="1000" spc="2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000" spc="22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dirty="0" sz="1000" spc="22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study</a:t>
                      </a:r>
                      <a:r>
                        <a:rPr dirty="0" sz="1000" spc="22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same</a:t>
                      </a:r>
                      <a:r>
                        <a:rPr dirty="0" sz="1000" spc="2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000" spc="22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reproducible</a:t>
                      </a:r>
                      <a:r>
                        <a:rPr dirty="0" sz="1000" spc="21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(11,</a:t>
                      </a:r>
                      <a:r>
                        <a:rPr dirty="0" sz="1000" spc="13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13,</a:t>
                      </a:r>
                      <a:r>
                        <a:rPr dirty="0" sz="1000" spc="1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22)?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algn="ctr" marR="23495">
                        <a:lnSpc>
                          <a:spcPts val="109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09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095"/>
                        </a:lnSpc>
                      </a:pP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dirty="0" sz="1000" spc="19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quality</a:t>
                      </a:r>
                      <a:r>
                        <a:rPr dirty="0" sz="1000" spc="2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000" spc="21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included</a:t>
                      </a:r>
                      <a:r>
                        <a:rPr dirty="0" sz="1000" spc="2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articles</a:t>
                      </a:r>
                      <a:r>
                        <a:rPr dirty="0" sz="1000" spc="2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assessed</a:t>
                      </a:r>
                      <a:r>
                        <a:rPr dirty="0" sz="1000" spc="2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objectively</a:t>
                      </a:r>
                      <a:r>
                        <a:rPr dirty="0" sz="1000" spc="2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(3,</a:t>
                      </a:r>
                      <a:r>
                        <a:rPr dirty="0" sz="1000" spc="14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11,</a:t>
                      </a:r>
                      <a:r>
                        <a:rPr dirty="0" sz="1000" spc="114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13)?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algn="ctr" marR="23495">
                        <a:lnSpc>
                          <a:spcPts val="109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09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095"/>
                        </a:lnSpc>
                      </a:pP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dirty="0" sz="1000" spc="24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4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variation</a:t>
                      </a:r>
                      <a:r>
                        <a:rPr dirty="0" sz="1000" spc="27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000" spc="26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4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findings</a:t>
                      </a:r>
                      <a:r>
                        <a:rPr dirty="0" sz="1000" spc="2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000" spc="254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4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studies</a:t>
                      </a:r>
                      <a:r>
                        <a:rPr dirty="0" sz="1000" spc="26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critically</a:t>
                      </a:r>
                      <a:r>
                        <a:rPr dirty="0" sz="1000" spc="26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analyzed</a:t>
                      </a:r>
                      <a:r>
                        <a:rPr dirty="0" sz="1000" spc="26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(1,</a:t>
                      </a:r>
                      <a:r>
                        <a:rPr dirty="0" sz="1000" spc="18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10,</a:t>
                      </a:r>
                      <a:r>
                        <a:rPr dirty="0" sz="1000" spc="17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13,</a:t>
                      </a:r>
                      <a:r>
                        <a:rPr dirty="0" sz="1000" spc="19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22)?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2400">
                <a:tc>
                  <a:txBody>
                    <a:bodyPr/>
                    <a:lstStyle/>
                    <a:p>
                      <a:pPr algn="ctr" marR="23495">
                        <a:lnSpc>
                          <a:spcPts val="110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10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100"/>
                        </a:lnSpc>
                      </a:pP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Were</a:t>
                      </a:r>
                      <a:r>
                        <a:rPr dirty="0" sz="1000" spc="29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7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meaning</a:t>
                      </a:r>
                      <a:r>
                        <a:rPr dirty="0" sz="1000" spc="3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000" spc="31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7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results</a:t>
                      </a:r>
                      <a:r>
                        <a:rPr dirty="0" sz="1000" spc="3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addressed</a:t>
                      </a:r>
                      <a:r>
                        <a:rPr dirty="0" sz="1000" spc="3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(3)?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algn="ctr" marR="23495">
                        <a:lnSpc>
                          <a:spcPts val="109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09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095"/>
                        </a:lnSpc>
                      </a:pP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Do</a:t>
                      </a:r>
                      <a:r>
                        <a:rPr dirty="0" sz="1000" spc="2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authors</a:t>
                      </a:r>
                      <a:r>
                        <a:rPr dirty="0" sz="1000" spc="204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tie</a:t>
                      </a:r>
                      <a:r>
                        <a:rPr dirty="0" sz="1000" spc="2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000" spc="204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results</a:t>
                      </a:r>
                      <a:r>
                        <a:rPr dirty="0" sz="1000" spc="2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000" spc="2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study</a:t>
                      </a:r>
                      <a:r>
                        <a:rPr dirty="0" sz="1000" spc="229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000" spc="204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previous</a:t>
                      </a:r>
                      <a:r>
                        <a:rPr dirty="0" sz="1000" spc="2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dirty="0" sz="1000" spc="22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000" spc="2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000" spc="21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meaningful</a:t>
                      </a:r>
                      <a:r>
                        <a:rPr dirty="0" sz="1000" spc="2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manner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095"/>
                        </a:lnSpc>
                      </a:pP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(1,</a:t>
                      </a:r>
                      <a:r>
                        <a:rPr dirty="0" sz="1000" spc="12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3,</a:t>
                      </a:r>
                      <a:r>
                        <a:rPr dirty="0" sz="1000" spc="10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10)?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92100">
                <a:tc>
                  <a:txBody>
                    <a:bodyPr/>
                    <a:lstStyle/>
                    <a:p>
                      <a:pPr algn="ctr" marR="23495">
                        <a:lnSpc>
                          <a:spcPts val="113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13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7955" marR="24130">
                        <a:lnSpc>
                          <a:spcPts val="1150"/>
                        </a:lnSpc>
                      </a:pP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Were</a:t>
                      </a:r>
                      <a:r>
                        <a:rPr dirty="0" sz="1000" spc="42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42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weak</a:t>
                      </a:r>
                      <a:r>
                        <a:rPr dirty="0" sz="1000" spc="42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points</a:t>
                      </a:r>
                      <a:r>
                        <a:rPr dirty="0" sz="1000" spc="43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000" spc="42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untoward</a:t>
                      </a:r>
                      <a:r>
                        <a:rPr dirty="0" sz="1000" spc="44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events</a:t>
                      </a:r>
                      <a:r>
                        <a:rPr dirty="0" sz="1000" spc="43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000" spc="409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occurred</a:t>
                      </a:r>
                      <a:r>
                        <a:rPr dirty="0" sz="1000" spc="43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during</a:t>
                      </a:r>
                      <a:r>
                        <a:rPr dirty="0" sz="1000" spc="43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41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course</a:t>
                      </a:r>
                      <a:r>
                        <a:rPr dirty="0" sz="1000" spc="43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000" spc="43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409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study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addressed</a:t>
                      </a:r>
                      <a:r>
                        <a:rPr dirty="0" sz="1000" spc="3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000" spc="29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3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authors</a:t>
                      </a:r>
                      <a:r>
                        <a:rPr dirty="0" sz="1000" spc="28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(1,</a:t>
                      </a:r>
                      <a:r>
                        <a:rPr dirty="0" sz="1000" spc="2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2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3)?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699008" y="8062721"/>
            <a:ext cx="7664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45" b="1">
                <a:solidFill>
                  <a:srgbClr val="221F1F"/>
                </a:solidFill>
                <a:latin typeface="Times New Roman"/>
                <a:cs typeface="Times New Roman"/>
              </a:rPr>
              <a:t>Conclusions</a:t>
            </a:r>
            <a:endParaRPr sz="1000">
              <a:latin typeface="Times New Roman"/>
              <a:cs typeface="Times New Roman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89101" y="8365293"/>
          <a:ext cx="5522595" cy="586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830"/>
                <a:gridCol w="194945"/>
                <a:gridCol w="280034"/>
                <a:gridCol w="4806315"/>
              </a:tblGrid>
              <a:tr h="144145">
                <a:tc>
                  <a:txBody>
                    <a:bodyPr/>
                    <a:lstStyle/>
                    <a:p>
                      <a:pPr algn="ctr" marR="23495">
                        <a:lnSpc>
                          <a:spcPts val="104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04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040"/>
                        </a:lnSpc>
                      </a:pP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dirty="0" sz="1000" spc="24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000" spc="24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clear</a:t>
                      </a:r>
                      <a:r>
                        <a:rPr dirty="0" sz="1000" spc="26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4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r>
                        <a:rPr dirty="0" sz="1000" spc="27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000" spc="24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pertinent</a:t>
                      </a:r>
                      <a:r>
                        <a:rPr dirty="0" sz="1000" spc="2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findings</a:t>
                      </a:r>
                      <a:r>
                        <a:rPr dirty="0" sz="1000" spc="254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provided</a:t>
                      </a:r>
                      <a:r>
                        <a:rPr dirty="0" sz="1000" spc="26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(10)?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0495">
                <a:tc>
                  <a:txBody>
                    <a:bodyPr/>
                    <a:lstStyle/>
                    <a:p>
                      <a:pPr algn="ctr" marR="23495">
                        <a:lnSpc>
                          <a:spcPts val="109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09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090"/>
                        </a:lnSpc>
                      </a:pP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Were</a:t>
                      </a:r>
                      <a:r>
                        <a:rPr dirty="0" sz="1000" spc="26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54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authors’</a:t>
                      </a:r>
                      <a:r>
                        <a:rPr dirty="0" sz="1000" spc="28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conclusions</a:t>
                      </a:r>
                      <a:r>
                        <a:rPr dirty="0" sz="1000" spc="2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supported</a:t>
                      </a:r>
                      <a:r>
                        <a:rPr dirty="0" sz="1000" spc="26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000" spc="254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54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evidence</a:t>
                      </a:r>
                      <a:r>
                        <a:rPr dirty="0" sz="1000" spc="24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provided</a:t>
                      </a:r>
                      <a:r>
                        <a:rPr dirty="0" sz="1000" spc="26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(1,</a:t>
                      </a:r>
                      <a:r>
                        <a:rPr dirty="0" sz="1000" spc="17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3,</a:t>
                      </a:r>
                      <a:r>
                        <a:rPr dirty="0" sz="1000" spc="17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13,</a:t>
                      </a:r>
                      <a:r>
                        <a:rPr dirty="0" sz="1000" spc="16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18)?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49225">
                <a:tc>
                  <a:txBody>
                    <a:bodyPr/>
                    <a:lstStyle/>
                    <a:p>
                      <a:pPr algn="ctr" marR="23495">
                        <a:lnSpc>
                          <a:spcPts val="107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7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07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075"/>
                        </a:lnSpc>
                      </a:pP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Were</a:t>
                      </a:r>
                      <a:r>
                        <a:rPr dirty="0" sz="1000" spc="19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specific</a:t>
                      </a:r>
                      <a:r>
                        <a:rPr dirty="0" sz="1000" spc="19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directives</a:t>
                      </a:r>
                      <a:r>
                        <a:rPr dirty="0" sz="1000" spc="21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000" spc="2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dirty="0" sz="1000" spc="18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dirty="0" sz="1000" spc="21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initiatives</a:t>
                      </a:r>
                      <a:r>
                        <a:rPr dirty="0" sz="1000" spc="204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proposed?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42875">
                <a:tc>
                  <a:txBody>
                    <a:bodyPr/>
                    <a:lstStyle/>
                    <a:p>
                      <a:pPr algn="ctr" marR="23495">
                        <a:lnSpc>
                          <a:spcPts val="102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2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02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025"/>
                        </a:lnSpc>
                      </a:pP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Specific</a:t>
                      </a:r>
                      <a:r>
                        <a:rPr dirty="0" sz="1000" spc="17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implications</a:t>
                      </a:r>
                      <a:r>
                        <a:rPr dirty="0" sz="1000" spc="19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000" spc="17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practice</a:t>
                      </a:r>
                      <a:r>
                        <a:rPr dirty="0" sz="1000" spc="18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environment</a:t>
                      </a:r>
                      <a:r>
                        <a:rPr dirty="0" sz="1000" spc="19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dirty="0" sz="1000" spc="2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addressed</a:t>
                      </a:r>
                      <a:r>
                        <a:rPr dirty="0" sz="1000" spc="17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(3).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1011681"/>
            <a:ext cx="6946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40" b="1">
                <a:solidFill>
                  <a:srgbClr val="221F1F"/>
                </a:solidFill>
                <a:latin typeface="Times New Roman"/>
                <a:cs typeface="Times New Roman"/>
              </a:rPr>
              <a:t>References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1290574"/>
            <a:ext cx="48831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5765" algn="l"/>
              </a:tabLst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1</a:t>
            </a:r>
            <a:r>
              <a:rPr dirty="0" sz="1000" spc="26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50">
                <a:solidFill>
                  <a:srgbClr val="221F1F"/>
                </a:solidFill>
                <a:latin typeface="Times New Roman"/>
                <a:cs typeface="Times New Roman"/>
              </a:rPr>
              <a:t>2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1000" spc="-50">
                <a:solidFill>
                  <a:srgbClr val="221F1F"/>
                </a:solidFill>
                <a:latin typeface="Times New Roman"/>
                <a:cs typeface="Times New Roman"/>
              </a:rPr>
              <a:t>3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05765" algn="l"/>
              </a:tabLst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1</a:t>
            </a:r>
            <a:r>
              <a:rPr dirty="0" sz="1000" spc="26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50">
                <a:solidFill>
                  <a:srgbClr val="221F1F"/>
                </a:solidFill>
                <a:latin typeface="Times New Roman"/>
                <a:cs typeface="Times New Roman"/>
              </a:rPr>
              <a:t>2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	</a:t>
            </a:r>
            <a:r>
              <a:rPr dirty="0" sz="1000" spc="-50">
                <a:solidFill>
                  <a:srgbClr val="221F1F"/>
                </a:solidFill>
                <a:latin typeface="Times New Roman"/>
                <a:cs typeface="Times New Roman"/>
              </a:rPr>
              <a:t>3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26210" y="1290574"/>
            <a:ext cx="375285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Are</a:t>
            </a:r>
            <a:r>
              <a:rPr dirty="0" sz="1000" spc="3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references</a:t>
            </a:r>
            <a:r>
              <a:rPr dirty="0" sz="1000" spc="3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relevant,</a:t>
            </a:r>
            <a:r>
              <a:rPr dirty="0" sz="1000" spc="3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current</a:t>
            </a:r>
            <a:r>
              <a:rPr dirty="0" sz="1000" spc="3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1000" spc="3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appropriate</a:t>
            </a:r>
            <a:r>
              <a:rPr dirty="0" sz="1000" spc="37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in</a:t>
            </a:r>
            <a:r>
              <a:rPr dirty="0" sz="1000" spc="37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number</a:t>
            </a:r>
            <a:r>
              <a:rPr dirty="0" sz="1000" spc="38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(11)?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Are</a:t>
            </a:r>
            <a:r>
              <a:rPr dirty="0" sz="1000" spc="20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all</a:t>
            </a:r>
            <a:r>
              <a:rPr dirty="0" sz="1000" spc="2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papers</a:t>
            </a:r>
            <a:r>
              <a:rPr dirty="0" sz="1000" spc="1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reviewed</a:t>
            </a:r>
            <a:r>
              <a:rPr dirty="0" sz="1000" spc="2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cited</a:t>
            </a:r>
            <a:r>
              <a:rPr dirty="0" sz="1000" spc="2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in</a:t>
            </a:r>
            <a:r>
              <a:rPr dirty="0" sz="1000" spc="21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dirty="0" sz="1000" spc="21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references</a:t>
            </a:r>
            <a:r>
              <a:rPr dirty="0" sz="1000" spc="1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21F1F"/>
                </a:solidFill>
                <a:latin typeface="Times New Roman"/>
                <a:cs typeface="Times New Roman"/>
              </a:rPr>
              <a:t>(1)?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5480" y="1721865"/>
            <a:ext cx="12661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60" b="1">
                <a:solidFill>
                  <a:srgbClr val="221F1F"/>
                </a:solidFill>
                <a:latin typeface="Times New Roman"/>
                <a:cs typeface="Times New Roman"/>
              </a:rPr>
              <a:t>Overall</a:t>
            </a:r>
            <a:r>
              <a:rPr dirty="0" sz="1000" b="1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45" b="1">
                <a:solidFill>
                  <a:srgbClr val="221F1F"/>
                </a:solidFill>
                <a:latin typeface="Times New Roman"/>
                <a:cs typeface="Times New Roman"/>
              </a:rPr>
              <a:t>Impressions</a:t>
            </a:r>
            <a:endParaRPr sz="10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55573" y="2022659"/>
          <a:ext cx="6142990" cy="586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465"/>
                <a:gridCol w="197485"/>
                <a:gridCol w="279400"/>
                <a:gridCol w="5424170"/>
              </a:tblGrid>
              <a:tr h="144145">
                <a:tc>
                  <a:txBody>
                    <a:bodyPr/>
                    <a:lstStyle/>
                    <a:p>
                      <a:pPr algn="ctr" marR="24130">
                        <a:lnSpc>
                          <a:spcPts val="104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ts val="104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ts val="1040"/>
                        </a:lnSpc>
                      </a:pP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Do</a:t>
                      </a:r>
                      <a:r>
                        <a:rPr dirty="0" sz="1000" spc="27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6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merits</a:t>
                      </a:r>
                      <a:r>
                        <a:rPr dirty="0" sz="1000" spc="26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000" spc="28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dirty="0" sz="1000" spc="26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review</a:t>
                      </a:r>
                      <a:r>
                        <a:rPr dirty="0" sz="1000" spc="27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000" spc="28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6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literature</a:t>
                      </a:r>
                      <a:r>
                        <a:rPr dirty="0" sz="1000" spc="27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outweigh</a:t>
                      </a:r>
                      <a:r>
                        <a:rPr dirty="0" sz="1000" spc="28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6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flaws?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0495">
                <a:tc>
                  <a:txBody>
                    <a:bodyPr/>
                    <a:lstStyle/>
                    <a:p>
                      <a:pPr algn="ctr" marR="24130">
                        <a:lnSpc>
                          <a:spcPts val="109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ts val="1090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ts val="1090"/>
                        </a:lnSpc>
                      </a:pPr>
                      <a:r>
                        <a:rPr dirty="0" sz="1000" spc="6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Were</a:t>
                      </a:r>
                      <a:r>
                        <a:rPr dirty="0" sz="1000" spc="1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8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5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authors</a:t>
                      </a:r>
                      <a:r>
                        <a:rPr dirty="0" sz="1000" spc="9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5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unbiased</a:t>
                      </a:r>
                      <a:r>
                        <a:rPr dirty="0" sz="1000" spc="1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000" spc="7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their</a:t>
                      </a:r>
                      <a:r>
                        <a:rPr dirty="0" sz="1000" spc="9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5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r>
                        <a:rPr dirty="0" sz="1000" spc="1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000" spc="9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8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5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review</a:t>
                      </a:r>
                      <a:r>
                        <a:rPr dirty="0" sz="1000" spc="1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(11,</a:t>
                      </a:r>
                      <a:r>
                        <a:rPr dirty="0" sz="1000" spc="4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18)?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92100">
                <a:tc>
                  <a:txBody>
                    <a:bodyPr/>
                    <a:lstStyle/>
                    <a:p>
                      <a:pPr algn="ctr" marR="24130">
                        <a:lnSpc>
                          <a:spcPts val="113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ts val="1135"/>
                        </a:lnSpc>
                      </a:pPr>
                      <a:r>
                        <a:rPr dirty="0" sz="1000" spc="-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6050" marR="24130">
                        <a:lnSpc>
                          <a:spcPts val="1150"/>
                        </a:lnSpc>
                      </a:pP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Will</a:t>
                      </a:r>
                      <a:r>
                        <a:rPr dirty="0" sz="1000" spc="31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3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results</a:t>
                      </a:r>
                      <a:r>
                        <a:rPr dirty="0" sz="1000" spc="32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000" spc="33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31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r>
                        <a:rPr dirty="0" sz="1000" spc="33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help</a:t>
                      </a:r>
                      <a:r>
                        <a:rPr dirty="0" sz="1000" spc="33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5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me</a:t>
                      </a:r>
                      <a:r>
                        <a:rPr dirty="0" sz="1000" spc="31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000" spc="34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my</a:t>
                      </a:r>
                      <a:r>
                        <a:rPr dirty="0" sz="1000" spc="33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philosophical</a:t>
                      </a:r>
                      <a:r>
                        <a:rPr dirty="0" sz="1000" spc="32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000" spc="33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evidence</a:t>
                      </a:r>
                      <a:r>
                        <a:rPr dirty="0" sz="1000" spc="32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dirty="0" sz="1000" spc="34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r>
                        <a:rPr dirty="0" sz="1000" spc="35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2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patient</a:t>
                      </a:r>
                      <a:r>
                        <a:rPr dirty="0" sz="1000" spc="31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care</a:t>
                      </a:r>
                      <a:r>
                        <a:rPr dirty="0" sz="1000" spc="285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(18,</a:t>
                      </a:r>
                      <a:r>
                        <a:rPr dirty="0" sz="1000" spc="2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20">
                          <a:solidFill>
                            <a:srgbClr val="221F1F"/>
                          </a:solidFill>
                          <a:latin typeface="Times New Roman"/>
                          <a:cs typeface="Times New Roman"/>
                        </a:rPr>
                        <a:t>22)?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65480" y="2735706"/>
            <a:ext cx="12884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75" b="1">
                <a:solidFill>
                  <a:srgbClr val="221F1F"/>
                </a:solidFill>
                <a:latin typeface="Times New Roman"/>
                <a:cs typeface="Times New Roman"/>
              </a:rPr>
              <a:t>Comments</a:t>
            </a:r>
            <a:r>
              <a:rPr dirty="0" sz="1000" spc="85" b="1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5" b="1">
                <a:solidFill>
                  <a:srgbClr val="221F1F"/>
                </a:solidFill>
                <a:latin typeface="Times New Roman"/>
                <a:cs typeface="Times New Roman"/>
              </a:rPr>
              <a:t>&amp;</a:t>
            </a:r>
            <a:r>
              <a:rPr dirty="0" sz="1000" spc="80" b="1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40" b="1">
                <a:solidFill>
                  <a:srgbClr val="221F1F"/>
                </a:solidFill>
                <a:latin typeface="Times New Roman"/>
                <a:cs typeface="Times New Roman"/>
              </a:rPr>
              <a:t>Notes: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79450" y="3158744"/>
            <a:ext cx="6044565" cy="0"/>
          </a:xfrm>
          <a:custGeom>
            <a:avLst/>
            <a:gdLst/>
            <a:ahLst/>
            <a:cxnLst/>
            <a:rect l="l" t="t" r="r" b="b"/>
            <a:pathLst>
              <a:path w="6044565" h="0">
                <a:moveTo>
                  <a:pt x="0" y="0"/>
                </a:moveTo>
                <a:lnTo>
                  <a:pt x="6044565" y="0"/>
                </a:lnTo>
              </a:path>
            </a:pathLst>
          </a:custGeom>
          <a:ln w="12673">
            <a:solidFill>
              <a:srgbClr val="22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79450" y="3412109"/>
            <a:ext cx="6044565" cy="0"/>
          </a:xfrm>
          <a:custGeom>
            <a:avLst/>
            <a:gdLst/>
            <a:ahLst/>
            <a:cxnLst/>
            <a:rect l="l" t="t" r="r" b="b"/>
            <a:pathLst>
              <a:path w="6044565" h="0">
                <a:moveTo>
                  <a:pt x="0" y="0"/>
                </a:moveTo>
                <a:lnTo>
                  <a:pt x="6044565" y="0"/>
                </a:lnTo>
              </a:path>
            </a:pathLst>
          </a:custGeom>
          <a:ln w="12673">
            <a:solidFill>
              <a:srgbClr val="22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79450" y="3665473"/>
            <a:ext cx="6044565" cy="0"/>
          </a:xfrm>
          <a:custGeom>
            <a:avLst/>
            <a:gdLst/>
            <a:ahLst/>
            <a:cxnLst/>
            <a:rect l="l" t="t" r="r" b="b"/>
            <a:pathLst>
              <a:path w="6044565" h="0">
                <a:moveTo>
                  <a:pt x="0" y="0"/>
                </a:moveTo>
                <a:lnTo>
                  <a:pt x="6044565" y="0"/>
                </a:lnTo>
              </a:path>
            </a:pathLst>
          </a:custGeom>
          <a:ln w="12673">
            <a:solidFill>
              <a:srgbClr val="22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79450" y="3919473"/>
            <a:ext cx="6044565" cy="0"/>
          </a:xfrm>
          <a:custGeom>
            <a:avLst/>
            <a:gdLst/>
            <a:ahLst/>
            <a:cxnLst/>
            <a:rect l="l" t="t" r="r" b="b"/>
            <a:pathLst>
              <a:path w="6044565" h="0">
                <a:moveTo>
                  <a:pt x="0" y="0"/>
                </a:moveTo>
                <a:lnTo>
                  <a:pt x="6044565" y="0"/>
                </a:lnTo>
              </a:path>
            </a:pathLst>
          </a:custGeom>
          <a:ln w="12673">
            <a:solidFill>
              <a:srgbClr val="22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79450" y="4172839"/>
            <a:ext cx="6044565" cy="0"/>
          </a:xfrm>
          <a:custGeom>
            <a:avLst/>
            <a:gdLst/>
            <a:ahLst/>
            <a:cxnLst/>
            <a:rect l="l" t="t" r="r" b="b"/>
            <a:pathLst>
              <a:path w="6044565" h="0">
                <a:moveTo>
                  <a:pt x="0" y="0"/>
                </a:moveTo>
                <a:lnTo>
                  <a:pt x="6044565" y="0"/>
                </a:lnTo>
              </a:path>
            </a:pathLst>
          </a:custGeom>
          <a:ln w="12673">
            <a:solidFill>
              <a:srgbClr val="22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79450" y="4426203"/>
            <a:ext cx="6044565" cy="0"/>
          </a:xfrm>
          <a:custGeom>
            <a:avLst/>
            <a:gdLst/>
            <a:ahLst/>
            <a:cxnLst/>
            <a:rect l="l" t="t" r="r" b="b"/>
            <a:pathLst>
              <a:path w="6044565" h="0">
                <a:moveTo>
                  <a:pt x="0" y="0"/>
                </a:moveTo>
                <a:lnTo>
                  <a:pt x="6044565" y="0"/>
                </a:lnTo>
              </a:path>
            </a:pathLst>
          </a:custGeom>
          <a:ln w="12673">
            <a:solidFill>
              <a:srgbClr val="22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79450" y="4679569"/>
            <a:ext cx="6044565" cy="0"/>
          </a:xfrm>
          <a:custGeom>
            <a:avLst/>
            <a:gdLst/>
            <a:ahLst/>
            <a:cxnLst/>
            <a:rect l="l" t="t" r="r" b="b"/>
            <a:pathLst>
              <a:path w="6044565" h="0">
                <a:moveTo>
                  <a:pt x="0" y="0"/>
                </a:moveTo>
                <a:lnTo>
                  <a:pt x="6044565" y="0"/>
                </a:lnTo>
              </a:path>
            </a:pathLst>
          </a:custGeom>
          <a:ln w="12673">
            <a:solidFill>
              <a:srgbClr val="22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79450" y="4932934"/>
            <a:ext cx="6044565" cy="0"/>
          </a:xfrm>
          <a:custGeom>
            <a:avLst/>
            <a:gdLst/>
            <a:ahLst/>
            <a:cxnLst/>
            <a:rect l="l" t="t" r="r" b="b"/>
            <a:pathLst>
              <a:path w="6044565" h="0">
                <a:moveTo>
                  <a:pt x="0" y="0"/>
                </a:moveTo>
                <a:lnTo>
                  <a:pt x="6044565" y="0"/>
                </a:lnTo>
              </a:path>
            </a:pathLst>
          </a:custGeom>
          <a:ln w="12673">
            <a:solidFill>
              <a:srgbClr val="221F1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2108" y="1036065"/>
            <a:ext cx="2404745" cy="633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4300" marR="157480" indent="711200">
              <a:lnSpc>
                <a:spcPct val="100000"/>
              </a:lnSpc>
              <a:spcBef>
                <a:spcPts val="95"/>
              </a:spcBef>
            </a:pPr>
            <a:r>
              <a:rPr dirty="0" sz="1000" spc="70" b="1">
                <a:solidFill>
                  <a:srgbClr val="221F1F"/>
                </a:solidFill>
                <a:latin typeface="Times New Roman"/>
                <a:cs typeface="Times New Roman"/>
              </a:rPr>
              <a:t>Appendix</a:t>
            </a:r>
            <a:r>
              <a:rPr dirty="0" sz="1000" spc="254" b="1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40" b="1">
                <a:solidFill>
                  <a:srgbClr val="221F1F"/>
                </a:solidFill>
                <a:latin typeface="Times New Roman"/>
                <a:cs typeface="Times New Roman"/>
              </a:rPr>
              <a:t>B </a:t>
            </a:r>
            <a:r>
              <a:rPr dirty="0" sz="1000" spc="65" b="1">
                <a:solidFill>
                  <a:srgbClr val="221F1F"/>
                </a:solidFill>
                <a:latin typeface="Times New Roman"/>
                <a:cs typeface="Times New Roman"/>
              </a:rPr>
              <a:t>Additional</a:t>
            </a:r>
            <a:r>
              <a:rPr dirty="0" sz="1000" spc="40" b="1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65" b="1">
                <a:solidFill>
                  <a:srgbClr val="221F1F"/>
                </a:solidFill>
                <a:latin typeface="Times New Roman"/>
                <a:cs typeface="Times New Roman"/>
              </a:rPr>
              <a:t>Suggested</a:t>
            </a:r>
            <a:r>
              <a:rPr dirty="0" sz="1000" spc="55" b="1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65" b="1">
                <a:solidFill>
                  <a:srgbClr val="221F1F"/>
                </a:solidFill>
                <a:latin typeface="Times New Roman"/>
                <a:cs typeface="Times New Roman"/>
              </a:rPr>
              <a:t>Readings</a:t>
            </a:r>
            <a:r>
              <a:rPr dirty="0" sz="1000" spc="50" b="1">
                <a:solidFill>
                  <a:srgbClr val="221F1F"/>
                </a:solidFill>
                <a:latin typeface="Times New Roman"/>
                <a:cs typeface="Times New Roman"/>
              </a:rPr>
              <a:t> on</a:t>
            </a:r>
            <a:endParaRPr sz="1000">
              <a:latin typeface="Times New Roman"/>
              <a:cs typeface="Times New Roman"/>
            </a:endParaRPr>
          </a:p>
          <a:p>
            <a:pPr marL="601980">
              <a:lnSpc>
                <a:spcPts val="1190"/>
              </a:lnSpc>
            </a:pPr>
            <a:r>
              <a:rPr dirty="0" sz="1000" spc="55" b="1">
                <a:solidFill>
                  <a:srgbClr val="221F1F"/>
                </a:solidFill>
                <a:latin typeface="Times New Roman"/>
                <a:cs typeface="Times New Roman"/>
              </a:rPr>
              <a:t>Literature</a:t>
            </a:r>
            <a:r>
              <a:rPr dirty="0" sz="1000" spc="30" b="1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45" b="1">
                <a:solidFill>
                  <a:srgbClr val="221F1F"/>
                </a:solidFill>
                <a:latin typeface="Times New Roman"/>
                <a:cs typeface="Times New Roman"/>
              </a:rPr>
              <a:t>Reviews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Compiled</a:t>
            </a:r>
            <a:r>
              <a:rPr dirty="0" sz="1000" spc="1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by</a:t>
            </a:r>
            <a:r>
              <a:rPr dirty="0" sz="1000" spc="1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Alan</a:t>
            </a:r>
            <a:r>
              <a:rPr dirty="0" sz="1000" spc="1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Adams,</a:t>
            </a:r>
            <a:r>
              <a:rPr dirty="0" sz="1000" spc="21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DC,</a:t>
            </a:r>
            <a:r>
              <a:rPr dirty="0" sz="1000" spc="1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MS,</a:t>
            </a:r>
            <a:r>
              <a:rPr dirty="0" sz="1000" spc="2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21F1F"/>
                </a:solidFill>
                <a:latin typeface="Times New Roman"/>
                <a:cs typeface="Times New Roman"/>
              </a:rPr>
              <a:t>MSEd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9008" y="1761489"/>
            <a:ext cx="4000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40" b="1">
                <a:solidFill>
                  <a:srgbClr val="221F1F"/>
                </a:solidFill>
                <a:latin typeface="Times New Roman"/>
                <a:cs typeface="Times New Roman"/>
              </a:rPr>
              <a:t>Books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9008" y="2052574"/>
            <a:ext cx="2969260" cy="4881880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algn="just" marL="139065" marR="5080" indent="-127000">
              <a:lnSpc>
                <a:spcPts val="1190"/>
              </a:lnSpc>
              <a:spcBef>
                <a:spcPts val="145"/>
              </a:spcBef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Chalmers</a:t>
            </a:r>
            <a:r>
              <a:rPr dirty="0" sz="1000" spc="4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I,</a:t>
            </a:r>
            <a:r>
              <a:rPr dirty="0" sz="1000" spc="409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Altman</a:t>
            </a:r>
            <a:r>
              <a:rPr dirty="0" sz="1000" spc="43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DG.</a:t>
            </a:r>
            <a:r>
              <a:rPr dirty="0" sz="1000" spc="4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Systematic</a:t>
            </a:r>
            <a:r>
              <a:rPr dirty="0" sz="1000" spc="4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reviews.</a:t>
            </a:r>
            <a:r>
              <a:rPr dirty="0" sz="1000" spc="409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30">
                <a:solidFill>
                  <a:srgbClr val="221F1F"/>
                </a:solidFill>
                <a:latin typeface="Times New Roman"/>
                <a:cs typeface="Times New Roman"/>
              </a:rPr>
              <a:t>Lon-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don:</a:t>
            </a:r>
            <a:r>
              <a:rPr dirty="0" sz="1000" spc="1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55">
                <a:solidFill>
                  <a:srgbClr val="221F1F"/>
                </a:solidFill>
                <a:latin typeface="Times New Roman"/>
                <a:cs typeface="Times New Roman"/>
              </a:rPr>
              <a:t>BMJ</a:t>
            </a:r>
            <a:r>
              <a:rPr dirty="0" sz="1000" spc="13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Publishing</a:t>
            </a:r>
            <a:r>
              <a:rPr dirty="0" sz="1000" spc="1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Group;</a:t>
            </a:r>
            <a:r>
              <a:rPr dirty="0" sz="1000" spc="1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1995.</a:t>
            </a:r>
            <a:endParaRPr sz="1000">
              <a:latin typeface="Times New Roman"/>
              <a:cs typeface="Times New Roman"/>
            </a:endParaRPr>
          </a:p>
          <a:p>
            <a:pPr algn="just" marL="139065" indent="-127000">
              <a:lnSpc>
                <a:spcPts val="1160"/>
              </a:lnSpc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Cooper</a:t>
            </a:r>
            <a:r>
              <a:rPr dirty="0" sz="1000" spc="41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H,</a:t>
            </a:r>
            <a:r>
              <a:rPr dirty="0" sz="1000" spc="4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Hedges</a:t>
            </a:r>
            <a:r>
              <a:rPr dirty="0" sz="1000" spc="3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LV.</a:t>
            </a:r>
            <a:r>
              <a:rPr dirty="0" sz="1000" spc="4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dirty="0" sz="1000" spc="3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handbook</a:t>
            </a:r>
            <a:r>
              <a:rPr dirty="0" sz="1000" spc="40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1000" spc="4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research</a:t>
            </a:r>
            <a:endParaRPr sz="1000">
              <a:latin typeface="Times New Roman"/>
              <a:cs typeface="Times New Roman"/>
            </a:endParaRPr>
          </a:p>
          <a:p>
            <a:pPr algn="just" marL="139065" marR="11430">
              <a:lnSpc>
                <a:spcPct val="100000"/>
              </a:lnSpc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synthesis.</a:t>
            </a:r>
            <a:r>
              <a:rPr dirty="0" sz="1000" spc="14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New</a:t>
            </a:r>
            <a:r>
              <a:rPr dirty="0" sz="1000" spc="14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York:</a:t>
            </a:r>
            <a:r>
              <a:rPr dirty="0" sz="1000" spc="14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Russell</a:t>
            </a:r>
            <a:r>
              <a:rPr dirty="0" sz="1000" spc="14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Sage</a:t>
            </a:r>
            <a:r>
              <a:rPr dirty="0" sz="1000" spc="14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Foundation; 1994.</a:t>
            </a:r>
            <a:endParaRPr sz="1000">
              <a:latin typeface="Times New Roman"/>
              <a:cs typeface="Times New Roman"/>
            </a:endParaRPr>
          </a:p>
          <a:p>
            <a:pPr algn="just" marL="139065" marR="6350" indent="-127000">
              <a:lnSpc>
                <a:spcPts val="1190"/>
              </a:lnSpc>
              <a:spcBef>
                <a:spcPts val="35"/>
              </a:spcBef>
            </a:pP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Cooper</a:t>
            </a:r>
            <a:r>
              <a:rPr dirty="0" sz="1000" spc="2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H.</a:t>
            </a:r>
            <a:r>
              <a:rPr dirty="0" sz="1000" spc="2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Synthesizing</a:t>
            </a:r>
            <a:r>
              <a:rPr dirty="0" sz="1000" spc="2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research:</a:t>
            </a:r>
            <a:r>
              <a:rPr dirty="0" sz="1000" spc="2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a</a:t>
            </a:r>
            <a:r>
              <a:rPr dirty="0" sz="1000" spc="2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guide</a:t>
            </a:r>
            <a:r>
              <a:rPr dirty="0" sz="1000" spc="2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for</a:t>
            </a:r>
            <a:r>
              <a:rPr dirty="0" sz="1000" spc="2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litera-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ture</a:t>
            </a:r>
            <a:r>
              <a:rPr dirty="0" sz="1000" spc="2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reviews.</a:t>
            </a:r>
            <a:r>
              <a:rPr dirty="0" sz="1000" spc="20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3rd</a:t>
            </a:r>
            <a:r>
              <a:rPr dirty="0" sz="1000" spc="2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ed.</a:t>
            </a:r>
            <a:r>
              <a:rPr dirty="0" sz="1000" spc="21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Thousand</a:t>
            </a:r>
            <a:r>
              <a:rPr dirty="0" sz="1000" spc="21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Oaks:</a:t>
            </a:r>
            <a:r>
              <a:rPr dirty="0" sz="1000" spc="2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Sage</a:t>
            </a:r>
            <a:r>
              <a:rPr dirty="0" sz="1000" spc="2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Publi-</a:t>
            </a:r>
            <a:endParaRPr sz="1000">
              <a:latin typeface="Times New Roman"/>
              <a:cs typeface="Times New Roman"/>
            </a:endParaRPr>
          </a:p>
          <a:p>
            <a:pPr algn="just" marL="139065">
              <a:lnSpc>
                <a:spcPts val="1155"/>
              </a:lnSpc>
            </a:pP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cations;</a:t>
            </a:r>
            <a:r>
              <a:rPr dirty="0" sz="1000" spc="21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1998.</a:t>
            </a:r>
            <a:endParaRPr sz="1000">
              <a:latin typeface="Times New Roman"/>
              <a:cs typeface="Times New Roman"/>
            </a:endParaRPr>
          </a:p>
          <a:p>
            <a:pPr algn="just" marL="139065" marR="5080" indent="-127000">
              <a:lnSpc>
                <a:spcPct val="99500"/>
              </a:lnSpc>
            </a:pP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Fink</a:t>
            </a:r>
            <a:r>
              <a:rPr dirty="0" sz="1000" spc="8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A.</a:t>
            </a:r>
            <a:r>
              <a:rPr dirty="0" sz="1000" spc="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Conducting</a:t>
            </a:r>
            <a:r>
              <a:rPr dirty="0" sz="1000" spc="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research</a:t>
            </a:r>
            <a:r>
              <a:rPr dirty="0" sz="1000" spc="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literature</a:t>
            </a:r>
            <a:r>
              <a:rPr dirty="0" sz="1000" spc="5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reviews:</a:t>
            </a:r>
            <a:r>
              <a:rPr dirty="0" sz="1000" spc="3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21F1F"/>
                </a:solidFill>
                <a:latin typeface="Times New Roman"/>
                <a:cs typeface="Times New Roman"/>
              </a:rPr>
              <a:t>from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paper</a:t>
            </a:r>
            <a:r>
              <a:rPr dirty="0" sz="1000" spc="254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to</a:t>
            </a:r>
            <a:r>
              <a:rPr dirty="0" sz="1000" spc="26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dirty="0" sz="1000" spc="25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internet.</a:t>
            </a:r>
            <a:r>
              <a:rPr dirty="0" sz="1000" spc="254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Thousand</a:t>
            </a:r>
            <a:r>
              <a:rPr dirty="0" sz="1000" spc="26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Oaks:</a:t>
            </a:r>
            <a:r>
              <a:rPr dirty="0" sz="1000" spc="25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20">
                <a:solidFill>
                  <a:srgbClr val="221F1F"/>
                </a:solidFill>
                <a:latin typeface="Times New Roman"/>
                <a:cs typeface="Times New Roman"/>
              </a:rPr>
              <a:t>Sage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Publications;</a:t>
            </a:r>
            <a:r>
              <a:rPr dirty="0" sz="1000" spc="229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1998.</a:t>
            </a:r>
            <a:endParaRPr sz="1000">
              <a:latin typeface="Times New Roman"/>
              <a:cs typeface="Times New Roman"/>
            </a:endParaRPr>
          </a:p>
          <a:p>
            <a:pPr algn="just" marL="139065" marR="10795" indent="-127000">
              <a:lnSpc>
                <a:spcPct val="99500"/>
              </a:lnSpc>
              <a:spcBef>
                <a:spcPts val="5"/>
              </a:spcBef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Garrard</a:t>
            </a:r>
            <a:r>
              <a:rPr dirty="0" sz="1000" spc="4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J.</a:t>
            </a:r>
            <a:r>
              <a:rPr dirty="0" sz="1000" spc="12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Health</a:t>
            </a:r>
            <a:r>
              <a:rPr dirty="0" sz="1000" spc="12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sciences</a:t>
            </a:r>
            <a:r>
              <a:rPr dirty="0" sz="1000" spc="12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literature</a:t>
            </a:r>
            <a:r>
              <a:rPr dirty="0" sz="1000" spc="48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review</a:t>
            </a:r>
            <a:r>
              <a:rPr dirty="0" sz="1000" spc="4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21F1F"/>
                </a:solidFill>
                <a:latin typeface="Times New Roman"/>
                <a:cs typeface="Times New Roman"/>
              </a:rPr>
              <a:t>made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easy:</a:t>
            </a:r>
            <a:r>
              <a:rPr dirty="0" sz="1000" spc="20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dirty="0" sz="1000" spc="204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matrix</a:t>
            </a:r>
            <a:r>
              <a:rPr dirty="0" sz="1000" spc="21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method.</a:t>
            </a:r>
            <a:r>
              <a:rPr dirty="0" sz="1000" spc="21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Gaithersburg:</a:t>
            </a:r>
            <a:r>
              <a:rPr dirty="0" sz="1000" spc="204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20">
                <a:solidFill>
                  <a:srgbClr val="221F1F"/>
                </a:solidFill>
                <a:latin typeface="Times New Roman"/>
                <a:cs typeface="Times New Roman"/>
              </a:rPr>
              <a:t>Aspen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Publications;</a:t>
            </a:r>
            <a:r>
              <a:rPr dirty="0" sz="1000" spc="229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1999.</a:t>
            </a:r>
            <a:endParaRPr sz="1000">
              <a:latin typeface="Times New Roman"/>
              <a:cs typeface="Times New Roman"/>
            </a:endParaRPr>
          </a:p>
          <a:p>
            <a:pPr algn="just" marL="139065" marR="5715" indent="-127000">
              <a:lnSpc>
                <a:spcPct val="99400"/>
              </a:lnSpc>
              <a:spcBef>
                <a:spcPts val="10"/>
              </a:spcBef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Goodman C. Literature searching and evidence 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in-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terpretation</a:t>
            </a:r>
            <a:r>
              <a:rPr dirty="0" sz="1000" spc="27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for</a:t>
            </a:r>
            <a:r>
              <a:rPr dirty="0" sz="1000" spc="27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assessing</a:t>
            </a:r>
            <a:r>
              <a:rPr dirty="0" sz="1000" spc="27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healthcare</a:t>
            </a:r>
            <a:r>
              <a:rPr dirty="0" sz="1000" spc="29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practices.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Stockholm: SBU: The Swedish Council on </a:t>
            </a:r>
            <a:r>
              <a:rPr dirty="0" sz="1000" spc="-20">
                <a:solidFill>
                  <a:srgbClr val="221F1F"/>
                </a:solidFill>
                <a:latin typeface="Times New Roman"/>
                <a:cs typeface="Times New Roman"/>
              </a:rPr>
              <a:t>Tech-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nology</a:t>
            </a:r>
            <a:r>
              <a:rPr dirty="0" sz="1000" spc="1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Assessment</a:t>
            </a:r>
            <a:r>
              <a:rPr dirty="0" sz="1000" spc="1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in</a:t>
            </a:r>
            <a:r>
              <a:rPr dirty="0" sz="1000" spc="1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Healthcare;</a:t>
            </a:r>
            <a:r>
              <a:rPr dirty="0" sz="1000" spc="1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1993.</a:t>
            </a:r>
            <a:endParaRPr sz="1000">
              <a:latin typeface="Times New Roman"/>
              <a:cs typeface="Times New Roman"/>
            </a:endParaRPr>
          </a:p>
          <a:p>
            <a:pPr algn="just" marL="139065" marR="6985" indent="-127000">
              <a:lnSpc>
                <a:spcPct val="99500"/>
              </a:lnSpc>
              <a:spcBef>
                <a:spcPts val="5"/>
              </a:spcBef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Light</a:t>
            </a:r>
            <a:r>
              <a:rPr dirty="0" sz="1000" spc="27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RJ,</a:t>
            </a:r>
            <a:r>
              <a:rPr dirty="0" sz="1000" spc="2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Pillemer</a:t>
            </a:r>
            <a:r>
              <a:rPr dirty="0" sz="1000" spc="2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DB.</a:t>
            </a:r>
            <a:r>
              <a:rPr dirty="0" sz="1000" spc="2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Summing</a:t>
            </a:r>
            <a:r>
              <a:rPr dirty="0" sz="1000" spc="27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up:</a:t>
            </a:r>
            <a:r>
              <a:rPr dirty="0" sz="1000" spc="2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dirty="0" sz="1000" spc="28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science</a:t>
            </a:r>
            <a:r>
              <a:rPr dirty="0" sz="1000" spc="2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of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reviewing</a:t>
            </a:r>
            <a:r>
              <a:rPr dirty="0" sz="1000" spc="7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research.</a:t>
            </a:r>
            <a:r>
              <a:rPr dirty="0" sz="1000" spc="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Cambridge:</a:t>
            </a:r>
            <a:r>
              <a:rPr dirty="0" sz="1000" spc="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Harvard</a:t>
            </a:r>
            <a:r>
              <a:rPr dirty="0" sz="1000" spc="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Univer-</a:t>
            </a:r>
            <a:r>
              <a:rPr dirty="0" sz="1000" spc="11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21F1F"/>
                </a:solidFill>
                <a:latin typeface="Times New Roman"/>
                <a:cs typeface="Times New Roman"/>
              </a:rPr>
              <a:t>sity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Press;</a:t>
            </a:r>
            <a:r>
              <a:rPr dirty="0" sz="1000" spc="10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1984.</a:t>
            </a:r>
            <a:endParaRPr sz="1000">
              <a:latin typeface="Times New Roman"/>
              <a:cs typeface="Times New Roman"/>
            </a:endParaRPr>
          </a:p>
          <a:p>
            <a:pPr algn="just" marL="139065" marR="7620" indent="-127000">
              <a:lnSpc>
                <a:spcPts val="1200"/>
              </a:lnSpc>
              <a:spcBef>
                <a:spcPts val="30"/>
              </a:spcBef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Mulrow</a:t>
            </a:r>
            <a:r>
              <a:rPr dirty="0" sz="1000" spc="229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C,</a:t>
            </a:r>
            <a:r>
              <a:rPr dirty="0" sz="1000" spc="2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Cook</a:t>
            </a:r>
            <a:r>
              <a:rPr dirty="0" sz="1000" spc="2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D.</a:t>
            </a:r>
            <a:r>
              <a:rPr dirty="0" sz="1000" spc="2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Systematic</a:t>
            </a:r>
            <a:r>
              <a:rPr dirty="0" sz="1000" spc="2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reviews:</a:t>
            </a:r>
            <a:r>
              <a:rPr dirty="0" sz="1000" spc="2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synthesis</a:t>
            </a:r>
            <a:r>
              <a:rPr dirty="0" sz="1000" spc="2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of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best</a:t>
            </a:r>
            <a:r>
              <a:rPr dirty="0" sz="1000" spc="4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evidence</a:t>
            </a:r>
            <a:r>
              <a:rPr dirty="0" sz="1000" spc="4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for</a:t>
            </a:r>
            <a:r>
              <a:rPr dirty="0" sz="1000" spc="5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healthcare</a:t>
            </a:r>
            <a:r>
              <a:rPr dirty="0" sz="1000" spc="4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decisions.</a:t>
            </a:r>
            <a:r>
              <a:rPr dirty="0" sz="1000" spc="5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Philadel-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phia:</a:t>
            </a:r>
            <a:r>
              <a:rPr dirty="0" sz="1000" spc="1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American</a:t>
            </a:r>
            <a:r>
              <a:rPr dirty="0" sz="1000" spc="1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College</a:t>
            </a:r>
            <a:r>
              <a:rPr dirty="0" sz="1000" spc="1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1000" spc="13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Physicians;</a:t>
            </a:r>
            <a:r>
              <a:rPr dirty="0" sz="1000" spc="1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21F1F"/>
                </a:solidFill>
                <a:latin typeface="Times New Roman"/>
                <a:cs typeface="Times New Roman"/>
              </a:rPr>
              <a:t>1998.</a:t>
            </a:r>
            <a:endParaRPr sz="1000">
              <a:latin typeface="Times New Roman"/>
              <a:cs typeface="Times New Roman"/>
            </a:endParaRPr>
          </a:p>
          <a:p>
            <a:pPr algn="just" marL="12700">
              <a:lnSpc>
                <a:spcPts val="1140"/>
              </a:lnSpc>
            </a:pPr>
            <a:r>
              <a:rPr dirty="0" sz="1000" spc="55">
                <a:solidFill>
                  <a:srgbClr val="221F1F"/>
                </a:solidFill>
                <a:latin typeface="Times New Roman"/>
                <a:cs typeface="Times New Roman"/>
              </a:rPr>
              <a:t>NHS</a:t>
            </a:r>
            <a:r>
              <a:rPr dirty="0" sz="1000" spc="1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Center</a:t>
            </a:r>
            <a:r>
              <a:rPr dirty="0" sz="1000" spc="1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for</a:t>
            </a:r>
            <a:r>
              <a:rPr dirty="0" sz="1000" spc="1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Reviews</a:t>
            </a:r>
            <a:r>
              <a:rPr dirty="0" sz="1000" spc="1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1000" spc="1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Dissemination.</a:t>
            </a:r>
            <a:r>
              <a:rPr dirty="0" sz="1000" spc="1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Under-</a:t>
            </a:r>
            <a:endParaRPr sz="1000">
              <a:latin typeface="Times New Roman"/>
              <a:cs typeface="Times New Roman"/>
            </a:endParaRPr>
          </a:p>
          <a:p>
            <a:pPr algn="just" marL="139065" marR="6350">
              <a:lnSpc>
                <a:spcPct val="99500"/>
              </a:lnSpc>
            </a:pP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taking Systematic Reviews of Research on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Effec-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tiveness:</a:t>
            </a:r>
            <a:r>
              <a:rPr dirty="0" sz="1000" spc="2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55">
                <a:solidFill>
                  <a:srgbClr val="221F1F"/>
                </a:solidFill>
                <a:latin typeface="Times New Roman"/>
                <a:cs typeface="Times New Roman"/>
              </a:rPr>
              <a:t>CRD</a:t>
            </a:r>
            <a:r>
              <a:rPr dirty="0" sz="1000" spc="21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Guidelines</a:t>
            </a:r>
            <a:r>
              <a:rPr dirty="0" sz="1000" spc="21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for</a:t>
            </a:r>
            <a:r>
              <a:rPr dirty="0" sz="1000" spc="2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Those</a:t>
            </a:r>
            <a:r>
              <a:rPr dirty="0" sz="1000" spc="2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Carrying</a:t>
            </a:r>
            <a:r>
              <a:rPr dirty="0" sz="1000" spc="2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Out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or</a:t>
            </a:r>
            <a:r>
              <a:rPr dirty="0" sz="1000" spc="18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Commissioning</a:t>
            </a:r>
            <a:r>
              <a:rPr dirty="0" sz="1000" spc="2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Reviews.</a:t>
            </a:r>
            <a:r>
              <a:rPr dirty="0" sz="1000" spc="1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60">
                <a:solidFill>
                  <a:srgbClr val="221F1F"/>
                </a:solidFill>
                <a:latin typeface="Times New Roman"/>
                <a:cs typeface="Times New Roman"/>
              </a:rPr>
              <a:t>CRD</a:t>
            </a:r>
            <a:r>
              <a:rPr dirty="0" sz="1000" spc="1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Report</a:t>
            </a:r>
            <a:r>
              <a:rPr dirty="0" sz="1000" spc="17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4,</a:t>
            </a:r>
            <a:r>
              <a:rPr dirty="0" sz="1000" spc="1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30">
                <a:solidFill>
                  <a:srgbClr val="221F1F"/>
                </a:solidFill>
                <a:latin typeface="Times New Roman"/>
                <a:cs typeface="Times New Roman"/>
              </a:rPr>
              <a:t>NHS</a:t>
            </a:r>
            <a:endParaRPr sz="1000">
              <a:latin typeface="Times New Roman"/>
              <a:cs typeface="Times New Roman"/>
            </a:endParaRPr>
          </a:p>
          <a:p>
            <a:pPr algn="just" marL="12700" marR="5715" indent="126364">
              <a:lnSpc>
                <a:spcPct val="100000"/>
              </a:lnSpc>
            </a:pPr>
            <a:r>
              <a:rPr dirty="0" sz="1000" spc="50">
                <a:solidFill>
                  <a:srgbClr val="221F1F"/>
                </a:solidFill>
                <a:latin typeface="Times New Roman"/>
                <a:cs typeface="Times New Roman"/>
              </a:rPr>
              <a:t>CRD,</a:t>
            </a:r>
            <a:r>
              <a:rPr dirty="0" sz="1000" spc="1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University</a:t>
            </a:r>
            <a:r>
              <a:rPr dirty="0" sz="1000" spc="13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1000" spc="1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York,</a:t>
            </a:r>
            <a:r>
              <a:rPr dirty="0" sz="1000" spc="1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York,</a:t>
            </a:r>
            <a:r>
              <a:rPr dirty="0" sz="1000" spc="1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221F1F"/>
                </a:solidFill>
                <a:latin typeface="Times New Roman"/>
                <a:cs typeface="Times New Roman"/>
              </a:rPr>
              <a:t>UK;</a:t>
            </a:r>
            <a:r>
              <a:rPr dirty="0" sz="1000" spc="11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1996.</a:t>
            </a:r>
            <a:r>
              <a:rPr dirty="0" sz="1000" spc="5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Oxman</a:t>
            </a:r>
            <a:r>
              <a:rPr dirty="0" sz="1000" spc="1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AD.</a:t>
            </a:r>
            <a:r>
              <a:rPr dirty="0" sz="1000" spc="1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dirty="0" sz="1000" spc="1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Cochrane</a:t>
            </a:r>
            <a:r>
              <a:rPr dirty="0" sz="1000" spc="1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Collaboration</a:t>
            </a:r>
            <a:r>
              <a:rPr dirty="0" sz="1000" spc="1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handbook:</a:t>
            </a:r>
            <a:endParaRPr sz="1000">
              <a:latin typeface="Times New Roman"/>
              <a:cs typeface="Times New Roman"/>
            </a:endParaRPr>
          </a:p>
          <a:p>
            <a:pPr algn="just" marL="139065" marR="10160">
              <a:lnSpc>
                <a:spcPts val="1200"/>
              </a:lnSpc>
              <a:spcBef>
                <a:spcPts val="30"/>
              </a:spcBef>
            </a:pP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preparing</a:t>
            </a:r>
            <a:r>
              <a:rPr dirty="0" sz="1000" spc="1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1000" spc="13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maintaining</a:t>
            </a:r>
            <a:r>
              <a:rPr dirty="0" sz="1000" spc="1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systematic</a:t>
            </a:r>
            <a:r>
              <a:rPr dirty="0" sz="1000" spc="10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reviews.</a:t>
            </a:r>
            <a:r>
              <a:rPr dirty="0" sz="1000" spc="11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2nd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ed.</a:t>
            </a:r>
            <a:r>
              <a:rPr dirty="0" sz="1000" spc="1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Oxford:</a:t>
            </a:r>
            <a:r>
              <a:rPr dirty="0" sz="1000" spc="15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Cochrane</a:t>
            </a:r>
            <a:r>
              <a:rPr dirty="0" sz="1000" spc="1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Collaboration;</a:t>
            </a:r>
            <a:r>
              <a:rPr dirty="0" sz="1000" spc="15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1996.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8" y="7021830"/>
            <a:ext cx="10255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65" b="1">
                <a:solidFill>
                  <a:srgbClr val="221F1F"/>
                </a:solidFill>
                <a:latin typeface="Times New Roman"/>
                <a:cs typeface="Times New Roman"/>
              </a:rPr>
              <a:t>Journal</a:t>
            </a:r>
            <a:r>
              <a:rPr dirty="0" sz="1000" spc="50" b="1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35" b="1">
                <a:solidFill>
                  <a:srgbClr val="221F1F"/>
                </a:solidFill>
                <a:latin typeface="Times New Roman"/>
                <a:cs typeface="Times New Roman"/>
              </a:rPr>
              <a:t>Articles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9008" y="7309866"/>
            <a:ext cx="296545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9065" marR="5080" indent="-1270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Abramson</a:t>
            </a:r>
            <a:r>
              <a:rPr dirty="0" sz="1000" spc="3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JH.</a:t>
            </a:r>
            <a:r>
              <a:rPr dirty="0" sz="1000" spc="37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Meta-analysis:</a:t>
            </a:r>
            <a:r>
              <a:rPr dirty="0" sz="1000" spc="3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</a:t>
            </a:r>
            <a:r>
              <a:rPr dirty="0" sz="1000" spc="3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review</a:t>
            </a:r>
            <a:r>
              <a:rPr dirty="0" sz="1000" spc="3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1000" spc="3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pros</a:t>
            </a:r>
            <a:r>
              <a:rPr dirty="0" sz="1000" spc="3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and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cons.</a:t>
            </a:r>
            <a:r>
              <a:rPr dirty="0" sz="1000" spc="33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Public</a:t>
            </a:r>
            <a:r>
              <a:rPr dirty="0" sz="1000" spc="3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Health</a:t>
            </a:r>
            <a:r>
              <a:rPr dirty="0" sz="1000" spc="3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Rev</a:t>
            </a:r>
            <a:r>
              <a:rPr dirty="0" sz="1000" spc="3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221F1F"/>
                </a:solidFill>
                <a:latin typeface="Times New Roman"/>
                <a:cs typeface="Times New Roman"/>
              </a:rPr>
              <a:t>1990–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91;18(1):1–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47.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04030" y="1036065"/>
            <a:ext cx="2969895" cy="660400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39065" marR="5080" indent="-127000">
              <a:lnSpc>
                <a:spcPct val="101699"/>
              </a:lnSpc>
              <a:spcBef>
                <a:spcPts val="75"/>
              </a:spcBef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Clark</a:t>
            </a:r>
            <a:r>
              <a:rPr dirty="0" sz="1000" spc="4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MJ,</a:t>
            </a:r>
            <a:r>
              <a:rPr dirty="0" sz="1000" spc="5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Stewart</a:t>
            </a:r>
            <a:r>
              <a:rPr dirty="0" sz="1000" spc="4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LA.</a:t>
            </a:r>
            <a:r>
              <a:rPr dirty="0" sz="1000" spc="5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Obtaining</a:t>
            </a:r>
            <a:r>
              <a:rPr dirty="0" sz="1000" spc="4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data</a:t>
            </a:r>
            <a:r>
              <a:rPr dirty="0" sz="1000" spc="4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from</a:t>
            </a:r>
            <a:r>
              <a:rPr dirty="0" sz="1000" spc="48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21F1F"/>
                </a:solidFill>
                <a:latin typeface="Times New Roman"/>
                <a:cs typeface="Times New Roman"/>
              </a:rPr>
              <a:t>ran-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domised</a:t>
            </a:r>
            <a:r>
              <a:rPr dirty="0" sz="1000" spc="3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controlled</a:t>
            </a:r>
            <a:r>
              <a:rPr dirty="0" sz="1000" spc="3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trials:</a:t>
            </a:r>
            <a:r>
              <a:rPr dirty="0" sz="1000" spc="3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how</a:t>
            </a:r>
            <a:r>
              <a:rPr dirty="0" sz="1000" spc="31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much</a:t>
            </a:r>
            <a:r>
              <a:rPr dirty="0" sz="1000" spc="33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do</a:t>
            </a:r>
            <a:r>
              <a:rPr dirty="0" sz="1000" spc="3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we</a:t>
            </a:r>
            <a:r>
              <a:rPr dirty="0" sz="1000" spc="3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21F1F"/>
                </a:solidFill>
                <a:latin typeface="Times New Roman"/>
                <a:cs typeface="Times New Roman"/>
              </a:rPr>
              <a:t>need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for</a:t>
            </a:r>
            <a:r>
              <a:rPr dirty="0" sz="1000" spc="3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reliable</a:t>
            </a:r>
            <a:r>
              <a:rPr dirty="0" sz="1000" spc="37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1000" spc="37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informative</a:t>
            </a:r>
            <a:r>
              <a:rPr dirty="0" sz="1000" spc="35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meta-analyses?</a:t>
            </a:r>
            <a:r>
              <a:rPr dirty="0" sz="1000" spc="3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30">
                <a:solidFill>
                  <a:srgbClr val="221F1F"/>
                </a:solidFill>
                <a:latin typeface="Times New Roman"/>
                <a:cs typeface="Times New Roman"/>
              </a:rPr>
              <a:t>BMJ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1994;309:1007–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1010.</a:t>
            </a:r>
            <a:endParaRPr sz="1000">
              <a:latin typeface="Times New Roman"/>
              <a:cs typeface="Times New Roman"/>
            </a:endParaRPr>
          </a:p>
          <a:p>
            <a:pPr algn="just" marL="139065" marR="10160" indent="-127000">
              <a:lnSpc>
                <a:spcPct val="101499"/>
              </a:lnSpc>
              <a:spcBef>
                <a:spcPts val="5"/>
              </a:spcBef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Crombie</a:t>
            </a:r>
            <a:r>
              <a:rPr dirty="0" sz="1000" spc="3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IK,</a:t>
            </a:r>
            <a:r>
              <a:rPr dirty="0" sz="1000" spc="3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McQuay</a:t>
            </a:r>
            <a:r>
              <a:rPr dirty="0" sz="1000" spc="4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H.</a:t>
            </a:r>
            <a:r>
              <a:rPr dirty="0" sz="1000" spc="38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dirty="0" sz="1000" spc="3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systematic</a:t>
            </a:r>
            <a:r>
              <a:rPr dirty="0" sz="1000" spc="3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review:</a:t>
            </a:r>
            <a:r>
              <a:rPr dirty="0" sz="1000" spc="37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50">
                <a:solidFill>
                  <a:srgbClr val="221F1F"/>
                </a:solidFill>
                <a:latin typeface="Times New Roman"/>
                <a:cs typeface="Times New Roman"/>
              </a:rPr>
              <a:t>a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 good</a:t>
            </a:r>
            <a:r>
              <a:rPr dirty="0" sz="1000" spc="3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guide</a:t>
            </a:r>
            <a:r>
              <a:rPr dirty="0" sz="1000" spc="3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rather</a:t>
            </a:r>
            <a:r>
              <a:rPr dirty="0" sz="1000" spc="3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than</a:t>
            </a:r>
            <a:r>
              <a:rPr dirty="0" sz="1000" spc="3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guarantee.</a:t>
            </a:r>
            <a:r>
              <a:rPr dirty="0" sz="1000" spc="33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Pain</a:t>
            </a:r>
            <a:r>
              <a:rPr dirty="0" sz="1000" spc="3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1998;</a:t>
            </a:r>
            <a:r>
              <a:rPr dirty="0" sz="1000" spc="3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76: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1–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2.</a:t>
            </a:r>
            <a:endParaRPr sz="1000">
              <a:latin typeface="Times New Roman"/>
              <a:cs typeface="Times New Roman"/>
            </a:endParaRPr>
          </a:p>
          <a:p>
            <a:pPr algn="just" marL="139065" marR="6350" indent="-127000">
              <a:lnSpc>
                <a:spcPct val="102000"/>
              </a:lnSpc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Dickersin</a:t>
            </a:r>
            <a:r>
              <a:rPr dirty="0" sz="1000" spc="37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K,</a:t>
            </a:r>
            <a:r>
              <a:rPr dirty="0" sz="1000" spc="3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Berlin</a:t>
            </a:r>
            <a:r>
              <a:rPr dirty="0" sz="1000" spc="3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JA.</a:t>
            </a:r>
            <a:r>
              <a:rPr dirty="0" sz="1000" spc="3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Meta-analysis:</a:t>
            </a:r>
            <a:r>
              <a:rPr dirty="0" sz="1000" spc="3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state</a:t>
            </a:r>
            <a:r>
              <a:rPr dirty="0" sz="1000" spc="3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1000" spc="38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the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science.</a:t>
            </a:r>
            <a:r>
              <a:rPr dirty="0" sz="1000" spc="1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Epidemiol</a:t>
            </a:r>
            <a:r>
              <a:rPr dirty="0" sz="1000" spc="1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Rev</a:t>
            </a:r>
            <a:r>
              <a:rPr dirty="0" sz="1000" spc="15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45">
                <a:solidFill>
                  <a:srgbClr val="221F1F"/>
                </a:solidFill>
                <a:latin typeface="Times New Roman"/>
                <a:cs typeface="Times New Roman"/>
              </a:rPr>
              <a:t>1992;14:154–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76.</a:t>
            </a:r>
            <a:endParaRPr sz="1000">
              <a:latin typeface="Times New Roman"/>
              <a:cs typeface="Times New Roman"/>
            </a:endParaRPr>
          </a:p>
          <a:p>
            <a:pPr algn="just" marL="139065" indent="-127000">
              <a:lnSpc>
                <a:spcPct val="100000"/>
              </a:lnSpc>
              <a:spcBef>
                <a:spcPts val="10"/>
              </a:spcBef>
            </a:pP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Dickersin</a:t>
            </a:r>
            <a:r>
              <a:rPr dirty="0" sz="1000" spc="1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K,</a:t>
            </a:r>
            <a:r>
              <a:rPr dirty="0" sz="1000" spc="1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Scherer</a:t>
            </a:r>
            <a:r>
              <a:rPr dirty="0" sz="1000" spc="2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R,</a:t>
            </a:r>
            <a:r>
              <a:rPr dirty="0" sz="1000" spc="1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LeFebvre</a:t>
            </a:r>
            <a:r>
              <a:rPr dirty="0" sz="1000" spc="17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C.</a:t>
            </a:r>
            <a:r>
              <a:rPr dirty="0" sz="1000" spc="1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Identifying</a:t>
            </a:r>
            <a:r>
              <a:rPr dirty="0" sz="1000" spc="1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21F1F"/>
                </a:solidFill>
                <a:latin typeface="Times New Roman"/>
                <a:cs typeface="Times New Roman"/>
              </a:rPr>
              <a:t>rel-</a:t>
            </a:r>
            <a:endParaRPr sz="1000">
              <a:latin typeface="Times New Roman"/>
              <a:cs typeface="Times New Roman"/>
            </a:endParaRPr>
          </a:p>
          <a:p>
            <a:pPr algn="just" marL="139065" marR="9525">
              <a:lnSpc>
                <a:spcPct val="101200"/>
              </a:lnSpc>
              <a:spcBef>
                <a:spcPts val="10"/>
              </a:spcBef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evant</a:t>
            </a:r>
            <a:r>
              <a:rPr dirty="0" sz="1000" spc="3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studies</a:t>
            </a:r>
            <a:r>
              <a:rPr dirty="0" sz="1000" spc="35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for</a:t>
            </a:r>
            <a:r>
              <a:rPr dirty="0" sz="1000" spc="3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systematic</a:t>
            </a:r>
            <a:r>
              <a:rPr dirty="0" sz="1000" spc="3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reviews.</a:t>
            </a:r>
            <a:r>
              <a:rPr dirty="0" sz="1000" spc="3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60">
                <a:solidFill>
                  <a:srgbClr val="221F1F"/>
                </a:solidFill>
                <a:latin typeface="Times New Roman"/>
                <a:cs typeface="Times New Roman"/>
              </a:rPr>
              <a:t>BMJ</a:t>
            </a:r>
            <a:r>
              <a:rPr dirty="0" sz="1000" spc="3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1994;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309:1286–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91.</a:t>
            </a:r>
            <a:endParaRPr sz="1000">
              <a:latin typeface="Times New Roman"/>
              <a:cs typeface="Times New Roman"/>
            </a:endParaRPr>
          </a:p>
          <a:p>
            <a:pPr algn="just" marL="139065" marR="6350" indent="-127000">
              <a:lnSpc>
                <a:spcPct val="101000"/>
              </a:lnSpc>
              <a:spcBef>
                <a:spcPts val="25"/>
              </a:spcBef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de</a:t>
            </a:r>
            <a:r>
              <a:rPr dirty="0" sz="1000" spc="40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Vet</a:t>
            </a:r>
            <a:r>
              <a:rPr dirty="0" sz="1000" spc="40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221F1F"/>
                </a:solidFill>
                <a:latin typeface="Times New Roman"/>
                <a:cs typeface="Times New Roman"/>
              </a:rPr>
              <a:t>HCW.</a:t>
            </a:r>
            <a:r>
              <a:rPr dirty="0" sz="1000" spc="409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Systematic</a:t>
            </a:r>
            <a:r>
              <a:rPr dirty="0" sz="1000" spc="4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reviews</a:t>
            </a:r>
            <a:r>
              <a:rPr dirty="0" sz="1000" spc="3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on</a:t>
            </a:r>
            <a:r>
              <a:rPr dirty="0" sz="1000" spc="3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dirty="0" sz="1000" spc="3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basis</a:t>
            </a:r>
            <a:r>
              <a:rPr dirty="0" sz="1000" spc="38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of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methodological</a:t>
            </a:r>
            <a:r>
              <a:rPr dirty="0" sz="1000" spc="49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criteria.</a:t>
            </a:r>
            <a:r>
              <a:rPr dirty="0" sz="1000" spc="250">
                <a:solidFill>
                  <a:srgbClr val="221F1F"/>
                </a:solidFill>
                <a:latin typeface="Times New Roman"/>
                <a:cs typeface="Times New Roman"/>
              </a:rPr>
              <a:t> 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Physiotherapy</a:t>
            </a:r>
            <a:r>
              <a:rPr dirty="0" sz="1000" spc="250">
                <a:solidFill>
                  <a:srgbClr val="221F1F"/>
                </a:solidFill>
                <a:latin typeface="Times New Roman"/>
                <a:cs typeface="Times New Roman"/>
              </a:rPr>
              <a:t>  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1997;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83(6):284–</a:t>
            </a:r>
            <a:r>
              <a:rPr dirty="0" sz="1000" spc="-20">
                <a:solidFill>
                  <a:srgbClr val="221F1F"/>
                </a:solidFill>
                <a:latin typeface="Times New Roman"/>
                <a:cs typeface="Times New Roman"/>
              </a:rPr>
              <a:t>289.</a:t>
            </a:r>
            <a:endParaRPr sz="1000">
              <a:latin typeface="Times New Roman"/>
              <a:cs typeface="Times New Roman"/>
            </a:endParaRPr>
          </a:p>
          <a:p>
            <a:pPr algn="just" marL="139065" marR="5080" indent="-127000">
              <a:lnSpc>
                <a:spcPct val="100499"/>
              </a:lnSpc>
              <a:spcBef>
                <a:spcPts val="30"/>
              </a:spcBef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Egger</a:t>
            </a:r>
            <a:r>
              <a:rPr dirty="0" sz="1000" spc="4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M,</a:t>
            </a:r>
            <a:r>
              <a:rPr dirty="0" sz="1000" spc="4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Smith</a:t>
            </a:r>
            <a:r>
              <a:rPr dirty="0" sz="1000" spc="459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GD,</a:t>
            </a:r>
            <a:r>
              <a:rPr dirty="0" sz="1000" spc="4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Phillips</a:t>
            </a:r>
            <a:r>
              <a:rPr dirty="0" sz="1000" spc="4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AN.</a:t>
            </a:r>
            <a:r>
              <a:rPr dirty="0" sz="1000" spc="4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221F1F"/>
                </a:solidFill>
                <a:latin typeface="Times New Roman"/>
                <a:cs typeface="Times New Roman"/>
              </a:rPr>
              <a:t>Meta-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analysis: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principles and procedures. </a:t>
            </a:r>
            <a:r>
              <a:rPr dirty="0" sz="1000" spc="55">
                <a:solidFill>
                  <a:srgbClr val="221F1F"/>
                </a:solidFill>
                <a:latin typeface="Times New Roman"/>
                <a:cs typeface="Times New Roman"/>
              </a:rPr>
              <a:t>BMJ</a:t>
            </a:r>
            <a:r>
              <a:rPr dirty="0" sz="1000" spc="5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35">
                <a:solidFill>
                  <a:srgbClr val="221F1F"/>
                </a:solidFill>
                <a:latin typeface="Times New Roman"/>
                <a:cs typeface="Times New Roman"/>
              </a:rPr>
              <a:t>1997;315:1533–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1537.</a:t>
            </a:r>
            <a:endParaRPr sz="1000">
              <a:latin typeface="Times New Roman"/>
              <a:cs typeface="Times New Roman"/>
            </a:endParaRPr>
          </a:p>
          <a:p>
            <a:pPr algn="just" marL="139065" marR="8890" indent="-127000">
              <a:lnSpc>
                <a:spcPts val="1190"/>
              </a:lnSpc>
              <a:spcBef>
                <a:spcPts val="60"/>
              </a:spcBef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Eysenck</a:t>
            </a:r>
            <a:r>
              <a:rPr dirty="0" sz="1000" spc="43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HJ.</a:t>
            </a:r>
            <a:r>
              <a:rPr dirty="0" sz="1000" spc="4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Meta-analysis</a:t>
            </a:r>
            <a:r>
              <a:rPr dirty="0" sz="1000" spc="4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dirty="0" sz="1000" spc="4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its</a:t>
            </a:r>
            <a:r>
              <a:rPr dirty="0" sz="1000" spc="4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problems.</a:t>
            </a:r>
            <a:r>
              <a:rPr dirty="0" sz="1000" spc="4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30">
                <a:solidFill>
                  <a:srgbClr val="221F1F"/>
                </a:solidFill>
                <a:latin typeface="Times New Roman"/>
                <a:cs typeface="Times New Roman"/>
              </a:rPr>
              <a:t>BMJ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1994;309:789–</a:t>
            </a:r>
            <a:r>
              <a:rPr dirty="0" sz="1000" spc="-20">
                <a:solidFill>
                  <a:srgbClr val="221F1F"/>
                </a:solidFill>
                <a:latin typeface="Times New Roman"/>
                <a:cs typeface="Times New Roman"/>
              </a:rPr>
              <a:t>792.</a:t>
            </a:r>
            <a:endParaRPr sz="1000">
              <a:latin typeface="Times New Roman"/>
              <a:cs typeface="Times New Roman"/>
            </a:endParaRPr>
          </a:p>
          <a:p>
            <a:pPr algn="just" marL="139065" marR="5715" indent="-127000">
              <a:lnSpc>
                <a:spcPts val="1190"/>
              </a:lnSpc>
              <a:spcBef>
                <a:spcPts val="10"/>
              </a:spcBef>
            </a:pP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Moher</a:t>
            </a:r>
            <a:r>
              <a:rPr dirty="0" sz="1000" spc="13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D,</a:t>
            </a:r>
            <a:r>
              <a:rPr dirty="0" sz="1000" spc="1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Cook</a:t>
            </a:r>
            <a:r>
              <a:rPr dirty="0" sz="1000" spc="1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DJ,</a:t>
            </a:r>
            <a:r>
              <a:rPr dirty="0" sz="1000" spc="1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Jadad</a:t>
            </a:r>
            <a:r>
              <a:rPr dirty="0" sz="1000" spc="1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AR,</a:t>
            </a:r>
            <a:r>
              <a:rPr dirty="0" sz="1000" spc="1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Tugwell</a:t>
            </a:r>
            <a:r>
              <a:rPr dirty="0" sz="1000" spc="13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P,</a:t>
            </a:r>
            <a:r>
              <a:rPr dirty="0" sz="1000" spc="1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Moher</a:t>
            </a:r>
            <a:r>
              <a:rPr dirty="0" sz="1000" spc="1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M,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Jones</a:t>
            </a:r>
            <a:r>
              <a:rPr dirty="0" sz="1000" spc="21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A,</a:t>
            </a:r>
            <a:r>
              <a:rPr dirty="0" sz="1000" spc="20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et</a:t>
            </a:r>
            <a:r>
              <a:rPr dirty="0" sz="1000" spc="2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al.</a:t>
            </a:r>
            <a:r>
              <a:rPr dirty="0" sz="1000" spc="2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Assessing</a:t>
            </a:r>
            <a:r>
              <a:rPr dirty="0" sz="1000" spc="21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dirty="0" sz="1000" spc="2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quality</a:t>
            </a:r>
            <a:r>
              <a:rPr dirty="0" sz="1000" spc="21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1000" spc="2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reports</a:t>
            </a:r>
            <a:r>
              <a:rPr dirty="0" sz="1000" spc="2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endParaRPr sz="1000">
              <a:latin typeface="Times New Roman"/>
              <a:cs typeface="Times New Roman"/>
            </a:endParaRPr>
          </a:p>
          <a:p>
            <a:pPr algn="just" marL="139065" marR="5080">
              <a:lnSpc>
                <a:spcPts val="1190"/>
              </a:lnSpc>
              <a:spcBef>
                <a:spcPts val="5"/>
              </a:spcBef>
            </a:pP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randomised</a:t>
            </a:r>
            <a:r>
              <a:rPr dirty="0" sz="1000" spc="28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trials:</a:t>
            </a:r>
            <a:r>
              <a:rPr dirty="0" sz="1000" spc="28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implications</a:t>
            </a:r>
            <a:r>
              <a:rPr dirty="0" sz="1000" spc="2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for</a:t>
            </a:r>
            <a:r>
              <a:rPr dirty="0" sz="1000" spc="2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dirty="0" sz="1000" spc="2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conduct</a:t>
            </a:r>
            <a:r>
              <a:rPr dirty="0" sz="1000" spc="27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of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meta-analyses.</a:t>
            </a:r>
            <a:r>
              <a:rPr dirty="0" sz="1000" spc="2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Health</a:t>
            </a:r>
            <a:r>
              <a:rPr dirty="0" sz="1000" spc="229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Technol</a:t>
            </a:r>
            <a:r>
              <a:rPr dirty="0" sz="1000" spc="2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Assess</a:t>
            </a:r>
            <a:r>
              <a:rPr dirty="0" sz="1000" spc="2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1999;3(12):</a:t>
            </a:r>
            <a:r>
              <a:rPr dirty="0" sz="1000" spc="5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i-iv,</a:t>
            </a:r>
            <a:r>
              <a:rPr dirty="0" sz="1000" spc="2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1–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98.</a:t>
            </a:r>
            <a:endParaRPr sz="1000">
              <a:latin typeface="Times New Roman"/>
              <a:cs typeface="Times New Roman"/>
            </a:endParaRPr>
          </a:p>
          <a:p>
            <a:pPr algn="just" marL="139065" indent="-127000">
              <a:lnSpc>
                <a:spcPts val="1160"/>
              </a:lnSpc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Mosteller</a:t>
            </a:r>
            <a:r>
              <a:rPr dirty="0" sz="1000" spc="17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F,</a:t>
            </a:r>
            <a:r>
              <a:rPr dirty="0" sz="1000" spc="17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Colditz</a:t>
            </a:r>
            <a:r>
              <a:rPr dirty="0" sz="1000" spc="16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GA.</a:t>
            </a:r>
            <a:r>
              <a:rPr dirty="0" sz="1000" spc="18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Understanding</a:t>
            </a:r>
            <a:r>
              <a:rPr dirty="0" sz="1000" spc="17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research</a:t>
            </a:r>
            <a:endParaRPr sz="1000">
              <a:latin typeface="Times New Roman"/>
              <a:cs typeface="Times New Roman"/>
            </a:endParaRPr>
          </a:p>
          <a:p>
            <a:pPr algn="just" marL="139065" marR="5715">
              <a:lnSpc>
                <a:spcPts val="1190"/>
              </a:lnSpc>
              <a:spcBef>
                <a:spcPts val="50"/>
              </a:spcBef>
            </a:pP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synthesis</a:t>
            </a:r>
            <a:r>
              <a:rPr dirty="0" sz="1000" spc="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(meta-analysis).</a:t>
            </a:r>
            <a:r>
              <a:rPr dirty="0" sz="1000" spc="13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Annu</a:t>
            </a:r>
            <a:r>
              <a:rPr dirty="0" sz="1000" spc="1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Rev</a:t>
            </a:r>
            <a:r>
              <a:rPr dirty="0" sz="1000" spc="1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20">
                <a:solidFill>
                  <a:srgbClr val="221F1F"/>
                </a:solidFill>
                <a:latin typeface="Times New Roman"/>
                <a:cs typeface="Times New Roman"/>
              </a:rPr>
              <a:t>Public</a:t>
            </a:r>
            <a:r>
              <a:rPr dirty="0" sz="1000" spc="1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Health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1996;17:1–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23.</a:t>
            </a:r>
            <a:endParaRPr sz="1000">
              <a:latin typeface="Times New Roman"/>
              <a:cs typeface="Times New Roman"/>
            </a:endParaRPr>
          </a:p>
          <a:p>
            <a:pPr algn="just" marL="139065" marR="5080" indent="-127000">
              <a:lnSpc>
                <a:spcPts val="1190"/>
              </a:lnSpc>
              <a:spcBef>
                <a:spcPts val="10"/>
              </a:spcBef>
            </a:pP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Mulrow</a:t>
            </a:r>
            <a:r>
              <a:rPr dirty="0" sz="1000" spc="2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CD.</a:t>
            </a:r>
            <a:r>
              <a:rPr dirty="0" sz="1000" spc="2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Rationale</a:t>
            </a:r>
            <a:r>
              <a:rPr dirty="0" sz="1000" spc="2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for</a:t>
            </a:r>
            <a:r>
              <a:rPr dirty="0" sz="1000" spc="2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systematic</a:t>
            </a:r>
            <a:r>
              <a:rPr dirty="0" sz="1000" spc="2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reviews.</a:t>
            </a:r>
            <a:r>
              <a:rPr dirty="0" sz="1000" spc="27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30">
                <a:solidFill>
                  <a:srgbClr val="221F1F"/>
                </a:solidFill>
                <a:latin typeface="Times New Roman"/>
                <a:cs typeface="Times New Roman"/>
              </a:rPr>
              <a:t>BMJ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1994;309:</a:t>
            </a:r>
            <a:r>
              <a:rPr dirty="0" sz="1000" spc="4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597–599.</a:t>
            </a:r>
            <a:r>
              <a:rPr dirty="0" sz="1000" spc="49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Rationale</a:t>
            </a:r>
            <a:r>
              <a:rPr dirty="0" sz="1000" spc="49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for</a:t>
            </a:r>
            <a:r>
              <a:rPr dirty="0" sz="1000" spc="5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systematic</a:t>
            </a:r>
            <a:r>
              <a:rPr dirty="0" sz="1000" spc="5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re-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views.</a:t>
            </a:r>
            <a:r>
              <a:rPr dirty="0" sz="1000" spc="229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Peto</a:t>
            </a:r>
            <a:r>
              <a:rPr dirty="0" sz="1000" spc="2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R.</a:t>
            </a:r>
            <a:r>
              <a:rPr dirty="0" sz="1000" spc="2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Why</a:t>
            </a:r>
            <a:r>
              <a:rPr dirty="0" sz="1000" spc="2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do</a:t>
            </a:r>
            <a:r>
              <a:rPr dirty="0" sz="1000" spc="2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we</a:t>
            </a:r>
            <a:r>
              <a:rPr dirty="0" sz="1000" spc="2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need</a:t>
            </a:r>
            <a:r>
              <a:rPr dirty="0" sz="1000" spc="2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systematic</a:t>
            </a:r>
            <a:r>
              <a:rPr dirty="0" sz="1000" spc="20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221F1F"/>
                </a:solidFill>
                <a:latin typeface="Times New Roman"/>
                <a:cs typeface="Times New Roman"/>
              </a:rPr>
              <a:t>over-</a:t>
            </a:r>
            <a:endParaRPr sz="1000">
              <a:latin typeface="Times New Roman"/>
              <a:cs typeface="Times New Roman"/>
            </a:endParaRPr>
          </a:p>
          <a:p>
            <a:pPr algn="just" marL="139065" marR="10160">
              <a:lnSpc>
                <a:spcPts val="1190"/>
              </a:lnSpc>
              <a:spcBef>
                <a:spcPts val="5"/>
              </a:spcBef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views</a:t>
            </a:r>
            <a:r>
              <a:rPr dirty="0" sz="1000" spc="3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1000" spc="3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randomized</a:t>
            </a:r>
            <a:r>
              <a:rPr dirty="0" sz="1000" spc="35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trials?</a:t>
            </a:r>
            <a:r>
              <a:rPr dirty="0" sz="1000" spc="3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Stat</a:t>
            </a:r>
            <a:r>
              <a:rPr dirty="0" sz="1000" spc="36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Med</a:t>
            </a:r>
            <a:r>
              <a:rPr dirty="0" sz="1000" spc="35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1987;6(3):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233–</a:t>
            </a:r>
            <a:r>
              <a:rPr dirty="0" sz="1000" spc="-20">
                <a:solidFill>
                  <a:srgbClr val="221F1F"/>
                </a:solidFill>
                <a:latin typeface="Times New Roman"/>
                <a:cs typeface="Times New Roman"/>
              </a:rPr>
              <a:t>240.</a:t>
            </a:r>
            <a:endParaRPr sz="1000">
              <a:latin typeface="Times New Roman"/>
              <a:cs typeface="Times New Roman"/>
            </a:endParaRPr>
          </a:p>
          <a:p>
            <a:pPr algn="just" marL="139065" marR="10795" indent="-127000">
              <a:lnSpc>
                <a:spcPts val="1190"/>
              </a:lnSpc>
              <a:spcBef>
                <a:spcPts val="20"/>
              </a:spcBef>
            </a:pP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Thacker</a:t>
            </a:r>
            <a:r>
              <a:rPr dirty="0" sz="1000" spc="31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SB.</a:t>
            </a:r>
            <a:r>
              <a:rPr dirty="0" sz="1000" spc="31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Meta-analysis:</a:t>
            </a:r>
            <a:r>
              <a:rPr dirty="0" sz="1000" spc="3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a</a:t>
            </a:r>
            <a:r>
              <a:rPr dirty="0" sz="1000" spc="30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quantitative</a:t>
            </a:r>
            <a:r>
              <a:rPr dirty="0" sz="1000" spc="30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approach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to</a:t>
            </a:r>
            <a:r>
              <a:rPr dirty="0" sz="1000" spc="4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research</a:t>
            </a:r>
            <a:r>
              <a:rPr dirty="0" sz="1000" spc="4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integration.</a:t>
            </a:r>
            <a:r>
              <a:rPr dirty="0" sz="1000" spc="459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60">
                <a:solidFill>
                  <a:srgbClr val="221F1F"/>
                </a:solidFill>
                <a:latin typeface="Times New Roman"/>
                <a:cs typeface="Times New Roman"/>
              </a:rPr>
              <a:t>JAMA</a:t>
            </a:r>
            <a:r>
              <a:rPr dirty="0" sz="1000" spc="4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1988;259:</a:t>
            </a:r>
            <a:r>
              <a:rPr dirty="0" sz="1000" spc="4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1685–</a:t>
            </a:r>
            <a:endParaRPr sz="1000">
              <a:latin typeface="Times New Roman"/>
              <a:cs typeface="Times New Roman"/>
            </a:endParaRPr>
          </a:p>
          <a:p>
            <a:pPr marL="139065">
              <a:lnSpc>
                <a:spcPts val="1150"/>
              </a:lnSpc>
            </a:pP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1689.</a:t>
            </a:r>
            <a:endParaRPr sz="1000">
              <a:latin typeface="Times New Roman"/>
              <a:cs typeface="Times New Roman"/>
            </a:endParaRPr>
          </a:p>
          <a:p>
            <a:pPr algn="just" marL="139065" marR="10160" indent="-127000">
              <a:lnSpc>
                <a:spcPct val="99500"/>
              </a:lnSpc>
              <a:spcBef>
                <a:spcPts val="5"/>
              </a:spcBef>
            </a:pPr>
            <a:r>
              <a:rPr dirty="0" sz="1000" spc="45">
                <a:solidFill>
                  <a:srgbClr val="221F1F"/>
                </a:solidFill>
                <a:latin typeface="Times New Roman"/>
                <a:cs typeface="Times New Roman"/>
              </a:rPr>
              <a:t>Thompson</a:t>
            </a:r>
            <a:r>
              <a:rPr dirty="0" sz="1000" spc="14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SG.</a:t>
            </a:r>
            <a:r>
              <a:rPr dirty="0" sz="1000" spc="14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Why</a:t>
            </a:r>
            <a:r>
              <a:rPr dirty="0" sz="1000" spc="15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sources</a:t>
            </a:r>
            <a:r>
              <a:rPr dirty="0" sz="1000" spc="13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1000" spc="140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heterogeneity</a:t>
            </a:r>
            <a:r>
              <a:rPr dirty="0" sz="1000" spc="145">
                <a:solidFill>
                  <a:srgbClr val="221F1F"/>
                </a:solidFill>
                <a:latin typeface="Times New Roman"/>
                <a:cs typeface="Times New Roman"/>
              </a:rPr>
              <a:t>  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in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meta-analysis</a:t>
            </a:r>
            <a:r>
              <a:rPr dirty="0" sz="1000" spc="3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should</a:t>
            </a:r>
            <a:r>
              <a:rPr dirty="0" sz="1000" spc="3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be</a:t>
            </a:r>
            <a:r>
              <a:rPr dirty="0" sz="1000" spc="3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221F1F"/>
                </a:solidFill>
                <a:latin typeface="Times New Roman"/>
                <a:cs typeface="Times New Roman"/>
              </a:rPr>
              <a:t>investigated.</a:t>
            </a:r>
            <a:r>
              <a:rPr dirty="0" sz="1000" spc="33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55">
                <a:solidFill>
                  <a:srgbClr val="221F1F"/>
                </a:solidFill>
                <a:latin typeface="Times New Roman"/>
                <a:cs typeface="Times New Roman"/>
              </a:rPr>
              <a:t>BMJ</a:t>
            </a:r>
            <a:r>
              <a:rPr dirty="0" sz="1000" spc="31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1994;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309:1351–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1355.</a:t>
            </a:r>
            <a:endParaRPr sz="1000">
              <a:latin typeface="Times New Roman"/>
              <a:cs typeface="Times New Roman"/>
            </a:endParaRPr>
          </a:p>
          <a:p>
            <a:pPr algn="just" marL="139065" marR="8255" indent="-127000">
              <a:lnSpc>
                <a:spcPct val="99300"/>
              </a:lnSpc>
              <a:spcBef>
                <a:spcPts val="10"/>
              </a:spcBef>
            </a:pP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Zwarenstein</a:t>
            </a:r>
            <a:r>
              <a:rPr dirty="0" sz="1000" spc="4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M,</a:t>
            </a:r>
            <a:r>
              <a:rPr dirty="0" sz="1000" spc="459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45">
                <a:solidFill>
                  <a:srgbClr val="221F1F"/>
                </a:solidFill>
                <a:latin typeface="Times New Roman"/>
                <a:cs typeface="Times New Roman"/>
              </a:rPr>
              <a:t>Volmink</a:t>
            </a:r>
            <a:r>
              <a:rPr dirty="0" sz="1000" spc="4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J,</a:t>
            </a:r>
            <a:r>
              <a:rPr dirty="0" sz="1000" spc="44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Irwig</a:t>
            </a:r>
            <a:r>
              <a:rPr dirty="0" sz="1000" spc="4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L,</a:t>
            </a:r>
            <a:r>
              <a:rPr dirty="0" sz="1000" spc="46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Chalmers</a:t>
            </a:r>
            <a:r>
              <a:rPr dirty="0" sz="1000" spc="434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221F1F"/>
                </a:solidFill>
                <a:latin typeface="Times New Roman"/>
                <a:cs typeface="Times New Roman"/>
              </a:rPr>
              <a:t>I.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Systematic</a:t>
            </a:r>
            <a:r>
              <a:rPr dirty="0" sz="1000" spc="4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review:</a:t>
            </a:r>
            <a:r>
              <a:rPr dirty="0" sz="1000" spc="4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‘state</a:t>
            </a:r>
            <a:r>
              <a:rPr dirty="0" sz="1000" spc="4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of</a:t>
            </a:r>
            <a:r>
              <a:rPr dirty="0" sz="1000" spc="4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dirty="0" sz="1000" spc="40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science’</a:t>
            </a:r>
            <a:r>
              <a:rPr dirty="0" sz="1000" spc="42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health-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care</a:t>
            </a:r>
            <a:r>
              <a:rPr dirty="0" sz="1000" spc="32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decision-making.</a:t>
            </a:r>
            <a:r>
              <a:rPr dirty="0" sz="1000" spc="3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S</a:t>
            </a:r>
            <a:r>
              <a:rPr dirty="0" sz="1000" spc="3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Afr</a:t>
            </a:r>
            <a:r>
              <a:rPr dirty="0" sz="1000" spc="35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Med</a:t>
            </a:r>
            <a:r>
              <a:rPr dirty="0" sz="1000" spc="345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J</a:t>
            </a:r>
            <a:r>
              <a:rPr dirty="0" sz="1000" spc="33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1995;85(12): </a:t>
            </a:r>
            <a:r>
              <a:rPr dirty="0" sz="1000">
                <a:solidFill>
                  <a:srgbClr val="221F1F"/>
                </a:solidFill>
                <a:latin typeface="Times New Roman"/>
                <a:cs typeface="Times New Roman"/>
              </a:rPr>
              <a:t>1266–</a:t>
            </a:r>
            <a:r>
              <a:rPr dirty="0" sz="1000" spc="-10">
                <a:solidFill>
                  <a:srgbClr val="221F1F"/>
                </a:solidFill>
                <a:latin typeface="Times New Roman"/>
                <a:cs typeface="Times New Roman"/>
              </a:rPr>
              <a:t>1267.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21F1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Raja Shekhara</dc:creator>
  <dc:title>doi:10.1016/S0899-3467(07)60142-6</dc:title>
  <dcterms:created xsi:type="dcterms:W3CDTF">2026-01-01T00:40:33Z</dcterms:created>
  <dcterms:modified xsi:type="dcterms:W3CDTF">2026-01-01T00:40:33Z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2025-09-01T00:00:00Z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2026-01-01T00:00:00Z</vt:filetime>
  </property>
  <property fmtid="{D5CDD505-2E9C-101B-9397-08002B2CF9AE}" pid="5" name="Producer">
    <vt:lpwstr>Microsoft® Word 2021</vt:lpwstr>
  </property>
</Properties>
</file>