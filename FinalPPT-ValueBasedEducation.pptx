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5" r:id="rId18"/>
    <p:sldId id="276" r:id="rId19"/>
    <p:sldId id="278" r:id="rId20"/>
    <p:sldId id="270" r:id="rId21"/>
    <p:sldId id="277" r:id="rId22"/>
    <p:sldId id="279" r:id="rId23"/>
    <p:sldId id="280" r:id="rId24"/>
    <p:sldId id="281" r:id="rId25"/>
    <p:sldId id="282" r:id="rId26"/>
    <p:sldId id="271" r:id="rId27"/>
    <p:sldId id="283" r:id="rId28"/>
    <p:sldId id="272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1474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1474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03375" y="1219200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5147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3375" y="1303655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5147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2200" y="234823"/>
            <a:ext cx="9660255" cy="893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2200" y="1563370"/>
            <a:ext cx="9785985" cy="4417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1474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Open book on table, blurred shelves of books in backgrou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5888" y="2031150"/>
            <a:ext cx="5210175" cy="42083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14400" y="212755"/>
            <a:ext cx="10642600" cy="9355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en-US" sz="3000" dirty="0">
                <a:solidFill>
                  <a:schemeClr val="tx2"/>
                </a:solidFill>
              </a:rPr>
              <a:t>Scenario-Based Analytical Review of Value-Based Education and Student Mental Well-Being Using Traditional Indian Texts</a:t>
            </a:r>
            <a:endParaRPr sz="3000" dirty="0">
              <a:solidFill>
                <a:schemeClr val="tx2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524341"/>
            <a:ext cx="4627245" cy="24141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8994" marR="5080" indent="-836930">
              <a:lnSpc>
                <a:spcPct val="100000"/>
              </a:lnSpc>
              <a:spcBef>
                <a:spcPts val="1800"/>
              </a:spcBef>
            </a:pPr>
            <a:r>
              <a:rPr lang="en-US" sz="2000" b="1" dirty="0">
                <a:latin typeface="Times New Roman"/>
                <a:cs typeface="Times New Roman"/>
              </a:rPr>
              <a:t>College Name : ______________________</a:t>
            </a:r>
          </a:p>
          <a:p>
            <a:pPr marL="848994" marR="5080" indent="-836930">
              <a:lnSpc>
                <a:spcPct val="100000"/>
              </a:lnSpc>
              <a:spcBef>
                <a:spcPts val="1800"/>
              </a:spcBef>
            </a:pPr>
            <a:r>
              <a:rPr sz="2000" b="1" dirty="0">
                <a:latin typeface="Times New Roman"/>
                <a:cs typeface="Times New Roman"/>
              </a:rPr>
              <a:t>Department</a:t>
            </a:r>
            <a:r>
              <a:rPr lang="en-US" sz="2000" b="1" dirty="0">
                <a:latin typeface="Times New Roman"/>
                <a:cs typeface="Times New Roman"/>
              </a:rPr>
              <a:t> :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lang="en-US" sz="2000" b="1" spc="-65" dirty="0">
                <a:latin typeface="Times New Roman"/>
                <a:cs typeface="Times New Roman"/>
              </a:rPr>
              <a:t>---------------------------------------</a:t>
            </a:r>
          </a:p>
          <a:p>
            <a:pPr marL="848994" marR="5080" indent="-836930">
              <a:lnSpc>
                <a:spcPct val="100000"/>
              </a:lnSpc>
              <a:spcBef>
                <a:spcPts val="1800"/>
              </a:spcBef>
            </a:pPr>
            <a:endParaRPr lang="en-US" sz="2000" b="1" spc="-65" dirty="0">
              <a:solidFill>
                <a:srgbClr val="0E4661"/>
              </a:solidFill>
              <a:latin typeface="Times New Roman"/>
              <a:cs typeface="Times New Roman"/>
            </a:endParaRPr>
          </a:p>
          <a:p>
            <a:pPr marL="848994" marR="5080" indent="-836930" algn="ctr">
              <a:lnSpc>
                <a:spcPct val="100000"/>
              </a:lnSpc>
              <a:spcBef>
                <a:spcPts val="1800"/>
              </a:spcBef>
            </a:pPr>
            <a:r>
              <a:rPr sz="1800" b="1" spc="-55" dirty="0">
                <a:solidFill>
                  <a:srgbClr val="0E4661"/>
                </a:solidFill>
                <a:latin typeface="Arial"/>
                <a:cs typeface="Arial"/>
              </a:rPr>
              <a:t>Team </a:t>
            </a:r>
            <a:r>
              <a:rPr sz="1800" b="1" spc="-10" dirty="0">
                <a:solidFill>
                  <a:srgbClr val="0E4661"/>
                </a:solidFill>
                <a:latin typeface="Arial"/>
                <a:cs typeface="Arial"/>
              </a:rPr>
              <a:t>Members:</a:t>
            </a:r>
            <a:endParaRPr lang="en-US" sz="1800" b="1" spc="-10" dirty="0">
              <a:solidFill>
                <a:srgbClr val="0E4661"/>
              </a:solidFill>
              <a:latin typeface="Arial"/>
              <a:cs typeface="Arial"/>
            </a:endParaRPr>
          </a:p>
          <a:p>
            <a:pPr marL="848994" marR="5080" indent="-836930" algn="ctr">
              <a:lnSpc>
                <a:spcPct val="100000"/>
              </a:lnSpc>
              <a:spcBef>
                <a:spcPts val="1800"/>
              </a:spcBef>
            </a:pPr>
            <a:r>
              <a:rPr lang="en-IN" b="1" spc="-10" dirty="0">
                <a:solidFill>
                  <a:schemeClr val="tx1"/>
                </a:solidFill>
                <a:latin typeface="Arial"/>
                <a:cs typeface="Arial"/>
              </a:rPr>
              <a:t>Divya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5797" y="5471469"/>
            <a:ext cx="258445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E4661"/>
                </a:solidFill>
                <a:latin typeface="Times New Roman"/>
                <a:cs typeface="Times New Roman"/>
              </a:rPr>
              <a:t>Under</a:t>
            </a:r>
            <a:r>
              <a:rPr sz="2000" b="1" spc="-55" dirty="0">
                <a:solidFill>
                  <a:srgbClr val="0E466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E4661"/>
                </a:solidFill>
                <a:latin typeface="Times New Roman"/>
                <a:cs typeface="Times New Roman"/>
              </a:rPr>
              <a:t>the</a:t>
            </a:r>
            <a:r>
              <a:rPr sz="2000" b="1" spc="-25" dirty="0">
                <a:solidFill>
                  <a:srgbClr val="0E4661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E4661"/>
                </a:solidFill>
                <a:latin typeface="Times New Roman"/>
                <a:cs typeface="Times New Roman"/>
              </a:rPr>
              <a:t>guidance</a:t>
            </a:r>
            <a:r>
              <a:rPr sz="2000" b="1" spc="-35" dirty="0">
                <a:solidFill>
                  <a:srgbClr val="0E4661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E4661"/>
                </a:solidFill>
                <a:latin typeface="Times New Roman"/>
                <a:cs typeface="Times New Roman"/>
              </a:rPr>
              <a:t>of:</a:t>
            </a:r>
            <a:endParaRPr lang="en-US" sz="2000" b="1" spc="-25" dirty="0">
              <a:solidFill>
                <a:srgbClr val="0E466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solidFill>
                  <a:srgbClr val="0E4661"/>
                </a:solidFill>
                <a:latin typeface="Times New Roman"/>
                <a:cs typeface="Times New Roman"/>
              </a:rPr>
              <a:t>____________________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Palatino Linotype"/>
                <a:cs typeface="Palatino Linotype"/>
              </a:rPr>
              <a:t>OVERVIEW: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371601"/>
            <a:ext cx="8305800" cy="5318957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Problem Statement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Framework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Indian Texts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Basavanna's Vachanas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Panchatantra</a:t>
            </a:r>
          </a:p>
          <a:p>
            <a:pPr>
              <a:lnSpc>
                <a:spcPct val="150000"/>
              </a:lnSpc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Hitopadesha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Education Methods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 for Scenario-Based Analysis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Scenario-Based Analytical Review (10 Scenarios)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Findings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Limitations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3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110" dirty="0">
                <a:latin typeface="Times New Roman"/>
                <a:cs typeface="Times New Roman"/>
              </a:rPr>
              <a:t>INTRODUCTION</a:t>
            </a:r>
            <a:r>
              <a:rPr b="1" spc="180" dirty="0">
                <a:latin typeface="Times New Roman"/>
                <a:cs typeface="Times New Roman"/>
              </a:rPr>
              <a:t> </a:t>
            </a:r>
            <a:r>
              <a:rPr b="1" spc="-50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2200" y="1418336"/>
            <a:ext cx="9804400" cy="276274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presents a NARRATIVE LITERATURE REVIEW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an empirical intervention study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claims of statistical improvement or effectiveness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Scenario-based analysis = conceptual exploration, NOT case studies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findings are positioned as CONCEPTUAL CONTRIBUTIONS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limitations acknowledged throughout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1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dirty="0"/>
              <a:t>Background &amp; Problem Statement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:-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00" y="1447800"/>
            <a:ext cx="10566400" cy="50364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CONTEMPORARY EDUCATIONAL CHALLENGE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Rising mental health challenges among school students globally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Stress, anxiety, emotional instability (WHO, 2021)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Academic pressure and performance anxiety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Peer conflicts and social isolation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Overemphasis on academic performance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Cognitive development prioritized over holistic growth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Limited integration of values and emotional intelligence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Fragmented interventions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Lack of culturally grounded frameworks</a:t>
            </a:r>
          </a:p>
          <a:p>
            <a:pPr lvl="2"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Need for comprehensive value-based approaches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95400" y="457200"/>
            <a:ext cx="53327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dirty="0"/>
              <a:t>Aim &amp; Objectives</a:t>
            </a:r>
            <a:endParaRPr sz="3200" dirty="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447800"/>
            <a:ext cx="9189085" cy="427880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Aim: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critically review value-based education literature and analyze traditional Indian texts as conceptual frameworks for mental health support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Synthesize literature on value-based education (2015-2025)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Analyze traditional Indian texts as potential conceptual frameworks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 scenario-based analytical approach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Identify limitations and research gaps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Position work as conceptual contribution requiring empirical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4447" y="533400"/>
            <a:ext cx="9660255" cy="47153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lang="en-IN" sz="3200" b="1" dirty="0"/>
              <a:t>Conceptual Framework - Value-Based Education</a:t>
            </a:r>
            <a:endParaRPr sz="2900" b="1" dirty="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4447" y="1371600"/>
            <a:ext cx="9757410" cy="5349606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Value-Based Education: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Integrates moral, ethical, and life skills development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Addresses multiple dimensions: cognitive, emotional, social, moral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Recognizes interconnectedness of knowledge, values, and behavior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Foundations: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Social-cognitive theory: values internalized through observation and reflection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Moral development theory: ethical reasoning develops through stages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Emotional intelligence: recognizing, understanding, managing emotions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and Well-Being: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Values provide frameworks for decision-making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Contribute to identity formation and sense of purpose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Guide behavior promoting positive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533400"/>
            <a:ext cx="8432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0225" algn="l"/>
              </a:tabLst>
            </a:pPr>
            <a:r>
              <a:rPr lang="en-IN" b="1" dirty="0"/>
              <a:t>Traditional Indian Texts - Basavanna's Vachanas</a:t>
            </a:r>
            <a:endParaRPr b="1" spc="-50" dirty="0"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447800"/>
            <a:ext cx="9950450" cy="52239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Basavanna's Vachanas (12th century CE):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Kannada philosophical poetry emphasizing social equality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Kayakave Kailasa (work is worship)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Social equality and dignity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Ethical conduct (achara)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Self-awareness and introspection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Service to others (seva)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Relevance: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Accessible language and concrete examples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Emphasis on equality may support positive identity formation</a:t>
            </a:r>
          </a:p>
          <a:p>
            <a:pPr lvl="1"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context may require adaptation; no empirical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659384"/>
            <a:ext cx="6527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0225" algn="l"/>
              </a:tabLst>
            </a:pPr>
            <a:r>
              <a:rPr lang="en-IN" b="1" dirty="0"/>
              <a:t>Traditional Indian Texts - Panchatantra</a:t>
            </a:r>
            <a:endParaRPr b="1" spc="-50" dirty="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371600"/>
            <a:ext cx="10261600" cy="5035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Panchatantra (3rd century BCE):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collection of animal fables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Originally composed as guide for princes on statecraft and life skills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wisdom and foresight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of actions (karma)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Cooperation and mutual benefit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behavior and integrity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Relevance: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Narrative format makes abstract concepts concrete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Allegorical nature allows discussion of sensitive topics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234823"/>
            <a:ext cx="9660255" cy="861645"/>
          </a:xfrm>
          <a:prstGeom prst="rect">
            <a:avLst/>
          </a:prstGeom>
        </p:spPr>
        <p:txBody>
          <a:bodyPr vert="horz" wrap="square" lIns="0" tIns="365632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105"/>
              </a:spcBef>
            </a:pPr>
            <a:r>
              <a:rPr lang="en-IN" sz="3200" b="1" dirty="0"/>
              <a:t>Traditional Indian Texts - Hitopadesha</a:t>
            </a:r>
            <a:endParaRPr sz="3200" b="1" dirty="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01" y="1420965"/>
            <a:ext cx="8890000" cy="4910383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Hitopadesha (800-950 CE):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Ancient Sanskrit text using animal fables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practical wisdom and ethical decision-making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Themes: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Prudence and careful consideration before action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Foresight and understanding consequences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Emotional restraint and self-control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Wise counsel and learning from others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Relevance: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support decision-making education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emotional restraint aligns with regulation goals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234823"/>
            <a:ext cx="9660255" cy="867801"/>
          </a:xfrm>
          <a:prstGeom prst="rect">
            <a:avLst/>
          </a:prstGeom>
        </p:spPr>
        <p:txBody>
          <a:bodyPr vert="horz" wrap="square" lIns="0" tIns="371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b="1" dirty="0"/>
              <a:t>Ancient Education Methods</a:t>
            </a:r>
            <a:endParaRPr sz="3200" b="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524000"/>
            <a:ext cx="9990454" cy="4605556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Value Transmission Methods: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Panchatantra Stories:</a:t>
            </a:r>
          </a:p>
          <a:p>
            <a:pPr lvl="2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Explicitly designed as educational tool</a:t>
            </a:r>
          </a:p>
          <a:p>
            <a:pPr lvl="2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Pedagogical mechanisms: narrative engagement, allegorical distance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Scriptural Study:</a:t>
            </a:r>
          </a:p>
          <a:p>
            <a:pPr lvl="2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Process: recitation, commentary, reflection</a:t>
            </a:r>
          </a:p>
          <a:p>
            <a:pPr lvl="2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Functions: value transmission, cultural identity, moral reasoning</a:t>
            </a:r>
          </a:p>
          <a:p>
            <a:pPr lvl="1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Pravachana (Oral Discourses):</a:t>
            </a:r>
          </a:p>
          <a:p>
            <a:pPr lvl="2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Primary method for transmitting values</a:t>
            </a:r>
          </a:p>
          <a:p>
            <a:pPr lvl="2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Characteristics: oral tradition, interactive dialogue, community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3375" y="1219200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5147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03375" y="1303655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51474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92200" y="234823"/>
            <a:ext cx="9660255" cy="861645"/>
          </a:xfrm>
          <a:prstGeom prst="rect">
            <a:avLst/>
          </a:prstGeom>
        </p:spPr>
        <p:txBody>
          <a:bodyPr vert="horz" wrap="square" lIns="0" tIns="3656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b="1" dirty="0"/>
              <a:t>METHODOLOGY</a:t>
            </a:r>
            <a:endParaRPr lang="en-IN" sz="3200" b="1" dirty="0">
              <a:latin typeface="Palatino Linotype"/>
              <a:cs typeface="Palatino Linotyp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AC861F-583D-4CA3-6531-F4F232207988}"/>
              </a:ext>
            </a:extLst>
          </p:cNvPr>
          <p:cNvSpPr txBox="1"/>
          <p:nvPr/>
        </p:nvSpPr>
        <p:spPr>
          <a:xfrm>
            <a:off x="1078345" y="1413946"/>
            <a:ext cx="9336247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Type: Narrative literature review (not systematic review)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Period: 2015-2025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Scholar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PubMed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Semantic Scholar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Strategy: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Value-based education AND mental health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Indian texts AND education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Narrative approaches to moral/ethical education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Approach: Scenario-based synthesis (analytical units, NOT case studies)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234823"/>
            <a:ext cx="9660255" cy="867801"/>
          </a:xfrm>
          <a:prstGeom prst="rect">
            <a:avLst/>
          </a:prstGeom>
        </p:spPr>
        <p:txBody>
          <a:bodyPr vert="horz" wrap="square" lIns="0" tIns="371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200" dirty="0"/>
              <a:t>Rationale for Scenario-Based Analysis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2184" y="1219200"/>
            <a:ext cx="10229216" cy="5158913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Scenarios as Analytical Units: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Derived from common mental health challenges in literature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framework for conceptual exploration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scenario examines: problem, traditional text, conceptual link, limitation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for Conceptual Research: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exploration of potential applications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Facilitates critical analysis of limitations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Clarification: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Scenarios are NOT case studies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Scenarios are NOT empirical evidence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Scenarios are analytical tools for conceptual research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234823"/>
            <a:ext cx="9660255" cy="867801"/>
          </a:xfrm>
          <a:prstGeom prst="rect">
            <a:avLst/>
          </a:prstGeom>
        </p:spPr>
        <p:txBody>
          <a:bodyPr vert="horz" wrap="square" lIns="0" tIns="3717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/>
              <a:t>Scenario 1 - Academic Stress &amp; Performance Anxiety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0600" y="1399246"/>
            <a:ext cx="10515600" cy="47853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levels of stress, sleep disturbances, anxiety disorders in competitive academic environments (Pandey, 2019; Sharma, 2018)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Basavanna's Vachanas - emphasis on inner peace, detachment from external validation, intrinsic motivation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shift from external metrics to internal growth might support stress reduction (theoretical connection)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empirical studies validate effectiveness. Framework requires rigorous controlled testing. Abstract nature may not be accessible to all students.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dirty="0"/>
              <a:t>Scenario 2 - Peer Conflict &amp; Aggression</a:t>
            </a:r>
            <a:endParaRPr b="1" spc="195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447800"/>
            <a:ext cx="11049000" cy="52239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Peer conflicts and aggressive behaviours prevalent in schools, contributing to emotional distress and social isolation (Joshi &amp; Mehta, 2021)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Hitopadesha - fables addressing conflict resolution, understanding perspectives, finding mutually beneficial solutions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Narrative-based discussions might provide frameworks for navigating interpersonal challenges. Allegorical format facilitates reflection.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of narrative lessons to real-world conflict resolution requires empirical validation. Cultural factors may limit generalizability.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F9A0-D943-9B9F-4650-EF295C643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CCCF4CB-2344-41B6-875E-DADC748A20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Scenario 3 - Low Self-Esteem &amp; Identity Confusion</a:t>
            </a:r>
            <a:endParaRPr b="1" spc="195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6E63B3D-2578-8217-F23D-74BC17C376B2}"/>
              </a:ext>
            </a:extLst>
          </p:cNvPr>
          <p:cNvSpPr txBox="1"/>
          <p:nvPr/>
        </p:nvSpPr>
        <p:spPr>
          <a:xfrm>
            <a:off x="914400" y="1399246"/>
            <a:ext cx="10515600" cy="47853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Adolescent identity development issues, low self-worth associated with poor academic performance and social withdrawal (Singh &amp; Verma, 2021)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Basavanna's Vachanas - emphasis on inherent worth of all individuals regardless of social status, promoting self-acceptance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teachings about universal human value might conceptually support positive identity formation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studies directly examine impact on self-esteem. Historical context may require adaptation. May not resonate across all cultural backgrounds.</a:t>
            </a:r>
          </a:p>
        </p:txBody>
      </p:sp>
    </p:spTree>
    <p:extLst>
      <p:ext uri="{BB962C8B-B14F-4D97-AF65-F5344CB8AC3E}">
        <p14:creationId xmlns:p14="http://schemas.microsoft.com/office/powerpoint/2010/main" val="1198001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22F6F-14E6-0ACA-ECDB-3389C099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370FBA2-4DB8-460D-6F79-F1DD03C75B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Scenario 4 - Bullying &amp; Social Exclusion</a:t>
            </a:r>
            <a:endParaRPr b="1" spc="195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5330F2C-B642-6DBB-3F7C-C93E24F95B59}"/>
              </a:ext>
            </a:extLst>
          </p:cNvPr>
          <p:cNvSpPr txBox="1"/>
          <p:nvPr/>
        </p:nvSpPr>
        <p:spPr>
          <a:xfrm>
            <a:off x="876300" y="1371600"/>
            <a:ext cx="10439400" cy="47853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Bullying and social exclusion represent serious mental health threats, associated with depression, anxiety, suicidal ideation (Kumaran &amp; Singh, 2019)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Panchatantra - stories about consequences of harmful behavior, importance of treating others with respect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Allegorical stories might provide safe spaces for discussing bullying. Narrative format could facilitate empathy development.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Narrative-based interventions for bullying require comprehensive empirical evaluation. Modern bullying involves digital platforms not addressed in traditional narratives.</a:t>
            </a:r>
          </a:p>
        </p:txBody>
      </p:sp>
    </p:spTree>
    <p:extLst>
      <p:ext uri="{BB962C8B-B14F-4D97-AF65-F5344CB8AC3E}">
        <p14:creationId xmlns:p14="http://schemas.microsoft.com/office/powerpoint/2010/main" val="3935891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D0C2-CDB6-46AF-6AE7-B9124926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942DC7E-3DB6-0EE1-AA52-724E18523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sv-SE" dirty="0"/>
              <a:t>Scenario 5 - Anger &amp; Emotional Dysregulation</a:t>
            </a:r>
            <a:endParaRPr b="1" spc="195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90B5FDB-53A4-480D-0D2E-DD74F1274662}"/>
              </a:ext>
            </a:extLst>
          </p:cNvPr>
          <p:cNvSpPr txBox="1"/>
          <p:nvPr/>
        </p:nvSpPr>
        <p:spPr>
          <a:xfrm>
            <a:off x="969433" y="1447800"/>
            <a:ext cx="10253133" cy="49481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dysregulation, particularly anger management issues, impacts well-being and classroom dynamics. Linked to academic and social difficulties (Kumar, 2018)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Basavanna's Vachanas - emphasis on self-control, emotional mastery, understanding transient nature of emotions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approaches to emotional awareness might conceptually support regulation skills. Aligns with cognitive-behavioral principles.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nature of philosophical teachings may not be accessible to all age groups. Direct translation to practical strategies requires empirical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952085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509F-A823-35EE-D9FD-2493C244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B91B0CD-8489-A726-E965-213F75A04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dirty="0" err="1"/>
              <a:t>Scenario</a:t>
            </a:r>
            <a:r>
              <a:rPr lang="es-ES" dirty="0"/>
              <a:t> 6 - </a:t>
            </a:r>
            <a:r>
              <a:rPr lang="es-ES" dirty="0" err="1"/>
              <a:t>Dishonesty</a:t>
            </a:r>
            <a:r>
              <a:rPr lang="es-ES" dirty="0"/>
              <a:t> &amp; </a:t>
            </a:r>
            <a:r>
              <a:rPr lang="es-ES" dirty="0" err="1"/>
              <a:t>Ethical</a:t>
            </a:r>
            <a:r>
              <a:rPr lang="es-ES" dirty="0"/>
              <a:t> </a:t>
            </a:r>
            <a:r>
              <a:rPr lang="es-ES" dirty="0" err="1"/>
              <a:t>Drift</a:t>
            </a:r>
            <a:endParaRPr b="1" spc="195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6A9FDA8-1E18-8565-BF95-DCC60C239625}"/>
              </a:ext>
            </a:extLst>
          </p:cNvPr>
          <p:cNvSpPr txBox="1"/>
          <p:nvPr/>
        </p:nvSpPr>
        <p:spPr>
          <a:xfrm>
            <a:off x="838200" y="1524000"/>
            <a:ext cx="9804400" cy="47853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dishonesty and ethical lapses raise concerns about character development. Value-based interventions might support ethical decision-making (Pandey, 2019)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Hitopadesha and Panchatantra - stories illustrating consequences of dishonesty, value of integrity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 narratives might provide frameworks for ethical reasoning. Story format makes abstract concepts more concrete.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narrative exposure and actual ethical behavior requires empirical investigation. Contemporary ethical challenges may not be addressed.</a:t>
            </a:r>
          </a:p>
        </p:txBody>
      </p:sp>
    </p:spTree>
    <p:extLst>
      <p:ext uri="{BB962C8B-B14F-4D97-AF65-F5344CB8AC3E}">
        <p14:creationId xmlns:p14="http://schemas.microsoft.com/office/powerpoint/2010/main" val="2307334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70C86-F743-7CA7-2BC8-3DD99D31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2827706-A427-A36D-2822-D59EDBAE30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6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dirty="0"/>
              <a:t>Scenario 7 - Digital Addiction &amp; Attention Fragmentation</a:t>
            </a:r>
            <a:endParaRPr b="1" spc="195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809B05A-8C4B-DFE0-6725-87E45EBC445A}"/>
              </a:ext>
            </a:extLst>
          </p:cNvPr>
          <p:cNvSpPr txBox="1"/>
          <p:nvPr/>
        </p:nvSpPr>
        <p:spPr>
          <a:xfrm>
            <a:off x="812800" y="1371600"/>
            <a:ext cx="10566400" cy="49481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device overuse leads to attention difficulties, sleep problems, social isolation. Increasing technology-related mental health issues (Nair &amp; Sharma, 2020)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Basavanna's Vachanas - emphasis on mindfulness, present-moment awareness, concepts related to attention regulation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teachings about focus and awareness might provide frameworks for understanding attention and distraction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context predates digital technology entirely. Direct application requires significant adaptation. No empirical studies examine this connection.</a:t>
            </a:r>
          </a:p>
        </p:txBody>
      </p:sp>
    </p:spTree>
    <p:extLst>
      <p:ext uri="{BB962C8B-B14F-4D97-AF65-F5344CB8AC3E}">
        <p14:creationId xmlns:p14="http://schemas.microsoft.com/office/powerpoint/2010/main" val="526863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dirty="0"/>
              <a:t>Scenario 8 - Peer Pressure &amp; Impulsive Decision-Making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447800"/>
            <a:ext cx="10185400" cy="52239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Adolescent susceptibility to peer pressure and impulsive decision-making contributes to risky behaviors and negative mental health outcomes (Sharma &amp; Rao, 2017)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Hitopadesha - stories about wise decision-making, considering consequences, resisting harmful influences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about decision-making might provide frameworks for understanding choice, consequence, and peer influence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 exposure alone may not translate to improved decision-making in real-world peer pressure situations. Comprehensive skill-building interventions likely necessary.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2689-9AC3-7237-6A69-E19EA61E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17D9CAA-650E-EEB3-EFD0-F5D5A907D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Scenario 9 - Demotivation &amp; Loss of Purpose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F1E9C5E-94C0-8EF6-577D-43FB6BEB2A26}"/>
              </a:ext>
            </a:extLst>
          </p:cNvPr>
          <p:cNvSpPr txBox="1"/>
          <p:nvPr/>
        </p:nvSpPr>
        <p:spPr>
          <a:xfrm>
            <a:off x="1092200" y="1593850"/>
            <a:ext cx="10337800" cy="43467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demotivation and lack of purpose associated with poor academic performance and mental health issues. Meaning-making supports well-being (Narayan, 2015)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Basavanna's Vachanas - emphasis on finding purpose through service and ethical living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Philosophical discussions of purpose and meaning might conceptually support motivation and well-being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nature of purpose and meaning may be difficult for younger students to grasp. Spiritual context may require secular adaptation. Empirical validation lacking.</a:t>
            </a:r>
          </a:p>
        </p:txBody>
      </p:sp>
    </p:spTree>
    <p:extLst>
      <p:ext uri="{BB962C8B-B14F-4D97-AF65-F5344CB8AC3E}">
        <p14:creationId xmlns:p14="http://schemas.microsoft.com/office/powerpoint/2010/main" val="2259303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54CD3-F73F-EF2D-27D9-4AD2F617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3EE9B86-9874-9F32-C719-31FDB0E7D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Scenario 10 - Social Responsibility &amp; Empathy Deficit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40B50E3-C0B4-7844-EA7D-B8AE0EBAB144}"/>
              </a:ext>
            </a:extLst>
          </p:cNvPr>
          <p:cNvSpPr txBox="1"/>
          <p:nvPr/>
        </p:nvSpPr>
        <p:spPr>
          <a:xfrm>
            <a:off x="1092200" y="1593850"/>
            <a:ext cx="10414000" cy="478534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indicates declining empathy levels and reduced engagement with social responsibility. Concerns about social cohesion and individual well-being (Desai &amp; Patel, 2020)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Text: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sources emphasize social responsibility, compassion, concern for others' welfare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Link: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Narratives emphasizing empathy and social responsibility might provide frameworks for understanding interconnectedness and mutual care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narrative exposure and actual empathetic behavior requires empirical investigation. Cultural and individual differences may affect narrative impact.</a:t>
            </a:r>
          </a:p>
        </p:txBody>
      </p:sp>
    </p:spTree>
    <p:extLst>
      <p:ext uri="{BB962C8B-B14F-4D97-AF65-F5344CB8AC3E}">
        <p14:creationId xmlns:p14="http://schemas.microsoft.com/office/powerpoint/2010/main" val="1352639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250E-F4C6-0AA7-FFB4-C7A432DC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A9FBE4C-A5DD-FADF-C8E8-80A5F67363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Synthesis - Common Patterns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3171EE-5B51-1369-ADE7-24CC01829533}"/>
              </a:ext>
            </a:extLst>
          </p:cNvPr>
          <p:cNvSpPr txBox="1"/>
          <p:nvPr/>
        </p:nvSpPr>
        <p:spPr>
          <a:xfrm>
            <a:off x="1092199" y="1371600"/>
            <a:ext cx="10642601" cy="49496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Patterns Identified: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Awareness and Regulation: Philosophical teachings about self-awareness might conceptually support emotional regulation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Moral Reasoning and Ethical Decision-Making: Narrative approaches might provide frameworks for ethical reasoning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Empathy and Social Understanding: Narratives might facilitate empathy development and perspective-taking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and Self-Concept: Philosophical teachings about inherent dignity might conceptually support positive identity formation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 of Value-Based Narratives: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relevance for students from Indian backgrounds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Narrative engagement facilitates reflection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exploration through allegorical format</a:t>
            </a:r>
          </a:p>
        </p:txBody>
      </p:sp>
    </p:spTree>
    <p:extLst>
      <p:ext uri="{BB962C8B-B14F-4D97-AF65-F5344CB8AC3E}">
        <p14:creationId xmlns:p14="http://schemas.microsoft.com/office/powerpoint/2010/main" val="602312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A348-4044-9E5E-766C-C9EFA396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26707BD-9980-D3C0-9E4D-49D020E513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Synthesis - Areas Where Evidence is Weak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34133B4-325D-C234-2691-825BA09D432E}"/>
              </a:ext>
            </a:extLst>
          </p:cNvPr>
          <p:cNvSpPr txBox="1"/>
          <p:nvPr/>
        </p:nvSpPr>
        <p:spPr>
          <a:xfrm>
            <a:off x="1109133" y="1694198"/>
            <a:ext cx="10337801" cy="34696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Gaps: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Empirical Validation: No controlled studies examine traditional text-based interventions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Mechanism Research: Limited understanding of how narratives might influence mental health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Developmental Appropriateness: Insufficient research on age-appropriate applications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Cultural Adaptation: Limited studies examining cross-cultural applicability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Longitudinal Research: Absence of long-term follow-up studies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Comparative Effectiveness: No studies comparing traditional narrative approaches to other interventions</a:t>
            </a:r>
          </a:p>
          <a:p>
            <a:pPr lvl="1">
              <a:lnSpc>
                <a:spcPct val="15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 Research: Limited understanding of effective delivery methods</a:t>
            </a:r>
          </a:p>
        </p:txBody>
      </p:sp>
    </p:spTree>
    <p:extLst>
      <p:ext uri="{BB962C8B-B14F-4D97-AF65-F5344CB8AC3E}">
        <p14:creationId xmlns:p14="http://schemas.microsoft.com/office/powerpoint/2010/main" val="3790517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A9D3B-DD65-EDE8-73EC-FDA254315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71B817D-DD44-355D-F120-BCBA1A22F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/>
              <a:t>Critical Limitations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E45DE07-056F-E8B8-CF3B-ECD2997DC298}"/>
              </a:ext>
            </a:extLst>
          </p:cNvPr>
          <p:cNvSpPr txBox="1"/>
          <p:nvPr/>
        </p:nvSpPr>
        <p:spPr>
          <a:xfrm>
            <a:off x="1092199" y="1371600"/>
            <a:ext cx="9660255" cy="45326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Empirical Validation: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evidence of intervention effectiveness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statistical improvements in mental health outcomes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behavioral changes from narrative exposure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connections are conceptual and theoretical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Limitations: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Subjectivity in interpretation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challenges in schools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training dependency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Cultural generalization risks</a:t>
            </a: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Methodological limitations (narrative review, not systematic)</a:t>
            </a:r>
          </a:p>
        </p:txBody>
      </p:sp>
    </p:spTree>
    <p:extLst>
      <p:ext uri="{BB962C8B-B14F-4D97-AF65-F5344CB8AC3E}">
        <p14:creationId xmlns:p14="http://schemas.microsoft.com/office/powerpoint/2010/main" val="1891216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659384"/>
            <a:ext cx="4622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4755" algn="l"/>
              </a:tabLst>
            </a:pPr>
            <a:r>
              <a:rPr lang="en-IN" dirty="0"/>
              <a:t>Future Research Directions</a:t>
            </a:r>
            <a:endParaRPr b="1" spc="-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92200" y="1563370"/>
            <a:ext cx="10490200" cy="4641271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Priorities: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Validation Models: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Controlled intervention studies with randomized trials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Quasi-experimental designs were randomization not feasible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Mixed-Method Studies: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Quantitative measures of mental health outcomes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Qualitative exploration of student experiences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Research: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Sustained impacts over time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Developmental trajectories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Priorities: Teacher training, curriculum integration, assessment tools, comparative effectiveness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0662-5E25-9724-59DB-1CB01D33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72CEE9A-8E54-9CBB-11BA-2E792CEA7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200" y="659384"/>
            <a:ext cx="4622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4755" algn="l"/>
              </a:tabLst>
            </a:pPr>
            <a:r>
              <a:rPr lang="en-IN" dirty="0"/>
              <a:t>Conclusion</a:t>
            </a:r>
            <a:endParaRPr b="1" spc="-50" dirty="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AE89343-2AFB-0F10-CEDB-5FF6D429E3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11430000" cy="560518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Statement:</a:t>
            </a:r>
          </a:p>
          <a:p>
            <a:pPr lvl="1"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is a CONCEPTUAL CONTRIBUTION:</a:t>
            </a:r>
          </a:p>
          <a:p>
            <a:pPr marL="1200150" lvl="2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claim empirical effectiveness</a:t>
            </a:r>
          </a:p>
          <a:p>
            <a:pPr marL="1200150" lvl="2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recommend specific interventions</a:t>
            </a:r>
          </a:p>
          <a:p>
            <a:pPr marL="1200150" lvl="2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framework for understanding potential applications</a:t>
            </a:r>
          </a:p>
          <a:p>
            <a:pPr marL="1200150" lvl="2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critical need for rigorous empirical research</a:t>
            </a:r>
          </a:p>
          <a:p>
            <a:pPr algn="l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lvl="1"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texts offer rich philosophical and narrative resources</a:t>
            </a:r>
          </a:p>
          <a:p>
            <a:pPr lvl="1"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Scenario-based analysis reveals potential applications</a:t>
            </a:r>
          </a:p>
          <a:p>
            <a:pPr lvl="1"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Significant limitations and gaps identified</a:t>
            </a:r>
          </a:p>
          <a:p>
            <a:pPr lvl="1" algn="l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findings require empirical validation</a:t>
            </a:r>
          </a:p>
          <a:p>
            <a:pPr algn="l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Careful empirical validation, cultural sensitivity, evidence-based implementation strategies</a:t>
            </a:r>
          </a:p>
          <a:p>
            <a:pPr algn="l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165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5715000"/>
            <a:chOff x="0" y="0"/>
            <a:chExt cx="12192000" cy="5715000"/>
          </a:xfrm>
        </p:grpSpPr>
        <p:sp>
          <p:nvSpPr>
            <p:cNvPr id="3" name="object 3"/>
            <p:cNvSpPr/>
            <p:nvPr/>
          </p:nvSpPr>
          <p:spPr>
            <a:xfrm>
              <a:off x="0" y="257771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381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514600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127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640838"/>
              <a:ext cx="12192000" cy="2941955"/>
            </a:xfrm>
            <a:custGeom>
              <a:avLst/>
              <a:gdLst/>
              <a:ahLst/>
              <a:cxnLst/>
              <a:rect l="l" t="t" r="r" b="b"/>
              <a:pathLst>
                <a:path w="12192000" h="2941954">
                  <a:moveTo>
                    <a:pt x="12192000" y="0"/>
                  </a:moveTo>
                  <a:lnTo>
                    <a:pt x="0" y="0"/>
                  </a:lnTo>
                  <a:lnTo>
                    <a:pt x="0" y="2941574"/>
                  </a:lnTo>
                  <a:lnTo>
                    <a:pt x="12192000" y="294157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147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645505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1219200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708637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12192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5880" y="0"/>
              <a:ext cx="1783207" cy="2971800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921254" y="2957576"/>
            <a:ext cx="44354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229" dirty="0">
                <a:solidFill>
                  <a:srgbClr val="FFFFFF"/>
                </a:solidFill>
                <a:latin typeface="Algerian"/>
                <a:cs typeface="Algerian"/>
              </a:rPr>
              <a:t>THANK</a:t>
            </a:r>
            <a:r>
              <a:rPr sz="6000" spc="655" dirty="0">
                <a:solidFill>
                  <a:srgbClr val="FFFFFF"/>
                </a:solidFill>
                <a:latin typeface="Algerian"/>
                <a:cs typeface="Algerian"/>
              </a:rPr>
              <a:t> </a:t>
            </a:r>
            <a:r>
              <a:rPr sz="6000" spc="145" dirty="0">
                <a:solidFill>
                  <a:srgbClr val="FFFFFF"/>
                </a:solidFill>
                <a:latin typeface="Algerian"/>
                <a:cs typeface="Algerian"/>
              </a:rPr>
              <a:t>YOU</a:t>
            </a:r>
            <a:endParaRPr sz="6000">
              <a:latin typeface="Algerian"/>
              <a:cs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2100</Words>
  <Application>Microsoft Office PowerPoint</Application>
  <PresentationFormat>Widescreen</PresentationFormat>
  <Paragraphs>284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Algerian</vt:lpstr>
      <vt:lpstr>Arial</vt:lpstr>
      <vt:lpstr>Palatino Linotype</vt:lpstr>
      <vt:lpstr>Times New Roman</vt:lpstr>
      <vt:lpstr>Wingdings</vt:lpstr>
      <vt:lpstr>Office Theme</vt:lpstr>
      <vt:lpstr>Scenario-Based Analytical Review of Value-Based Education and Student Mental Well-Being Using Traditional Indian Texts</vt:lpstr>
      <vt:lpstr>OVERVIEW:</vt:lpstr>
      <vt:lpstr>INTRODUCTION :</vt:lpstr>
      <vt:lpstr>Background &amp; Problem Statement :-</vt:lpstr>
      <vt:lpstr>Aim &amp; Objectives</vt:lpstr>
      <vt:lpstr>Conceptual Framework - Value-Based Education</vt:lpstr>
      <vt:lpstr>Traditional Indian Texts - Basavanna's Vachanas</vt:lpstr>
      <vt:lpstr>Traditional Indian Texts - Panchatantra</vt:lpstr>
      <vt:lpstr>Traditional Indian Texts - Hitopadesha</vt:lpstr>
      <vt:lpstr>Ancient Education Methods</vt:lpstr>
      <vt:lpstr>METHODOLOGY</vt:lpstr>
      <vt:lpstr>Rationale for Scenario-Based Analysis</vt:lpstr>
      <vt:lpstr>Scenario 1 - Academic Stress &amp; Performance Anxiety</vt:lpstr>
      <vt:lpstr>Scenario 2 - Peer Conflict &amp; Aggression</vt:lpstr>
      <vt:lpstr>Scenario 3 - Low Self-Esteem &amp; Identity Confusion</vt:lpstr>
      <vt:lpstr>Scenario 4 - Bullying &amp; Social Exclusion</vt:lpstr>
      <vt:lpstr>Scenario 5 - Anger &amp; Emotional Dysregulation</vt:lpstr>
      <vt:lpstr>Scenario 6 - Dishonesty &amp; Ethical Drift</vt:lpstr>
      <vt:lpstr>Scenario 7 - Digital Addiction &amp; Attention Fragmentation</vt:lpstr>
      <vt:lpstr>Scenario 8 - Peer Pressure &amp; Impulsive Decision-Making</vt:lpstr>
      <vt:lpstr>Scenario 9 - Demotivation &amp; Loss of Purpose</vt:lpstr>
      <vt:lpstr>Scenario 10 - Social Responsibility &amp; Empathy Deficit</vt:lpstr>
      <vt:lpstr>Synthesis - Common Patterns</vt:lpstr>
      <vt:lpstr>Synthesis - Areas Where Evidence is Weak</vt:lpstr>
      <vt:lpstr>Critical Limitations</vt:lpstr>
      <vt:lpstr>Future Research Directions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Kavitha N.L</dc:creator>
  <cp:lastModifiedBy>chandra shekhara</cp:lastModifiedBy>
  <cp:revision>1</cp:revision>
  <dcterms:created xsi:type="dcterms:W3CDTF">2026-01-01T00:43:02Z</dcterms:created>
  <dcterms:modified xsi:type="dcterms:W3CDTF">2026-01-02T17:14:47Z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2026-01-01T00:00:00Z</vt:filetime>
  </property>
  <property fmtid="{D5CDD505-2E9C-101B-9397-08002B2CF9AE}" pid="5" name="Producer">
    <vt:lpwstr>Microsoft® PowerPoint® 2021</vt:lpwstr>
  </property>
</Properties>
</file>