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5358"/>
            <a:ext cx="7772400" cy="1470025"/>
          </a:xfrm>
        </p:spPr>
        <p:txBody>
          <a:bodyPr/>
          <a:lstStyle/>
          <a:p>
            <a:r>
              <a:rPr dirty="0"/>
              <a:t>Value-Based Education and Mental Health in School Students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4467" y="1610782"/>
            <a:ext cx="6578600" cy="3774017"/>
          </a:xfrm>
        </p:spPr>
        <p:txBody>
          <a:bodyPr>
            <a:normAutofit fontScale="85000" lnSpcReduction="20000"/>
          </a:bodyPr>
          <a:lstStyle/>
          <a:p>
            <a:r>
              <a:rPr dirty="0"/>
              <a:t>A Narrative Literature Review with Scenario-Based Analytical Synthesis</a:t>
            </a:r>
          </a:p>
          <a:p>
            <a:endParaRPr dirty="0"/>
          </a:p>
          <a:p>
            <a:r>
              <a:rPr dirty="0"/>
              <a:t>Traditional Indian Texts (</a:t>
            </a:r>
            <a:r>
              <a:rPr dirty="0" err="1"/>
              <a:t>Basavanna's</a:t>
            </a:r>
            <a:r>
              <a:rPr dirty="0"/>
              <a:t> Vachanas, </a:t>
            </a:r>
            <a:r>
              <a:rPr dirty="0" err="1"/>
              <a:t>Hitopadesha</a:t>
            </a:r>
            <a:r>
              <a:rPr dirty="0"/>
              <a:t>, Panchatantra)</a:t>
            </a:r>
          </a:p>
          <a:p>
            <a:r>
              <a:rPr dirty="0"/>
              <a:t>as Conceptual Frameworks</a:t>
            </a:r>
          </a:p>
          <a:p>
            <a:endParaRPr dirty="0"/>
          </a:p>
          <a:p>
            <a:r>
              <a:rPr dirty="0"/>
              <a:t>[This is a narrative literature review - not an empirical study]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CRITICAL POSITIONING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196667" cy="3242733"/>
          </a:xfrm>
        </p:spPr>
        <p:txBody>
          <a:bodyPr>
            <a:normAutofit fontScale="70000" lnSpcReduction="20000"/>
          </a:bodyPr>
          <a:lstStyle/>
          <a:p>
            <a:r>
              <a:rPr dirty="0"/>
              <a:t>• This presentation presents a NARRATIVE LITERATURE REVIEW</a:t>
            </a:r>
          </a:p>
          <a:p>
            <a:r>
              <a:rPr dirty="0"/>
              <a:t>• NOT an empirical intervention study</a:t>
            </a:r>
          </a:p>
          <a:p>
            <a:r>
              <a:rPr dirty="0"/>
              <a:t>• NO claims of statistical improvement or effectiveness</a:t>
            </a:r>
          </a:p>
          <a:p>
            <a:r>
              <a:rPr dirty="0"/>
              <a:t>• Scenario-based analysis = conceptual exploration, NOT case studies</a:t>
            </a:r>
          </a:p>
          <a:p>
            <a:r>
              <a:rPr dirty="0"/>
              <a:t>• All findings are positioned as CONCEPTUAL CONTRIBUTIONS</a:t>
            </a:r>
          </a:p>
          <a:p>
            <a:r>
              <a:rPr dirty="0"/>
              <a:t>• Explicit limitations acknowledged throughout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 &amp;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992533" cy="3310467"/>
          </a:xfrm>
        </p:spPr>
        <p:txBody>
          <a:bodyPr>
            <a:normAutofit fontScale="70000" lnSpcReduction="20000"/>
          </a:bodyPr>
          <a:lstStyle/>
          <a:p>
            <a:r>
              <a:rPr dirty="0"/>
              <a:t>THE CONTEMPORARY EDUCATIONAL CHALLENGE</a:t>
            </a:r>
          </a:p>
          <a:p>
            <a:pPr lvl="1"/>
            <a:r>
              <a:rPr dirty="0"/>
              <a:t>• Rising mental health challenges among school students globally</a:t>
            </a:r>
          </a:p>
          <a:p>
            <a:pPr lvl="2"/>
            <a:r>
              <a:rPr dirty="0"/>
              <a:t>  - Stress, anxiety, emotional instability (WHO, 2021)</a:t>
            </a:r>
          </a:p>
          <a:p>
            <a:pPr lvl="2"/>
            <a:r>
              <a:rPr dirty="0"/>
              <a:t>  - Academic pressure and performance anxiety</a:t>
            </a:r>
          </a:p>
          <a:p>
            <a:pPr lvl="2"/>
            <a:r>
              <a:rPr dirty="0"/>
              <a:t>  - Peer conflicts and social isolation</a:t>
            </a:r>
          </a:p>
          <a:p>
            <a:pPr lvl="1"/>
            <a:r>
              <a:rPr dirty="0"/>
              <a:t>• Overemphasis on academic performance</a:t>
            </a:r>
          </a:p>
          <a:p>
            <a:pPr lvl="2"/>
            <a:r>
              <a:rPr dirty="0"/>
              <a:t>  - Cognitive development prioritized over holistic growth</a:t>
            </a:r>
          </a:p>
          <a:p>
            <a:pPr lvl="2"/>
            <a:r>
              <a:rPr dirty="0"/>
              <a:t>  - Limited integration of values and emotional intelligence</a:t>
            </a:r>
          </a:p>
          <a:p>
            <a:pPr lvl="1"/>
            <a:r>
              <a:rPr dirty="0"/>
              <a:t>• Fragmented life-skills and mental-health interventions</a:t>
            </a:r>
          </a:p>
          <a:p>
            <a:pPr lvl="2"/>
            <a:r>
              <a:rPr dirty="0"/>
              <a:t>  - Lack of culturally grounded frameworks</a:t>
            </a:r>
          </a:p>
          <a:p>
            <a:pPr lvl="2"/>
            <a:r>
              <a:rPr dirty="0"/>
              <a:t>  - Need for comprehensive value-based approaches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Aim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493000" cy="2988733"/>
          </a:xfrm>
        </p:spPr>
        <p:txBody>
          <a:bodyPr>
            <a:normAutofit fontScale="55000" lnSpcReduction="20000"/>
          </a:bodyPr>
          <a:lstStyle/>
          <a:p>
            <a:r>
              <a:rPr dirty="0"/>
              <a:t>Primary Aim:</a:t>
            </a:r>
          </a:p>
          <a:p>
            <a:r>
              <a:rPr dirty="0"/>
              <a:t>To critically review value-based education literature and analyze traditional Indian texts as conceptual frameworks for mental health support</a:t>
            </a:r>
          </a:p>
          <a:p>
            <a:r>
              <a:rPr dirty="0"/>
              <a:t>Specific Objectives:</a:t>
            </a:r>
          </a:p>
          <a:p>
            <a:pPr lvl="1"/>
            <a:r>
              <a:rPr dirty="0"/>
              <a:t>• Synthesize literature on value-based education (2015-2025)</a:t>
            </a:r>
          </a:p>
          <a:p>
            <a:pPr lvl="1"/>
            <a:r>
              <a:rPr dirty="0"/>
              <a:t>• Analyze traditional Indian texts as potential conceptual frameworks</a:t>
            </a:r>
          </a:p>
          <a:p>
            <a:pPr lvl="1"/>
            <a:r>
              <a:rPr dirty="0"/>
              <a:t>• Employ scenario-based analytical approach</a:t>
            </a:r>
          </a:p>
          <a:p>
            <a:pPr lvl="1"/>
            <a:r>
              <a:rPr dirty="0"/>
              <a:t>• Identify limitations and research gaps</a:t>
            </a:r>
          </a:p>
          <a:p>
            <a:pPr lvl="1"/>
            <a:r>
              <a:rPr dirty="0"/>
              <a:t>• Position work as conceptual contribution requiring empirical validation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171267" cy="3344333"/>
          </a:xfrm>
        </p:spPr>
        <p:txBody>
          <a:bodyPr>
            <a:normAutofit fontScale="70000" lnSpcReduction="20000"/>
          </a:bodyPr>
          <a:lstStyle/>
          <a:p>
            <a:r>
              <a:rPr dirty="0"/>
              <a:t>Review Type: Narrative literature review (not systematic review)</a:t>
            </a:r>
          </a:p>
          <a:p>
            <a:r>
              <a:rPr dirty="0"/>
              <a:t>Databases: Google Scholar, PubMed, Semantic Scholar</a:t>
            </a:r>
          </a:p>
          <a:p>
            <a:r>
              <a:rPr dirty="0"/>
              <a:t>Time Period: 2015-2025</a:t>
            </a:r>
          </a:p>
          <a:p>
            <a:pPr lvl="1"/>
            <a:r>
              <a:rPr dirty="0"/>
              <a:t>Search Focus:</a:t>
            </a:r>
          </a:p>
          <a:p>
            <a:pPr lvl="2"/>
            <a:r>
              <a:rPr dirty="0"/>
              <a:t>• Value-based education AND mental health</a:t>
            </a:r>
          </a:p>
          <a:p>
            <a:pPr lvl="2"/>
            <a:r>
              <a:rPr dirty="0"/>
              <a:t>• Traditional Indian texts AND education</a:t>
            </a:r>
          </a:p>
          <a:p>
            <a:pPr lvl="2"/>
            <a:r>
              <a:rPr dirty="0"/>
              <a:t>• Narrative approaches to moral/ethical education</a:t>
            </a:r>
          </a:p>
          <a:p>
            <a:r>
              <a:rPr dirty="0"/>
              <a:t>Analytical Approach: Scenario-based synthesis</a:t>
            </a:r>
          </a:p>
          <a:p>
            <a:pPr lvl="1"/>
            <a:r>
              <a:rPr dirty="0"/>
              <a:t>• Scenarios = analytical units, NOT case studies</a:t>
            </a:r>
          </a:p>
          <a:p>
            <a:pPr lvl="1"/>
            <a:r>
              <a:rPr dirty="0"/>
              <a:t>• Conceptual exploration, NOT empirical evidence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Rationale for Scenario-Based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594600" cy="3132667"/>
          </a:xfrm>
        </p:spPr>
        <p:txBody>
          <a:bodyPr>
            <a:normAutofit fontScale="62500" lnSpcReduction="20000"/>
          </a:bodyPr>
          <a:lstStyle/>
          <a:p>
            <a:r>
              <a:rPr dirty="0"/>
              <a:t>WHY SCENARIOS?</a:t>
            </a:r>
          </a:p>
          <a:p>
            <a:pPr lvl="1"/>
            <a:r>
              <a:rPr dirty="0"/>
              <a:t>• Scenarios as analytical units derived from literature</a:t>
            </a:r>
          </a:p>
          <a:p>
            <a:pPr lvl="2"/>
            <a:r>
              <a:rPr dirty="0"/>
              <a:t>  - Common mental health challenges identified in research</a:t>
            </a:r>
          </a:p>
          <a:p>
            <a:pPr lvl="2"/>
            <a:r>
              <a:rPr dirty="0"/>
              <a:t>  - Structured framework for conceptual exploration</a:t>
            </a:r>
          </a:p>
          <a:p>
            <a:pPr lvl="1"/>
            <a:r>
              <a:rPr dirty="0"/>
              <a:t>• Appropriate for Conceptual Research</a:t>
            </a:r>
          </a:p>
          <a:p>
            <a:pPr lvl="2"/>
            <a:r>
              <a:rPr dirty="0"/>
              <a:t>  - Allows exploration of potential applications</a:t>
            </a:r>
          </a:p>
          <a:p>
            <a:pPr lvl="2"/>
            <a:r>
              <a:rPr dirty="0"/>
              <a:t>  - Facilitates critical analysis of limitations</a:t>
            </a:r>
          </a:p>
          <a:p>
            <a:pPr lvl="2"/>
            <a:r>
              <a:rPr dirty="0"/>
              <a:t>  - Supports theoretical framework development</a:t>
            </a:r>
          </a:p>
          <a:p>
            <a:pPr lvl="1"/>
            <a:r>
              <a:rPr dirty="0"/>
              <a:t>• Explicit Clarification</a:t>
            </a:r>
          </a:p>
          <a:p>
            <a:pPr lvl="2"/>
            <a:r>
              <a:rPr dirty="0"/>
              <a:t>  - Scenarios are NOT case studies</a:t>
            </a:r>
          </a:p>
          <a:p>
            <a:pPr lvl="2"/>
            <a:r>
              <a:rPr dirty="0"/>
              <a:t>  - Scenarios are NOT empirical evidence</a:t>
            </a:r>
          </a:p>
          <a:p>
            <a:pPr lvl="2"/>
            <a:r>
              <a:rPr dirty="0"/>
              <a:t>  - Scenarios are analytical tools for conceptual research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Traditional Texts - Conceptual Foundations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7636933" cy="3124200"/>
          </a:xfrm>
        </p:spPr>
        <p:txBody>
          <a:bodyPr>
            <a:normAutofit fontScale="55000" lnSpcReduction="20000"/>
          </a:bodyPr>
          <a:lstStyle/>
          <a:p>
            <a:r>
              <a:rPr dirty="0" err="1"/>
              <a:t>Basavanna's</a:t>
            </a:r>
            <a:r>
              <a:rPr dirty="0"/>
              <a:t> Vachanas (12th century)</a:t>
            </a:r>
          </a:p>
          <a:p>
            <a:pPr lvl="1"/>
            <a:r>
              <a:rPr dirty="0"/>
              <a:t>• Kannada philosophical poetry</a:t>
            </a:r>
          </a:p>
          <a:p>
            <a:pPr lvl="1"/>
            <a:r>
              <a:rPr dirty="0"/>
              <a:t>• Themes: Social equality, ethical conduct, self-awareness</a:t>
            </a:r>
          </a:p>
          <a:p>
            <a:pPr lvl="1"/>
            <a:r>
              <a:rPr dirty="0"/>
              <a:t>• Emphasis: Inner development, empathy, moral responsibility</a:t>
            </a:r>
          </a:p>
          <a:p>
            <a:r>
              <a:rPr dirty="0" err="1"/>
              <a:t>Hitopadesha</a:t>
            </a:r>
            <a:r>
              <a:rPr dirty="0"/>
              <a:t> (Ancient Sanskrit)</a:t>
            </a:r>
          </a:p>
          <a:p>
            <a:pPr lvl="1"/>
            <a:r>
              <a:rPr dirty="0"/>
              <a:t>• Animal fables teaching practical wisdom</a:t>
            </a:r>
          </a:p>
          <a:p>
            <a:pPr lvl="1"/>
            <a:r>
              <a:rPr dirty="0"/>
              <a:t>• Themes: Decision-making, conflict resolution, interpersonal skills</a:t>
            </a:r>
          </a:p>
          <a:p>
            <a:pPr lvl="1"/>
            <a:r>
              <a:rPr dirty="0"/>
              <a:t>• Format: Narrative allegories</a:t>
            </a:r>
          </a:p>
          <a:p>
            <a:r>
              <a:rPr dirty="0"/>
              <a:t>Panchatantra (Classical collection)</a:t>
            </a:r>
          </a:p>
          <a:p>
            <a:pPr lvl="1"/>
            <a:r>
              <a:rPr dirty="0"/>
              <a:t>• Animal stories for life skills education</a:t>
            </a:r>
          </a:p>
          <a:p>
            <a:pPr lvl="1"/>
            <a:r>
              <a:rPr dirty="0"/>
              <a:t>• Themes: Cooperation, wisdom, ethical behavior</a:t>
            </a:r>
          </a:p>
          <a:p>
            <a:pPr lvl="1"/>
            <a:r>
              <a:rPr dirty="0"/>
              <a:t>• Approach: Allegorical teaching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1 - Academic Stress &amp; Performance Anxiety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7552267" cy="3175000"/>
          </a:xfrm>
        </p:spPr>
        <p:txBody>
          <a:bodyPr>
            <a:normAutofit fontScale="55000" lnSpcReduction="20000"/>
          </a:bodyPr>
          <a:lstStyle/>
          <a:p>
            <a:r>
              <a:rPr dirty="0"/>
              <a:t>PROBLEM:</a:t>
            </a:r>
          </a:p>
          <a:p>
            <a:pPr lvl="1"/>
            <a:r>
              <a:rPr dirty="0"/>
              <a:t>High levels of stress, sleep disturbances, anxiety disorders in competitive academic environments (Pandey, 2019; Sharma, 2018)</a:t>
            </a:r>
          </a:p>
          <a:p>
            <a:r>
              <a:rPr dirty="0"/>
              <a:t>TRADITIONAL TEXT:</a:t>
            </a:r>
          </a:p>
          <a:p>
            <a:pPr lvl="1"/>
            <a:r>
              <a:rPr dirty="0" err="1"/>
              <a:t>Basavanna's</a:t>
            </a:r>
            <a:r>
              <a:rPr dirty="0"/>
              <a:t> Vachanas - emphasis on inner peace, detachment from external validation, intrinsic motivation</a:t>
            </a:r>
          </a:p>
          <a:p>
            <a:r>
              <a:rPr dirty="0"/>
              <a:t>CONCEPTUAL LINK:</a:t>
            </a:r>
          </a:p>
          <a:p>
            <a:pPr lvl="1"/>
            <a:r>
              <a:rPr dirty="0"/>
              <a:t>Philosophical shift from external metrics to internal growth might support stress reduction (theoretical connection)</a:t>
            </a:r>
          </a:p>
          <a:p>
            <a:r>
              <a:rPr dirty="0"/>
              <a:t>LIMITATION:</a:t>
            </a:r>
          </a:p>
          <a:p>
            <a:pPr lvl="1"/>
            <a:r>
              <a:rPr dirty="0"/>
              <a:t>No empirical studies validate effectiveness. Framework requires rigorous controlled testing.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2 - Peer Conflict &amp; Aggression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7594600" cy="3361266"/>
          </a:xfrm>
        </p:spPr>
        <p:txBody>
          <a:bodyPr>
            <a:normAutofit fontScale="55000" lnSpcReduction="20000"/>
          </a:bodyPr>
          <a:lstStyle/>
          <a:p>
            <a:r>
              <a:rPr dirty="0"/>
              <a:t>PROBLEM:</a:t>
            </a:r>
          </a:p>
          <a:p>
            <a:pPr lvl="1"/>
            <a:r>
              <a:rPr dirty="0"/>
              <a:t>Peer conflicts and aggressive behaviors prevalent in schools, contributing to emotional distress and social isolation (Joshi &amp; Mehta, 2021)</a:t>
            </a:r>
          </a:p>
          <a:p>
            <a:r>
              <a:rPr dirty="0"/>
              <a:t>TRADITIONAL TEXT:</a:t>
            </a:r>
          </a:p>
          <a:p>
            <a:pPr lvl="1"/>
            <a:r>
              <a:rPr dirty="0" err="1"/>
              <a:t>Hitopadesha</a:t>
            </a:r>
            <a:r>
              <a:rPr dirty="0"/>
              <a:t> - fables addressing conflict resolution, understanding perspectives, finding mutually beneficial solutions</a:t>
            </a:r>
          </a:p>
          <a:p>
            <a:r>
              <a:rPr dirty="0"/>
              <a:t>CONCEPTUAL LINK:</a:t>
            </a:r>
          </a:p>
          <a:p>
            <a:pPr lvl="1"/>
            <a:r>
              <a:rPr dirty="0"/>
              <a:t>Narrative-based discussions might provide frameworks for navigating interpersonal challenges. Allegorical format facilitates reflection.</a:t>
            </a:r>
          </a:p>
          <a:p>
            <a:r>
              <a:rPr dirty="0"/>
              <a:t>LIMITATION:</a:t>
            </a:r>
          </a:p>
          <a:p>
            <a:pPr lvl="1"/>
            <a:r>
              <a:rPr dirty="0"/>
              <a:t>Transfer of narrative lessons to real-world conflict resolution requires empirical validation. Cultural factors may limit generalizability.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3 - Low Self-Esteem &amp; Identity Confusion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7806267" cy="3606800"/>
          </a:xfrm>
        </p:spPr>
        <p:txBody>
          <a:bodyPr>
            <a:normAutofit fontScale="62500" lnSpcReduction="20000"/>
          </a:bodyPr>
          <a:lstStyle/>
          <a:p>
            <a:r>
              <a:rPr dirty="0"/>
              <a:t>PROBLEM:</a:t>
            </a:r>
          </a:p>
          <a:p>
            <a:pPr lvl="1"/>
            <a:r>
              <a:rPr dirty="0"/>
              <a:t>Adolescent identity development issues, low self-worth associated with poor academic performance and social withdrawal (Singh &amp; Verma, 2021)</a:t>
            </a:r>
          </a:p>
          <a:p>
            <a:r>
              <a:rPr dirty="0"/>
              <a:t>TRADITIONAL TEXT:</a:t>
            </a:r>
          </a:p>
          <a:p>
            <a:pPr lvl="1"/>
            <a:r>
              <a:rPr dirty="0" err="1"/>
              <a:t>Basavanna's</a:t>
            </a:r>
            <a:r>
              <a:rPr dirty="0"/>
              <a:t> Vachanas - emphasis on inherent worth of all individuals regardless of social status, promoting self-acceptance</a:t>
            </a:r>
          </a:p>
          <a:p>
            <a:r>
              <a:rPr dirty="0"/>
              <a:t>CONCEPTUAL LINK:</a:t>
            </a:r>
          </a:p>
          <a:p>
            <a:pPr lvl="1"/>
            <a:r>
              <a:rPr dirty="0"/>
              <a:t>Philosophical teachings about universal human value might conceptually support positive identity formation</a:t>
            </a:r>
          </a:p>
          <a:p>
            <a:r>
              <a:rPr dirty="0"/>
              <a:t>LIMITATION:</a:t>
            </a:r>
          </a:p>
          <a:p>
            <a:pPr lvl="1"/>
            <a:r>
              <a:rPr dirty="0"/>
              <a:t>No studies directly examine impact on self-esteem. Historical context may require adaptation. May not resonate across all cultural backgrounds.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4 - Bullying &amp; Social Exclusion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806267" cy="3522133"/>
          </a:xfrm>
        </p:spPr>
        <p:txBody>
          <a:bodyPr>
            <a:normAutofit fontScale="55000" lnSpcReduction="20000"/>
          </a:bodyPr>
          <a:lstStyle/>
          <a:p>
            <a:r>
              <a:rPr dirty="0"/>
              <a:t>PROBLEM:</a:t>
            </a:r>
          </a:p>
          <a:p>
            <a:pPr lvl="1"/>
            <a:r>
              <a:rPr dirty="0"/>
              <a:t>Bullying and social exclusion represent serious mental health threats, associated with depression, anxiety, suicidal ideation (Kumaran &amp; Singh, 2019)</a:t>
            </a:r>
          </a:p>
          <a:p>
            <a:r>
              <a:rPr dirty="0"/>
              <a:t>TRADITIONAL TEXT:</a:t>
            </a:r>
          </a:p>
          <a:p>
            <a:pPr lvl="1"/>
            <a:r>
              <a:rPr dirty="0"/>
              <a:t>Panchatantra - stories about consequences of harmful behavior, importance of treating others with respect, how exclusion harms perpetrators</a:t>
            </a:r>
          </a:p>
          <a:p>
            <a:r>
              <a:rPr dirty="0"/>
              <a:t>CONCEPTUAL LINK:</a:t>
            </a:r>
          </a:p>
          <a:p>
            <a:pPr lvl="1"/>
            <a:r>
              <a:rPr dirty="0"/>
              <a:t>Allegorical stories might provide safe spaces for discussing bullying. Narrative format could facilitate empathy development.</a:t>
            </a:r>
          </a:p>
          <a:p>
            <a:r>
              <a:rPr dirty="0"/>
              <a:t>LIMITATION:</a:t>
            </a:r>
          </a:p>
          <a:p>
            <a:pPr lvl="1"/>
            <a:r>
              <a:rPr dirty="0"/>
              <a:t>Narrative-based interventions for bullying require comprehensive empirical evaluation. Effectiveness in addressing contemporary bullying dynamics remains unproven.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5 - Anger &amp; Emotional Dysregulation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620000" cy="3014133"/>
          </a:xfrm>
        </p:spPr>
        <p:txBody>
          <a:bodyPr>
            <a:normAutofit fontScale="55000" lnSpcReduction="20000"/>
          </a:bodyPr>
          <a:lstStyle/>
          <a:p>
            <a:r>
              <a:rPr dirty="0"/>
              <a:t>PROBLEM:</a:t>
            </a:r>
          </a:p>
          <a:p>
            <a:pPr lvl="1"/>
            <a:r>
              <a:rPr dirty="0"/>
              <a:t>Emotional dysregulation, particularly anger management issues, impacts well-being and classroom dynamics. Linked to academic and social difficulties (Kumar, 2018)</a:t>
            </a:r>
          </a:p>
          <a:p>
            <a:r>
              <a:rPr dirty="0"/>
              <a:t>TRADITIONAL TEXT:</a:t>
            </a:r>
          </a:p>
          <a:p>
            <a:pPr lvl="1"/>
            <a:r>
              <a:rPr dirty="0" err="1"/>
              <a:t>Basavanna's</a:t>
            </a:r>
            <a:r>
              <a:rPr dirty="0"/>
              <a:t> Vachanas - emphasis on self-control, emotional mastery, understanding transient nature of emotions</a:t>
            </a:r>
          </a:p>
          <a:p>
            <a:r>
              <a:rPr dirty="0"/>
              <a:t>CONCEPTUAL LINK:</a:t>
            </a:r>
          </a:p>
          <a:p>
            <a:pPr lvl="1"/>
            <a:r>
              <a:rPr dirty="0"/>
              <a:t>Philosophical approaches to emotional awareness might conceptually support regulation skills. Aligns with cognitive-behavioral principles.</a:t>
            </a:r>
          </a:p>
          <a:p>
            <a:r>
              <a:rPr dirty="0"/>
              <a:t>LIMITATION:</a:t>
            </a:r>
          </a:p>
          <a:p>
            <a:pPr lvl="1"/>
            <a:r>
              <a:rPr dirty="0"/>
              <a:t>Abstract nature of philosophical teachings may not be accessible to all age groups. Direct translation to practical strategies requires empirical validation.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6 - Dishonesty &amp; Ethical Drift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530600"/>
          </a:xfrm>
        </p:spPr>
        <p:txBody>
          <a:bodyPr>
            <a:normAutofit fontScale="55000" lnSpcReduction="20000"/>
          </a:bodyPr>
          <a:lstStyle/>
          <a:p>
            <a:r>
              <a:rPr dirty="0"/>
              <a:t>PROBLEM:</a:t>
            </a:r>
          </a:p>
          <a:p>
            <a:pPr lvl="1"/>
            <a:r>
              <a:rPr dirty="0"/>
              <a:t>Academic dishonesty and ethical lapses raise concerns about character development. Value-based interventions might support ethical decision-making (Pandey, 2019)</a:t>
            </a:r>
          </a:p>
          <a:p>
            <a:r>
              <a:rPr dirty="0"/>
              <a:t>TRADITIONAL TEXT:</a:t>
            </a:r>
          </a:p>
          <a:p>
            <a:pPr lvl="1"/>
            <a:r>
              <a:rPr dirty="0" err="1"/>
              <a:t>Hitopadesha</a:t>
            </a:r>
            <a:r>
              <a:rPr dirty="0"/>
              <a:t> and Panchatantra - stories illustrating consequences of dishonesty, value of integrity, how short-term gains lead to long-term losses</a:t>
            </a:r>
          </a:p>
          <a:p>
            <a:r>
              <a:rPr dirty="0"/>
              <a:t>CONCEPTUAL LINK:</a:t>
            </a:r>
          </a:p>
          <a:p>
            <a:pPr lvl="1"/>
            <a:r>
              <a:rPr dirty="0"/>
              <a:t>Moral narratives might provide frameworks for ethical reasoning. Story format makes abstract concepts more concrete.</a:t>
            </a:r>
          </a:p>
          <a:p>
            <a:r>
              <a:rPr dirty="0"/>
              <a:t>LIMITATION:</a:t>
            </a:r>
          </a:p>
          <a:p>
            <a:pPr lvl="1"/>
            <a:r>
              <a:rPr dirty="0"/>
              <a:t>Relationship between narrative exposure and actual ethical behavior requires empirical investigation. Cultural and generational differences may affect relevance.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7 - Digital Addiction &amp; Attention Fragmentation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848600" cy="3513667"/>
          </a:xfrm>
        </p:spPr>
        <p:txBody>
          <a:bodyPr>
            <a:normAutofit fontScale="55000" lnSpcReduction="20000"/>
          </a:bodyPr>
          <a:lstStyle/>
          <a:p>
            <a:r>
              <a:rPr dirty="0"/>
              <a:t>PROBLEM:</a:t>
            </a:r>
          </a:p>
          <a:p>
            <a:pPr lvl="1"/>
            <a:r>
              <a:rPr dirty="0"/>
              <a:t>Digital device overuse leads to attention difficulties, sleep problems, social isolation. Increasing technology-related mental health issues (Nair &amp; Sharma, 2020)</a:t>
            </a:r>
          </a:p>
          <a:p>
            <a:r>
              <a:rPr dirty="0"/>
              <a:t>TRADITIONAL TEXT:</a:t>
            </a:r>
          </a:p>
          <a:p>
            <a:pPr lvl="1"/>
            <a:r>
              <a:rPr dirty="0" err="1"/>
              <a:t>Basavanna's</a:t>
            </a:r>
            <a:r>
              <a:rPr dirty="0"/>
              <a:t> Vachanas - emphasis on mindfulness, present-moment awareness, concepts related to attention regulation</a:t>
            </a:r>
          </a:p>
          <a:p>
            <a:r>
              <a:rPr dirty="0"/>
              <a:t>CONCEPTUAL LINK:</a:t>
            </a:r>
          </a:p>
          <a:p>
            <a:pPr lvl="1"/>
            <a:r>
              <a:rPr dirty="0"/>
              <a:t>Philosophical teachings about focus and awareness might provide frameworks for understanding attention and distraction</a:t>
            </a:r>
          </a:p>
          <a:p>
            <a:r>
              <a:rPr dirty="0"/>
              <a:t>LIMITATION:</a:t>
            </a:r>
          </a:p>
          <a:p>
            <a:pPr lvl="1"/>
            <a:r>
              <a:rPr dirty="0"/>
              <a:t>Historical context predates digital technology entirely. Direct application requires significant adaptation. No empirical studies examine this connection.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8 - Peer Pressure &amp; Impulsive Decision-Making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806267" cy="3793067"/>
          </a:xfrm>
        </p:spPr>
        <p:txBody>
          <a:bodyPr>
            <a:normAutofit fontScale="55000" lnSpcReduction="20000"/>
          </a:bodyPr>
          <a:lstStyle/>
          <a:p>
            <a:r>
              <a:rPr dirty="0"/>
              <a:t>PROBLEM:</a:t>
            </a:r>
          </a:p>
          <a:p>
            <a:pPr lvl="1"/>
            <a:r>
              <a:rPr dirty="0"/>
              <a:t>Adolescent susceptibility to peer pressure and impulsive decision-making contributes to risky behaviors and negative mental health outcomes (Sharma &amp; Rao, 2017)</a:t>
            </a:r>
          </a:p>
          <a:p>
            <a:r>
              <a:rPr dirty="0"/>
              <a:t>TRADITIONAL TEXT:</a:t>
            </a:r>
          </a:p>
          <a:p>
            <a:pPr lvl="1"/>
            <a:r>
              <a:rPr dirty="0" err="1"/>
              <a:t>Hitopadesha</a:t>
            </a:r>
            <a:r>
              <a:rPr dirty="0"/>
              <a:t> - stories about wise decision-making, considering consequences, resisting harmful influences, importance of independent judgment</a:t>
            </a:r>
          </a:p>
          <a:p>
            <a:r>
              <a:rPr dirty="0"/>
              <a:t>CONCEPTUAL LINK:</a:t>
            </a:r>
          </a:p>
          <a:p>
            <a:pPr lvl="1"/>
            <a:r>
              <a:rPr dirty="0"/>
              <a:t>Stories about decision-making might provide frameworks for understanding choice, consequence, and peer influence. Narrative format could facilitate discussion of sensitive topics.</a:t>
            </a:r>
          </a:p>
          <a:p>
            <a:r>
              <a:rPr dirty="0"/>
              <a:t>LIMITATION:</a:t>
            </a:r>
          </a:p>
          <a:p>
            <a:pPr lvl="1"/>
            <a:r>
              <a:rPr dirty="0"/>
              <a:t>Narrative exposure alone may not translate to improved decision-making in real-world peer pressure situations. Comprehensive skill-building interventions likely necessary.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9 - Demotivation &amp; Loss of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653867" cy="3564467"/>
          </a:xfrm>
        </p:spPr>
        <p:txBody>
          <a:bodyPr>
            <a:normAutofit fontScale="55000" lnSpcReduction="20000"/>
          </a:bodyPr>
          <a:lstStyle/>
          <a:p>
            <a:r>
              <a:rPr dirty="0"/>
              <a:t>PROBLEM:</a:t>
            </a:r>
          </a:p>
          <a:p>
            <a:pPr lvl="1"/>
            <a:r>
              <a:rPr dirty="0"/>
              <a:t>Student demotivation and lack of purpose associated with poor academic performance and mental health issues. Meaning-making supports well-being (Narayan, 2015)</a:t>
            </a:r>
          </a:p>
          <a:p>
            <a:r>
              <a:rPr dirty="0"/>
              <a:t>TRADITIONAL TEXT:</a:t>
            </a:r>
          </a:p>
          <a:p>
            <a:pPr lvl="1"/>
            <a:r>
              <a:rPr dirty="0" err="1"/>
              <a:t>Basavanna's</a:t>
            </a:r>
            <a:r>
              <a:rPr dirty="0"/>
              <a:t> Vachanas - emphasis on finding purpose through service and ethical living. Meaning comes from contributing to others' well-being.</a:t>
            </a:r>
          </a:p>
          <a:p>
            <a:r>
              <a:rPr dirty="0"/>
              <a:t>CONCEPTUAL LINK:</a:t>
            </a:r>
          </a:p>
          <a:p>
            <a:pPr lvl="1"/>
            <a:r>
              <a:rPr dirty="0"/>
              <a:t>Philosophical discussions of purpose and meaning might conceptually support motivation and well-being</a:t>
            </a:r>
          </a:p>
          <a:p>
            <a:r>
              <a:rPr dirty="0"/>
              <a:t>LIMITATION:</a:t>
            </a:r>
          </a:p>
          <a:p>
            <a:pPr lvl="1"/>
            <a:r>
              <a:rPr dirty="0"/>
              <a:t>Abstract nature of purpose and meaning may be difficult for younger students to grasp. Spiritual context may require secular adaptation. Empirical validation lacking.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10 - Social Responsibility &amp; Empathy Deficit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144933" cy="3369733"/>
          </a:xfrm>
        </p:spPr>
        <p:txBody>
          <a:bodyPr>
            <a:normAutofit fontScale="55000" lnSpcReduction="20000"/>
          </a:bodyPr>
          <a:lstStyle/>
          <a:p>
            <a:r>
              <a:rPr dirty="0"/>
              <a:t>PROBLEM:</a:t>
            </a:r>
          </a:p>
          <a:p>
            <a:pPr lvl="1"/>
            <a:r>
              <a:rPr dirty="0"/>
              <a:t>Research indicates declining empathy levels and reduced engagement with social responsibility. Concerns about social cohesion and individual well-being (Desai &amp; Patel, 2020)</a:t>
            </a:r>
          </a:p>
          <a:p>
            <a:r>
              <a:rPr dirty="0"/>
              <a:t>TRADITIONAL TEXT:</a:t>
            </a:r>
          </a:p>
          <a:p>
            <a:pPr lvl="1"/>
            <a:r>
              <a:rPr dirty="0"/>
              <a:t>All three sources emphasize social responsibility, compassion, concern for others' welfare. </a:t>
            </a:r>
            <a:r>
              <a:rPr dirty="0" err="1"/>
              <a:t>Basavanna's</a:t>
            </a:r>
            <a:r>
              <a:rPr dirty="0"/>
              <a:t> Vachanas particularly stress equality and service.</a:t>
            </a:r>
          </a:p>
          <a:p>
            <a:r>
              <a:rPr dirty="0"/>
              <a:t>CONCEPTUAL LINK:</a:t>
            </a:r>
          </a:p>
          <a:p>
            <a:pPr lvl="1"/>
            <a:r>
              <a:rPr dirty="0"/>
              <a:t>Narratives emphasizing empathy and social responsibility might provide frameworks for understanding interconnectedness and mutual care. Story-based approaches could facilitate empathy development.</a:t>
            </a:r>
          </a:p>
          <a:p>
            <a:r>
              <a:rPr dirty="0"/>
              <a:t>LIMITATION:</a:t>
            </a:r>
          </a:p>
          <a:p>
            <a:pPr lvl="1"/>
            <a:r>
              <a:rPr dirty="0"/>
              <a:t>Relationship between narrative exposure and actual empathetic behavior requires empirical investigation. Cultural and individual differences may affect narrative impact.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686800" cy="495829"/>
          </a:xfrm>
        </p:spPr>
        <p:txBody>
          <a:bodyPr>
            <a:normAutofit fontScale="90000"/>
          </a:bodyPr>
          <a:lstStyle/>
          <a:p>
            <a:r>
              <a:rPr dirty="0"/>
              <a:t>Synthesis - What Value-Based Narratives Can Conceptually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7950200" cy="4013200"/>
          </a:xfrm>
        </p:spPr>
        <p:txBody>
          <a:bodyPr>
            <a:normAutofit fontScale="70000" lnSpcReduction="20000"/>
          </a:bodyPr>
          <a:lstStyle/>
          <a:p>
            <a:r>
              <a:rPr dirty="0"/>
              <a:t>POTENTIAL CONCEPTUAL CONTRIBUTIONS</a:t>
            </a:r>
          </a:p>
          <a:p>
            <a:pPr lvl="1"/>
            <a:r>
              <a:rPr dirty="0"/>
              <a:t>• Emotional Awareness: Self-reflection and emotional understanding frameworks</a:t>
            </a:r>
          </a:p>
          <a:p>
            <a:pPr lvl="1"/>
            <a:r>
              <a:rPr dirty="0"/>
              <a:t>• Moral Reasoning: Ethical decision-making frameworks through narratives</a:t>
            </a:r>
          </a:p>
          <a:p>
            <a:pPr lvl="1"/>
            <a:r>
              <a:rPr dirty="0"/>
              <a:t>• Empathy Development: Diverse perspectives and experiences through stories</a:t>
            </a:r>
          </a:p>
          <a:p>
            <a:pPr lvl="1"/>
            <a:r>
              <a:rPr dirty="0"/>
              <a:t>• Resilience Building: Teachings about inner strength and perseverance</a:t>
            </a:r>
          </a:p>
          <a:p>
            <a:pPr lvl="1"/>
            <a:r>
              <a:rPr dirty="0"/>
              <a:t>• Cultural Identity: Connection to traditional wisdom may support belonging</a:t>
            </a:r>
          </a:p>
          <a:p>
            <a:r>
              <a:rPr dirty="0"/>
              <a:t>IMPORTANT: These are CONCEPTUAL possibilities, NOT proven outcomes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Synthesis - What They Cannot Address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442200" cy="3996267"/>
          </a:xfrm>
        </p:spPr>
        <p:txBody>
          <a:bodyPr>
            <a:normAutofit fontScale="85000" lnSpcReduction="10000"/>
          </a:bodyPr>
          <a:lstStyle/>
          <a:p>
            <a:r>
              <a:rPr dirty="0"/>
              <a:t>CRITICAL LIMITATIONS</a:t>
            </a:r>
          </a:p>
          <a:p>
            <a:pPr lvl="1"/>
            <a:r>
              <a:rPr dirty="0"/>
              <a:t>Narrative approaches alone CANNOT:</a:t>
            </a:r>
          </a:p>
          <a:p>
            <a:pPr lvl="2"/>
            <a:r>
              <a:rPr dirty="0"/>
              <a:t>• Replace clinical interventions for serious mental health conditions</a:t>
            </a:r>
          </a:p>
          <a:p>
            <a:pPr lvl="2"/>
            <a:r>
              <a:rPr dirty="0"/>
              <a:t>• Guarantee behavioral change from narrative exposure</a:t>
            </a:r>
          </a:p>
          <a:p>
            <a:pPr lvl="2"/>
            <a:r>
              <a:rPr dirty="0"/>
              <a:t>• Address all cultural and individual contexts</a:t>
            </a:r>
          </a:p>
          <a:p>
            <a:pPr lvl="2"/>
            <a:r>
              <a:rPr dirty="0"/>
              <a:t>• Provide immediate solutions (require time and reflection)</a:t>
            </a:r>
          </a:p>
          <a:p>
            <a:pPr lvl="2"/>
            <a:r>
              <a:rPr dirty="0"/>
              <a:t>• Substitute for comprehensive mental health programs</a:t>
            </a:r>
          </a:p>
          <a:p>
            <a:r>
              <a:rPr dirty="0"/>
              <a:t>Isolated narrative exposure is INSUFFICIENT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Empirical Evidence is Lacking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7459133" cy="3556000"/>
          </a:xfrm>
        </p:spPr>
        <p:txBody>
          <a:bodyPr>
            <a:normAutofit fontScale="77500" lnSpcReduction="20000"/>
          </a:bodyPr>
          <a:lstStyle/>
          <a:p>
            <a:r>
              <a:rPr dirty="0"/>
              <a:t>SIGNIFICANT RESEARCH GAPS</a:t>
            </a:r>
          </a:p>
          <a:p>
            <a:pPr lvl="1"/>
            <a:r>
              <a:rPr dirty="0"/>
              <a:t>• Intervention Studies: Limited controlled trials examining traditional text-based interventions</a:t>
            </a:r>
          </a:p>
          <a:p>
            <a:pPr lvl="1"/>
            <a:r>
              <a:rPr dirty="0"/>
              <a:t>• Longitudinal Research: Absence of long-term follow-up studies</a:t>
            </a:r>
          </a:p>
          <a:p>
            <a:pPr lvl="1"/>
            <a:r>
              <a:rPr dirty="0"/>
              <a:t>• Standardized Assessment: Lack of validated tools for measuring outcomes</a:t>
            </a:r>
          </a:p>
          <a:p>
            <a:pPr lvl="1"/>
            <a:r>
              <a:rPr dirty="0"/>
              <a:t>• Comparative Effectiveness: No studies comparing traditional narrative approaches to other interventions</a:t>
            </a:r>
          </a:p>
          <a:p>
            <a:pPr lvl="1"/>
            <a:r>
              <a:rPr dirty="0"/>
              <a:t>• Implementation Research: Limited understanding of effective delivery methods and teacher training needs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Critical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7145867" cy="3302000"/>
          </a:xfrm>
        </p:spPr>
        <p:txBody>
          <a:bodyPr>
            <a:normAutofit fontScale="55000" lnSpcReduction="20000"/>
          </a:bodyPr>
          <a:lstStyle/>
          <a:p>
            <a:r>
              <a:rPr dirty="0"/>
              <a:t>EXPLICIT ACKNOWLEDGMENT</a:t>
            </a:r>
          </a:p>
          <a:p>
            <a:pPr lvl="1"/>
            <a:r>
              <a:rPr dirty="0"/>
              <a:t>Methodological Limitations:</a:t>
            </a:r>
          </a:p>
          <a:p>
            <a:pPr lvl="2"/>
            <a:r>
              <a:rPr dirty="0"/>
              <a:t>• Narrative review (not systematic review or meta-analysis)</a:t>
            </a:r>
          </a:p>
          <a:p>
            <a:pPr lvl="2"/>
            <a:r>
              <a:rPr dirty="0"/>
              <a:t>• Potential selection and publication bias</a:t>
            </a:r>
          </a:p>
          <a:p>
            <a:pPr lvl="2"/>
            <a:r>
              <a:rPr dirty="0"/>
              <a:t>• Language limitations</a:t>
            </a:r>
          </a:p>
          <a:p>
            <a:pPr lvl="1"/>
            <a:r>
              <a:rPr dirty="0"/>
              <a:t>Conceptual Limitations:</a:t>
            </a:r>
          </a:p>
          <a:p>
            <a:pPr lvl="2"/>
            <a:r>
              <a:rPr dirty="0"/>
              <a:t>• Cultural generalization risks</a:t>
            </a:r>
          </a:p>
          <a:p>
            <a:pPr lvl="2"/>
            <a:r>
              <a:rPr dirty="0"/>
              <a:t>• Temporal distance requiring adaptation</a:t>
            </a:r>
          </a:p>
          <a:p>
            <a:pPr lvl="2"/>
            <a:r>
              <a:rPr dirty="0"/>
              <a:t>• Abstract nature may limit accessibility</a:t>
            </a:r>
          </a:p>
          <a:p>
            <a:pPr lvl="2"/>
            <a:r>
              <a:rPr dirty="0"/>
              <a:t>• Contextual differences from historical settings</a:t>
            </a:r>
          </a:p>
          <a:p>
            <a:pPr lvl="1"/>
            <a:r>
              <a:rPr dirty="0"/>
              <a:t>Implementation Challenges:</a:t>
            </a:r>
          </a:p>
          <a:p>
            <a:pPr lvl="2"/>
            <a:r>
              <a:rPr dirty="0"/>
              <a:t>• Teacher training requirements</a:t>
            </a:r>
          </a:p>
          <a:p>
            <a:pPr lvl="2"/>
            <a:r>
              <a:rPr dirty="0"/>
              <a:t>• Curriculum integration difficulties</a:t>
            </a:r>
          </a:p>
          <a:p>
            <a:pPr lvl="2"/>
            <a:r>
              <a:rPr dirty="0"/>
              <a:t>• Resource and assessment challenges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535333" cy="3615267"/>
          </a:xfrm>
        </p:spPr>
        <p:txBody>
          <a:bodyPr>
            <a:normAutofit fontScale="55000" lnSpcReduction="20000"/>
          </a:bodyPr>
          <a:lstStyle/>
          <a:p>
            <a:r>
              <a:rPr dirty="0"/>
              <a:t>POSITION STATEMENT</a:t>
            </a:r>
          </a:p>
          <a:p>
            <a:pPr lvl="1"/>
            <a:r>
              <a:rPr dirty="0"/>
              <a:t>This work is a CONCEPTUAL CONTRIBUTION to educational psychology:</a:t>
            </a:r>
          </a:p>
          <a:p>
            <a:pPr lvl="2"/>
            <a:r>
              <a:rPr dirty="0"/>
              <a:t>• Does NOT claim empirical effectiveness</a:t>
            </a:r>
          </a:p>
          <a:p>
            <a:pPr lvl="2"/>
            <a:r>
              <a:rPr dirty="0"/>
              <a:t>• Does NOT recommend specific interventions</a:t>
            </a:r>
          </a:p>
          <a:p>
            <a:pPr lvl="2"/>
            <a:r>
              <a:rPr dirty="0"/>
              <a:t>• Provides framework for understanding potential applications</a:t>
            </a:r>
          </a:p>
          <a:p>
            <a:pPr lvl="2"/>
            <a:r>
              <a:rPr dirty="0"/>
              <a:t>• Emphasizes critical need for rigorous empirical research</a:t>
            </a:r>
          </a:p>
          <a:p>
            <a:r>
              <a:rPr dirty="0"/>
              <a:t>Future Research Priorities:</a:t>
            </a:r>
          </a:p>
          <a:p>
            <a:pPr lvl="1"/>
            <a:r>
              <a:rPr dirty="0"/>
              <a:t>1. Controlled intervention studies</a:t>
            </a:r>
          </a:p>
          <a:p>
            <a:pPr lvl="1"/>
            <a:r>
              <a:rPr dirty="0"/>
              <a:t>2. Development of validated assessment tools</a:t>
            </a:r>
          </a:p>
          <a:p>
            <a:pPr lvl="1"/>
            <a:r>
              <a:rPr dirty="0"/>
              <a:t>3. Mechanism research (how narratives might influence mental health)</a:t>
            </a:r>
          </a:p>
          <a:p>
            <a:pPr lvl="1"/>
            <a:r>
              <a:rPr dirty="0"/>
              <a:t>4. Age-appropriate and culturally sensitive adaptations</a:t>
            </a:r>
          </a:p>
          <a:p>
            <a:pPr lvl="1"/>
            <a:r>
              <a:rPr dirty="0"/>
              <a:t>5. Longitudinal impact assessment</a:t>
            </a:r>
          </a:p>
          <a:p>
            <a:pPr lvl="1"/>
            <a:r>
              <a:rPr dirty="0"/>
              <a:t>6. Evidence-based implementation strategies</a:t>
            </a:r>
          </a:p>
          <a:p>
            <a:r>
              <a:rPr dirty="0"/>
              <a:t>Integration of traditional wisdom with contemporary needs = promising area requiring careful empirical validation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1805</Words>
  <Application>Microsoft Office PowerPoint</Application>
  <PresentationFormat>On-screen Show (4:3)</PresentationFormat>
  <Paragraphs>216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Value-Based Education and Mental Health in School Students</vt:lpstr>
      <vt:lpstr>CRITICAL POSITIONING</vt:lpstr>
      <vt:lpstr>Background &amp; Problem Statement</vt:lpstr>
      <vt:lpstr>Aim &amp; Objectives</vt:lpstr>
      <vt:lpstr>Methodology</vt:lpstr>
      <vt:lpstr>Rationale for Scenario-Based Analysis</vt:lpstr>
      <vt:lpstr>Traditional Texts - Conceptual Foundations</vt:lpstr>
      <vt:lpstr>Scenario 1 - Academic Stress &amp; Performance Anxiety</vt:lpstr>
      <vt:lpstr>Scenario 2 - Peer Conflict &amp; Aggression</vt:lpstr>
      <vt:lpstr>Scenario 3 - Low Self-Esteem &amp; Identity Confusion</vt:lpstr>
      <vt:lpstr>Scenario 4 - Bullying &amp; Social Exclusion</vt:lpstr>
      <vt:lpstr>Scenario 5 - Anger &amp; Emotional Dysregulation</vt:lpstr>
      <vt:lpstr>Scenario 6 - Dishonesty &amp; Ethical Drift</vt:lpstr>
      <vt:lpstr>Scenario 7 - Digital Addiction &amp; Attention Fragmentation</vt:lpstr>
      <vt:lpstr>Scenario 8 - Peer Pressure &amp; Impulsive Decision-Making</vt:lpstr>
      <vt:lpstr>Scenario 9 - Demotivation &amp; Loss of Purpose</vt:lpstr>
      <vt:lpstr>Scenario 10 - Social Responsibility &amp; Empathy Deficit</vt:lpstr>
      <vt:lpstr>Synthesis - What Value-Based Narratives Can Conceptually Support</vt:lpstr>
      <vt:lpstr>Synthesis - What They Cannot Address</vt:lpstr>
      <vt:lpstr>Where Empirical Evidence is Lacking</vt:lpstr>
      <vt:lpstr>Critical Limitations</vt:lpstr>
      <vt:lpstr>Conclusion &amp; Future Directions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chandra shekhara</dc:creator>
  <cp:keywords/>
  <dc:description>generated using python-pptx</dc:description>
  <cp:lastModifiedBy>chandra shekhara</cp:lastModifiedBy>
  <cp:revision>2</cp:revision>
  <dcterms:created xsi:type="dcterms:W3CDTF">2013-01-27T09:14:16Z</dcterms:created>
  <dcterms:modified xsi:type="dcterms:W3CDTF">2026-01-01T01:09:05Z</dcterms:modified>
  <cp:category/>
</cp:coreProperties>
</file>