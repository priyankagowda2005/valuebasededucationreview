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Scenario-Based Analytical Review of Value-Based Education and Student Mental Well-Being Using Traditional Indian Texts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Narrative Literature Review</a:t>
            </a:r>
          </a:p>
          <a:p/>
          <a:p>
            <a:r>
              <a:t>Divya</a:t>
            </a:r>
          </a:p>
          <a:p>
            <a:r>
              <a:t>January 2026</a:t>
            </a:r>
          </a:p>
          <a:p/>
          <a:p>
            <a:r>
              <a:t>[This is a narrative literature review - not an empirical study]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presentation presents a NARRATIVE LITERATURE REVIEW</a:t>
            </a:r>
          </a:p>
          <a:p>
            <a:r>
              <a:t>• NOT an empirical intervention study</a:t>
            </a:r>
          </a:p>
          <a:p>
            <a:r>
              <a:t>• NO claims of statistical improvement or effectiveness</a:t>
            </a:r>
          </a:p>
          <a:p>
            <a:r>
              <a:t>• Scenario-based analysis = conceptual exploration, NOT case studies</a:t>
            </a:r>
          </a:p>
          <a:p>
            <a:r>
              <a:t>• All findings are positioned as CONCEPTUAL CONTRIBUTIONS</a:t>
            </a:r>
          </a:p>
          <a:p>
            <a:r>
              <a:t>• Explicit limitations acknowledged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CONTEMPORARY EDUCATIONAL CHALLENGE</a:t>
            </a:r>
          </a:p>
          <a:p>
            <a:pPr lvl="1"/>
            <a:r>
              <a:t>• Rising mental health challenges among school students globally</a:t>
            </a:r>
          </a:p>
          <a:p>
            <a:pPr lvl="2"/>
            <a:r>
              <a:t>  - Stress, anxiety, emotional instability (WHO, 2021)</a:t>
            </a:r>
          </a:p>
          <a:p>
            <a:pPr lvl="2"/>
            <a:r>
              <a:t>  - Academic pressure and performance anxiety</a:t>
            </a:r>
          </a:p>
          <a:p>
            <a:pPr lvl="2"/>
            <a:r>
              <a:t>  - Peer conflicts and social isolation</a:t>
            </a:r>
          </a:p>
          <a:p>
            <a:pPr lvl="1"/>
            <a:r>
              <a:t>• Overemphasis on academic performance</a:t>
            </a:r>
          </a:p>
          <a:p>
            <a:pPr lvl="2"/>
            <a:r>
              <a:t>  - Cognitive development prioritized over holistic growth</a:t>
            </a:r>
          </a:p>
          <a:p>
            <a:pPr lvl="2"/>
            <a:r>
              <a:t>  - Limited integration of values and emotional intelligence</a:t>
            </a:r>
          </a:p>
          <a:p>
            <a:pPr lvl="1"/>
            <a:r>
              <a:t>• Fragmented interventions</a:t>
            </a:r>
          </a:p>
          <a:p>
            <a:pPr lvl="2"/>
            <a:r>
              <a:t>  - Lack of culturally grounded frameworks</a:t>
            </a:r>
          </a:p>
          <a:p>
            <a:pPr lvl="2"/>
            <a:r>
              <a:t>  - Need for comprehensive value-based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Aim:</a:t>
            </a:r>
          </a:p>
          <a:p>
            <a:r>
              <a:t>To critically review value-based education literature and analyze traditional Indian texts as conceptual frameworks for mental health support</a:t>
            </a:r>
          </a:p>
          <a:p>
            <a:r>
              <a:t>Specific Objectives:</a:t>
            </a:r>
          </a:p>
          <a:p>
            <a:pPr lvl="1"/>
            <a:r>
              <a:t>• Synthesize literature on value-based education (2015-2025)</a:t>
            </a:r>
          </a:p>
          <a:p>
            <a:pPr lvl="1"/>
            <a:r>
              <a:t>• Analyze traditional Indian texts as potential conceptual frameworks</a:t>
            </a:r>
          </a:p>
          <a:p>
            <a:pPr lvl="1"/>
            <a:r>
              <a:t>• Employ scenario-based analytical approach</a:t>
            </a:r>
          </a:p>
          <a:p>
            <a:pPr lvl="1"/>
            <a:r>
              <a:t>• Identify limitations and research gaps</a:t>
            </a:r>
          </a:p>
          <a:p>
            <a:pPr lvl="1"/>
            <a:r>
              <a:t>• Position work as conceptual contribution requiring empirical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Framework - Value-Based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Value-Based Education:</a:t>
            </a:r>
          </a:p>
          <a:p>
            <a:pPr lvl="1"/>
            <a:r>
              <a:t>• Integrates moral, ethical, and life skills development</a:t>
            </a:r>
          </a:p>
          <a:p>
            <a:pPr lvl="1"/>
            <a:r>
              <a:t>• Addresses multiple dimensions: cognitive, emotional, social, moral</a:t>
            </a:r>
          </a:p>
          <a:p>
            <a:pPr lvl="1"/>
            <a:r>
              <a:t>• Recognizes interconnectedness of knowledge, values, and behavior</a:t>
            </a:r>
          </a:p>
          <a:p>
            <a:r>
              <a:t>Psychological Foundations:</a:t>
            </a:r>
          </a:p>
          <a:p>
            <a:pPr lvl="1"/>
            <a:r>
              <a:t>• Social-cognitive theory: values internalized through observation and reflection</a:t>
            </a:r>
          </a:p>
          <a:p>
            <a:pPr lvl="1"/>
            <a:r>
              <a:t>• Moral development theory: ethical reasoning develops through stages</a:t>
            </a:r>
          </a:p>
          <a:p>
            <a:pPr lvl="1"/>
            <a:r>
              <a:t>• Emotional intelligence: recognizing, understanding, managing emotions</a:t>
            </a:r>
          </a:p>
          <a:p>
            <a:r>
              <a:t>Values and Well-Being:</a:t>
            </a:r>
          </a:p>
          <a:p>
            <a:pPr lvl="1"/>
            <a:r>
              <a:t>• Values provide frameworks for decision-making</a:t>
            </a:r>
          </a:p>
          <a:p>
            <a:pPr lvl="1"/>
            <a:r>
              <a:t>• Contribute to identity formation and sense of purpose</a:t>
            </a:r>
          </a:p>
          <a:p>
            <a:pPr lvl="1"/>
            <a:r>
              <a:t>• Guide behavior promoting positive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Basavanna's Vachanas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Basavanna's Vachanas (12th century CE):</a:t>
            </a:r>
          </a:p>
          <a:p>
            <a:pPr lvl="1"/>
            <a:r>
              <a:t>• Kannada philosophical poetry emphasizing social equality</a:t>
            </a:r>
          </a:p>
          <a:p>
            <a:r>
              <a:t>Key themes:</a:t>
            </a:r>
          </a:p>
          <a:p>
            <a:pPr lvl="1"/>
            <a:r>
              <a:t>  - Kayakave Kailasa (work is worship)</a:t>
            </a:r>
          </a:p>
          <a:p>
            <a:pPr lvl="1"/>
            <a:r>
              <a:t>  - Social equality and dignity</a:t>
            </a:r>
          </a:p>
          <a:p>
            <a:pPr lvl="1"/>
            <a:r>
              <a:t>  - Ethical conduct (achara)</a:t>
            </a:r>
          </a:p>
          <a:p>
            <a:pPr lvl="1"/>
            <a:r>
              <a:t>  - Self-awareness and introspection</a:t>
            </a:r>
          </a:p>
          <a:p>
            <a:pPr lvl="1"/>
            <a:r>
              <a:t>  - Service to others (seva)</a:t>
            </a:r>
          </a:p>
          <a:p>
            <a:r>
              <a:t>Educational Relevance:</a:t>
            </a:r>
          </a:p>
          <a:p>
            <a:pPr lvl="1"/>
            <a:r>
              <a:t>• Accessible language and concrete examples</a:t>
            </a:r>
          </a:p>
          <a:p>
            <a:pPr lvl="1"/>
            <a:r>
              <a:t>• Emphasis on equality may support positive identity formation</a:t>
            </a:r>
          </a:p>
          <a:p>
            <a:pPr lvl="1"/>
            <a:r>
              <a:t>Limitations: Historical context may require adaptation; no empirical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Panchatantra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Panchatantra (3rd century BCE):</a:t>
            </a:r>
          </a:p>
          <a:p>
            <a:pPr lvl="1"/>
            <a:r>
              <a:t>• Classical collection of animal fables</a:t>
            </a:r>
          </a:p>
          <a:p>
            <a:pPr lvl="1"/>
            <a:r>
              <a:t>• Originally composed as guide for princes on statecraft and life skills</a:t>
            </a:r>
          </a:p>
          <a:p>
            <a:r>
              <a:t>Key Themes:</a:t>
            </a:r>
          </a:p>
          <a:p>
            <a:pPr lvl="1"/>
            <a:r>
              <a:t>• Importance of wisdom and foresight</a:t>
            </a:r>
          </a:p>
          <a:p>
            <a:pPr lvl="1"/>
            <a:r>
              <a:t>• Consequences of actions (karma)</a:t>
            </a:r>
          </a:p>
          <a:p>
            <a:pPr lvl="1"/>
            <a:r>
              <a:t>• Cooperation and mutual benefit</a:t>
            </a:r>
          </a:p>
          <a:p>
            <a:pPr lvl="1"/>
            <a:r>
              <a:t>• Ethical behavior and integrity</a:t>
            </a:r>
          </a:p>
          <a:p>
            <a:r>
              <a:t>Educational Relevance:</a:t>
            </a:r>
          </a:p>
          <a:p>
            <a:pPr lvl="1"/>
            <a:r>
              <a:t>• Narrative format makes abstract concepts concrete</a:t>
            </a:r>
          </a:p>
          <a:p>
            <a:pPr lvl="1"/>
            <a:r>
              <a:t>• Allegorical nature allows discussion of sensitive topics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Hitopadesha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Hitopadesha (800-950 CE):</a:t>
            </a:r>
          </a:p>
          <a:p>
            <a:pPr lvl="1"/>
            <a:r>
              <a:t>• Ancient Sanskrit text using animal fables</a:t>
            </a:r>
          </a:p>
          <a:p>
            <a:pPr lvl="1"/>
            <a:r>
              <a:t>• Emphasizes practical wisdom and ethical decision-making</a:t>
            </a:r>
          </a:p>
          <a:p>
            <a:r>
              <a:t>Key Themes:</a:t>
            </a:r>
          </a:p>
          <a:p>
            <a:pPr lvl="1"/>
            <a:r>
              <a:t>• Prudence and careful consideration before action</a:t>
            </a:r>
          </a:p>
          <a:p>
            <a:pPr lvl="1"/>
            <a:r>
              <a:t>• Foresight and understanding consequences</a:t>
            </a:r>
          </a:p>
          <a:p>
            <a:pPr lvl="1"/>
            <a:r>
              <a:t>• Emotional restraint and self-control</a:t>
            </a:r>
          </a:p>
          <a:p>
            <a:pPr lvl="1"/>
            <a:r>
              <a:t>• Wise counsel and learning from others</a:t>
            </a:r>
          </a:p>
          <a:p>
            <a:r>
              <a:t>Educational Relevance:</a:t>
            </a:r>
          </a:p>
          <a:p>
            <a:pPr lvl="1"/>
            <a:r>
              <a:t>• May support decision-making education</a:t>
            </a:r>
          </a:p>
          <a:p>
            <a:pPr lvl="1"/>
            <a:r>
              <a:t>• Focus on emotional restraint aligns with regulation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Ancient Education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Value Transmission Methods:</a:t>
            </a:r>
          </a:p>
          <a:p>
            <a:pPr lvl="1"/>
            <a:r>
              <a:t>Panchatantra Stories:</a:t>
            </a:r>
          </a:p>
          <a:p>
            <a:pPr lvl="2"/>
            <a:r>
              <a:t>  - Explicitly designed as educational tool</a:t>
            </a:r>
          </a:p>
          <a:p>
            <a:pPr lvl="2"/>
            <a:r>
              <a:t>  - Pedagogical mechanisms: narrative engagement, allegorical distance</a:t>
            </a:r>
          </a:p>
          <a:p>
            <a:pPr lvl="1"/>
            <a:r>
              <a:t>Scriptural Study:</a:t>
            </a:r>
          </a:p>
          <a:p>
            <a:pPr lvl="2"/>
            <a:r>
              <a:t>  - Process: recitation, commentary, reflection</a:t>
            </a:r>
          </a:p>
          <a:p>
            <a:pPr lvl="2"/>
            <a:r>
              <a:t>  - Functions: value transmission, cultural identity, moral reasoning</a:t>
            </a:r>
          </a:p>
          <a:p>
            <a:pPr lvl="1"/>
            <a:r>
              <a:t>Pravachana (Oral Discourses):</a:t>
            </a:r>
          </a:p>
          <a:p>
            <a:pPr lvl="2"/>
            <a:r>
              <a:t>  - Primary method for transmitting values</a:t>
            </a:r>
          </a:p>
          <a:p>
            <a:pPr lvl="2"/>
            <a:r>
              <a:t>  - Characteristics: oral tradition, interactive dialogue, community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Type: Narrative literature review (not systematic review)</a:t>
            </a:r>
          </a:p>
          <a:p>
            <a:r>
              <a:t>Time Period: 2015-2025</a:t>
            </a:r>
          </a:p>
          <a:p>
            <a:r>
              <a:t>Databases:</a:t>
            </a:r>
          </a:p>
          <a:p>
            <a:pPr lvl="1"/>
            <a:r>
              <a:t>• Google Scholar</a:t>
            </a:r>
          </a:p>
          <a:p>
            <a:pPr lvl="1"/>
            <a:r>
              <a:t>• PubMed</a:t>
            </a:r>
          </a:p>
          <a:p>
            <a:pPr lvl="1"/>
            <a:r>
              <a:t>• Semantic Scholar</a:t>
            </a:r>
          </a:p>
          <a:p>
            <a:r>
              <a:t>Search Strategy:</a:t>
            </a:r>
          </a:p>
          <a:p>
            <a:pPr lvl="1"/>
            <a:r>
              <a:t>• Value-based education AND mental health</a:t>
            </a:r>
          </a:p>
          <a:p>
            <a:pPr lvl="1"/>
            <a:r>
              <a:t>• Traditional Indian texts AND education</a:t>
            </a:r>
          </a:p>
          <a:p>
            <a:pPr lvl="1"/>
            <a:r>
              <a:t>• Narrative approaches to moral/ethical education</a:t>
            </a:r>
          </a:p>
          <a:p>
            <a:r>
              <a:t>Analytical Approach: Scenario-based synthesis (analytical units, NOT case studies)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for Scenario-Based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Scenarios as Analytical Units:</a:t>
            </a:r>
          </a:p>
          <a:p>
            <a:pPr lvl="1"/>
            <a:r>
              <a:t>• Derived from common mental health challenges in literature</a:t>
            </a:r>
          </a:p>
          <a:p>
            <a:pPr lvl="1"/>
            <a:r>
              <a:t>• Structured framework for conceptual exploration</a:t>
            </a:r>
          </a:p>
          <a:p>
            <a:pPr lvl="1"/>
            <a:r>
              <a:t>• Each scenario examines: problem, traditional text, conceptual link, limitation</a:t>
            </a:r>
          </a:p>
          <a:p>
            <a:r>
              <a:t>Appropriate for Conceptual Research:</a:t>
            </a:r>
          </a:p>
          <a:p>
            <a:pPr lvl="1"/>
            <a:r>
              <a:t>• Allows exploration of potential applications</a:t>
            </a:r>
          </a:p>
          <a:p>
            <a:pPr lvl="1"/>
            <a:r>
              <a:t>• Facilitates critical analysis of limitations</a:t>
            </a:r>
          </a:p>
          <a:p>
            <a:r>
              <a:t>Explicit Clarification:</a:t>
            </a:r>
          </a:p>
          <a:p>
            <a:pPr lvl="1"/>
            <a:r>
              <a:t>• Scenarios are NOT case studies</a:t>
            </a:r>
          </a:p>
          <a:p>
            <a:pPr lvl="1"/>
            <a:r>
              <a:t>• Scenarios are NOT empirical evidence</a:t>
            </a:r>
          </a:p>
          <a:p>
            <a:pPr lvl="1"/>
            <a:r>
              <a:t>• Scenarios are analytical tools for conceptual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1 - Academic Stress &amp; Performance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High levels of stress, sleep disturbances, anxiety disorders in competitive academic environments (Pandey, 2019; Sharma, 2018)</a:t>
            </a:r>
          </a:p>
          <a:p>
            <a:r>
              <a:t>TRADITIONAL TEXT:</a:t>
            </a:r>
          </a:p>
          <a:p>
            <a:pPr lvl="1"/>
            <a:r>
              <a:t>Basavanna's Vachanas - emphasis on inner peace, detachment from external validation, intrinsic motivation</a:t>
            </a:r>
          </a:p>
          <a:p>
            <a:r>
              <a:t>CONCEPTUAL LINK:</a:t>
            </a:r>
          </a:p>
          <a:p>
            <a:pPr lvl="1"/>
            <a:r>
              <a:t>Philosophical shift from external metrics to internal growth might support stress reduction (theoretical connection)</a:t>
            </a:r>
          </a:p>
          <a:p>
            <a:r>
              <a:t>LIMITATION:</a:t>
            </a:r>
          </a:p>
          <a:p>
            <a:pPr lvl="1"/>
            <a:r>
              <a:t>No empirical studies validate effectiveness. Framework requires rigorous controlled testing. Abstract nature may not be accessible to all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2 - Peer Conflict &amp; Aggression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Peer conflicts and aggressive behaviors prevalent in schools, contributing to emotional distress and social isolation (Joshi &amp; Mehta, 2021)</a:t>
            </a:r>
          </a:p>
          <a:p>
            <a:r>
              <a:t>TRADITIONAL TEXT:</a:t>
            </a:r>
          </a:p>
          <a:p>
            <a:pPr lvl="1"/>
            <a:r>
              <a:t>Hitopadesha - fables addressing conflict resolution, understanding perspectives, finding mutually beneficial solutions</a:t>
            </a:r>
          </a:p>
          <a:p>
            <a:r>
              <a:t>CONCEPTUAL LINK:</a:t>
            </a:r>
          </a:p>
          <a:p>
            <a:pPr lvl="1"/>
            <a:r>
              <a:t>Narrative-based discussions might provide frameworks for navigating interpersonal challenges. Allegorical format facilitates reflection.</a:t>
            </a:r>
          </a:p>
          <a:p>
            <a:r>
              <a:t>LIMITATION:</a:t>
            </a:r>
          </a:p>
          <a:p>
            <a:pPr lvl="1"/>
            <a:r>
              <a:t>Transfer of narrative lessons to real-world conflict resolution requires empirical validation. Cultural factors may limit generalizability.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3 - Low Self-Esteem &amp; Identity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Adolescent identity development issues, low self-worth associated with poor academic performance and social withdrawal (Singh &amp; Verma, 2021)</a:t>
            </a:r>
          </a:p>
          <a:p>
            <a:r>
              <a:t>TRADITIONAL TEXT:</a:t>
            </a:r>
          </a:p>
          <a:p>
            <a:pPr lvl="1"/>
            <a:r>
              <a:t>Basavanna's Vachanas - emphasis on inherent worth of all individuals regardless of social status, promoting self-acceptance</a:t>
            </a:r>
          </a:p>
          <a:p>
            <a:r>
              <a:t>CONCEPTUAL LINK:</a:t>
            </a:r>
          </a:p>
          <a:p>
            <a:pPr lvl="1"/>
            <a:r>
              <a:t>Philosophical teachings about universal human value might conceptually support positive identity formation</a:t>
            </a:r>
          </a:p>
          <a:p>
            <a:r>
              <a:t>LIMITATION:</a:t>
            </a:r>
          </a:p>
          <a:p>
            <a:pPr lvl="1"/>
            <a:r>
              <a:t>No studies directly examine impact on self-esteem. Historical context may require adaptation. May not resonate across all cultural backgrounds.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4 - Bullying &amp; Social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Bullying and social exclusion represent serious mental health threats, associated with depression, anxiety, suicidal ideation (Kumaran &amp; Singh, 2019)</a:t>
            </a:r>
          </a:p>
          <a:p>
            <a:r>
              <a:t>TRADITIONAL TEXT:</a:t>
            </a:r>
          </a:p>
          <a:p>
            <a:pPr lvl="1"/>
            <a:r>
              <a:t>Panchatantra - stories about consequences of harmful behavior, importance of treating others with respect</a:t>
            </a:r>
          </a:p>
          <a:p>
            <a:r>
              <a:t>CONCEPTUAL LINK:</a:t>
            </a:r>
          </a:p>
          <a:p>
            <a:pPr lvl="1"/>
            <a:r>
              <a:t>Allegorical stories might provide safe spaces for discussing bullying. Narrative format could facilitate empathy development.</a:t>
            </a:r>
          </a:p>
          <a:p>
            <a:r>
              <a:t>LIMITATION:</a:t>
            </a:r>
          </a:p>
          <a:p>
            <a:pPr lvl="1"/>
            <a:r>
              <a:t>Narrative-based interventions for bullying require comprehensive empirical evaluation. Modern bullying involves digital platforms not addressed in traditional narratives.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5 - Anger &amp; Emotional Dysregulation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Emotional dysregulation, particularly anger management issues, impacts well-being and classroom dynamics. Linked to academic and social difficulties (Kumar, 2018)</a:t>
            </a:r>
          </a:p>
          <a:p>
            <a:r>
              <a:t>TRADITIONAL TEXT:</a:t>
            </a:r>
          </a:p>
          <a:p>
            <a:pPr lvl="1"/>
            <a:r>
              <a:t>Basavanna's Vachanas - emphasis on self-control, emotional mastery, understanding transient nature of emotions</a:t>
            </a:r>
          </a:p>
          <a:p>
            <a:r>
              <a:t>CONCEPTUAL LINK:</a:t>
            </a:r>
          </a:p>
          <a:p>
            <a:pPr lvl="1"/>
            <a:r>
              <a:t>Philosophical approaches to emotional awareness might conceptually support regulation skills. Aligns with cognitive-behavioral principles.</a:t>
            </a:r>
          </a:p>
          <a:p>
            <a:r>
              <a:t>LIMITATION:</a:t>
            </a:r>
          </a:p>
          <a:p>
            <a:pPr lvl="1"/>
            <a:r>
              <a:t>Abstract nature of philosophical teachings may not be accessible to all age groups. Direct translation to practical strategies requires empirical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6 - Dishonesty &amp; Ethical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Academic dishonesty and ethical lapses raise concerns about character development. Value-based interventions might support ethical decision-making (Pandey, 2019)</a:t>
            </a:r>
          </a:p>
          <a:p>
            <a:r>
              <a:t>TRADITIONAL TEXT:</a:t>
            </a:r>
          </a:p>
          <a:p>
            <a:pPr lvl="1"/>
            <a:r>
              <a:t>Hitopadesha and Panchatantra - stories illustrating consequences of dishonesty, value of integrity</a:t>
            </a:r>
          </a:p>
          <a:p>
            <a:r>
              <a:t>CONCEPTUAL LINK:</a:t>
            </a:r>
          </a:p>
          <a:p>
            <a:pPr lvl="1"/>
            <a:r>
              <a:t>Moral narratives might provide frameworks for ethical reasoning. Story format makes abstract concepts more concrete.</a:t>
            </a:r>
          </a:p>
          <a:p>
            <a:r>
              <a:t>LIMITATION:</a:t>
            </a:r>
          </a:p>
          <a:p>
            <a:pPr lvl="1"/>
            <a:r>
              <a:t>Relationship between narrative exposure and actual ethical behavior requires empirical investigation. Contemporary ethical challenges may not be addressed.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7 - Digital Addiction &amp; Attention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Digital device overuse leads to attention difficulties, sleep problems, social isolation. Increasing technology-related mental health issues (Nair &amp; Sharma, 2020)</a:t>
            </a:r>
          </a:p>
          <a:p>
            <a:r>
              <a:t>TRADITIONAL TEXT:</a:t>
            </a:r>
          </a:p>
          <a:p>
            <a:pPr lvl="1"/>
            <a:r>
              <a:t>Basavanna's Vachanas - emphasis on mindfulness, present-moment awareness, concepts related to attention regulation</a:t>
            </a:r>
          </a:p>
          <a:p>
            <a:r>
              <a:t>CONCEPTUAL LINK:</a:t>
            </a:r>
          </a:p>
          <a:p>
            <a:pPr lvl="1"/>
            <a:r>
              <a:t>Philosophical teachings about focus and awareness might provide frameworks for understanding attention and distraction</a:t>
            </a:r>
          </a:p>
          <a:p>
            <a:r>
              <a:t>LIMITATION:</a:t>
            </a:r>
          </a:p>
          <a:p>
            <a:pPr lvl="1"/>
            <a:r>
              <a:t>Historical context predates digital technology entirely. Direct application requires significant adaptation. No empirical studies examine this connection.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8 - Peer Pressure &amp; Impulsive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Adolescent susceptibility to peer pressure and impulsive decision-making contributes to risky behaviors and negative mental health outcomes (Sharma &amp; Rao, 2017)</a:t>
            </a:r>
          </a:p>
          <a:p>
            <a:r>
              <a:t>TRADITIONAL TEXT:</a:t>
            </a:r>
          </a:p>
          <a:p>
            <a:pPr lvl="1"/>
            <a:r>
              <a:t>Hitopadesha - stories about wise decision-making, considering consequences, resisting harmful influences</a:t>
            </a:r>
          </a:p>
          <a:p>
            <a:r>
              <a:t>CONCEPTUAL LINK:</a:t>
            </a:r>
          </a:p>
          <a:p>
            <a:pPr lvl="1"/>
            <a:r>
              <a:t>Stories about decision-making might provide frameworks for understanding choice, consequence, and peer influence</a:t>
            </a:r>
          </a:p>
          <a:p>
            <a:r>
              <a:t>LIMITATION:</a:t>
            </a:r>
          </a:p>
          <a:p>
            <a:pPr lvl="1"/>
            <a:r>
              <a:t>Narrative exposure alone may not translate to improved decision-making in real-world peer pressure situations. Comprehensive skill-building interventions likely necessary.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9 - Demotivation &amp; Loss of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Student demotivation and lack of purpose associated with poor academic performance and mental health issues. Meaning-making supports well-being (Narayan, 2015)</a:t>
            </a:r>
          </a:p>
          <a:p>
            <a:r>
              <a:t>TRADITIONAL TEXT:</a:t>
            </a:r>
          </a:p>
          <a:p>
            <a:pPr lvl="1"/>
            <a:r>
              <a:t>Basavanna's Vachanas - emphasis on finding purpose through service and ethical living</a:t>
            </a:r>
          </a:p>
          <a:p>
            <a:r>
              <a:t>CONCEPTUAL LINK:</a:t>
            </a:r>
          </a:p>
          <a:p>
            <a:pPr lvl="1"/>
            <a:r>
              <a:t>Philosophical discussions of purpose and meaning might conceptually support motivation and well-being</a:t>
            </a:r>
          </a:p>
          <a:p>
            <a:r>
              <a:t>LIMITATION:</a:t>
            </a:r>
          </a:p>
          <a:p>
            <a:pPr lvl="1"/>
            <a:r>
              <a:t>Abstract nature of purpose and meaning may be difficult for younger students to grasp. Spiritual context may require secular adaptation. Empirical validation lacking.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10 - Social Responsibility &amp; Empathy Deficit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Research indicates declining empathy levels and reduced engagement with social responsibility. Concerns about social cohesion and individual well-being (Desai &amp; Patel, 2020)</a:t>
            </a:r>
          </a:p>
          <a:p>
            <a:r>
              <a:t>TRADITIONAL TEXT:</a:t>
            </a:r>
          </a:p>
          <a:p>
            <a:pPr lvl="1"/>
            <a:r>
              <a:t>All three sources emphasize social responsibility, compassion, concern for others' welfare</a:t>
            </a:r>
          </a:p>
          <a:p>
            <a:r>
              <a:t>CONCEPTUAL LINK:</a:t>
            </a:r>
          </a:p>
          <a:p>
            <a:pPr lvl="1"/>
            <a:r>
              <a:t>Narratives emphasizing empathy and social responsibility might provide frameworks for understanding interconnectedness and mutual care</a:t>
            </a:r>
          </a:p>
          <a:p>
            <a:r>
              <a:t>LIMITATION:</a:t>
            </a:r>
          </a:p>
          <a:p>
            <a:pPr lvl="1"/>
            <a:r>
              <a:t>Relationship between narrative exposure and actual empathetic behavior requires empirical investigation. Cultural and individual differences may affect narrative impact.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- 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Patterns Identified:</a:t>
            </a:r>
          </a:p>
          <a:p>
            <a:pPr lvl="1"/>
            <a:r>
              <a:t>• Emotional Awareness and Regulation: Philosophical teachings about self-awareness might conceptually support emotional regulation</a:t>
            </a:r>
          </a:p>
          <a:p>
            <a:pPr lvl="1"/>
            <a:r>
              <a:t>• Moral Reasoning and Ethical Decision-Making: Narrative approaches might provide frameworks for ethical reasoning</a:t>
            </a:r>
          </a:p>
          <a:p>
            <a:pPr lvl="1"/>
            <a:r>
              <a:t>• Empathy and Social Understanding: Narratives might facilitate empathy development and perspective-taking</a:t>
            </a:r>
          </a:p>
          <a:p>
            <a:pPr lvl="1"/>
            <a:r>
              <a:t>• Identity and Self-Concept: Philosophical teachings about inherent dignity might conceptually support positive identity formation</a:t>
            </a:r>
          </a:p>
          <a:p>
            <a:r>
              <a:t>Strengths of Value-Based Narratives:</a:t>
            </a:r>
          </a:p>
          <a:p>
            <a:pPr lvl="1"/>
            <a:r>
              <a:t>• Cultural relevance for students from Indian backgrounds</a:t>
            </a:r>
          </a:p>
          <a:p>
            <a:pPr lvl="1"/>
            <a:r>
              <a:t>• Narrative engagement facilitates reflection</a:t>
            </a:r>
          </a:p>
          <a:p>
            <a:pPr lvl="1"/>
            <a:r>
              <a:t>• Safe exploration through allegorical format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- Areas Where Evidence is Weak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Gaps:</a:t>
            </a:r>
          </a:p>
          <a:p>
            <a:pPr lvl="1"/>
            <a:r>
              <a:t>• Empirical Validation: No controlled studies examine traditional text-based interventions</a:t>
            </a:r>
          </a:p>
          <a:p>
            <a:pPr lvl="1"/>
            <a:r>
              <a:t>• Mechanism Research: Limited understanding of how narratives might influence mental health</a:t>
            </a:r>
          </a:p>
          <a:p>
            <a:pPr lvl="1"/>
            <a:r>
              <a:t>• Developmental Appropriateness: Insufficient research on age-appropriate applications</a:t>
            </a:r>
          </a:p>
          <a:p>
            <a:pPr lvl="1"/>
            <a:r>
              <a:t>• Cultural Adaptation: Limited studies examining cross-cultural applicability</a:t>
            </a:r>
          </a:p>
          <a:p>
            <a:pPr lvl="1"/>
            <a:r>
              <a:t>• Longitudinal Research: Absence of long-term follow-up studies</a:t>
            </a:r>
          </a:p>
          <a:p>
            <a:pPr lvl="1"/>
            <a:r>
              <a:t>• Comparative Effectiveness: No studies comparing traditional narrative approaches to other interventions</a:t>
            </a:r>
          </a:p>
          <a:p>
            <a:pPr lvl="1"/>
            <a:r>
              <a:t>• Implementation Research: Limited understanding of effective delivery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Absence of Empirical Validation:</a:t>
            </a:r>
          </a:p>
          <a:p>
            <a:pPr lvl="1"/>
            <a:r>
              <a:t>• NO evidence of intervention effectiveness</a:t>
            </a:r>
          </a:p>
          <a:p>
            <a:pPr lvl="1"/>
            <a:r>
              <a:t>• NO statistical improvements in mental health outcomes</a:t>
            </a:r>
          </a:p>
          <a:p>
            <a:pPr lvl="1"/>
            <a:r>
              <a:t>• NO behavioral changes from narrative exposure</a:t>
            </a:r>
          </a:p>
          <a:p>
            <a:pPr lvl="1"/>
            <a:r>
              <a:t>• All connections are conceptual and theoretical</a:t>
            </a:r>
          </a:p>
          <a:p>
            <a:r>
              <a:t>Other Limitations:</a:t>
            </a:r>
          </a:p>
          <a:p>
            <a:pPr lvl="1"/>
            <a:r>
              <a:t>• Subjectivity in interpretation</a:t>
            </a:r>
          </a:p>
          <a:p>
            <a:pPr lvl="1"/>
            <a:r>
              <a:t>• Implementation challenges in schools</a:t>
            </a:r>
          </a:p>
          <a:p>
            <a:pPr lvl="1"/>
            <a:r>
              <a:t>• Teacher training dependency</a:t>
            </a:r>
          </a:p>
          <a:p>
            <a:pPr lvl="1"/>
            <a:r>
              <a:t>• Cultural generalization risks</a:t>
            </a:r>
          </a:p>
          <a:p>
            <a:pPr lvl="1"/>
            <a:r>
              <a:t>• Methodological limitations (narrative review, not systematic)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Priorities:</a:t>
            </a:r>
          </a:p>
          <a:p>
            <a:pPr lvl="1"/>
            <a:r>
              <a:t>Empirical Validation Models:</a:t>
            </a:r>
          </a:p>
          <a:p>
            <a:pPr lvl="2"/>
            <a:r>
              <a:t>  - Controlled intervention studies with randomized trials</a:t>
            </a:r>
          </a:p>
          <a:p>
            <a:pPr lvl="2"/>
            <a:r>
              <a:t>  - Quasi-experimental designs where randomization not feasible</a:t>
            </a:r>
          </a:p>
          <a:p>
            <a:pPr lvl="1"/>
            <a:r>
              <a:t>Mixed-Method Studies:</a:t>
            </a:r>
          </a:p>
          <a:p>
            <a:pPr lvl="2"/>
            <a:r>
              <a:t>  - Quantitative measures of mental health outcomes</a:t>
            </a:r>
          </a:p>
          <a:p>
            <a:pPr lvl="2"/>
            <a:r>
              <a:t>  - Qualitative exploration of student experiences</a:t>
            </a:r>
          </a:p>
          <a:p>
            <a:pPr lvl="1"/>
            <a:r>
              <a:t>Longitudinal Research:</a:t>
            </a:r>
          </a:p>
          <a:p>
            <a:pPr lvl="2"/>
            <a:r>
              <a:t>  - Sustained impacts over time</a:t>
            </a:r>
          </a:p>
          <a:p>
            <a:pPr lvl="2"/>
            <a:r>
              <a:t>  - Developmental trajectories</a:t>
            </a:r>
          </a:p>
          <a:p>
            <a:pPr lvl="1"/>
            <a:r>
              <a:t>Additional Priorities: Teacher training, curriculum integration, assessment tools, comparative effectiveness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 Statement:</a:t>
            </a:r>
          </a:p>
          <a:p>
            <a:pPr lvl="1"/>
            <a:r>
              <a:t>This work is a CONCEPTUAL CONTRIBUTION:</a:t>
            </a:r>
          </a:p>
          <a:p>
            <a:pPr lvl="2"/>
            <a:r>
              <a:t>  - Does NOT claim empirical effectiveness</a:t>
            </a:r>
          </a:p>
          <a:p>
            <a:pPr lvl="2"/>
            <a:r>
              <a:t>  - Does NOT recommend specific interventions</a:t>
            </a:r>
          </a:p>
          <a:p>
            <a:pPr lvl="2"/>
            <a:r>
              <a:t>  - Provides framework for understanding potential applications</a:t>
            </a:r>
          </a:p>
          <a:p>
            <a:pPr lvl="2"/>
            <a:r>
              <a:t>  - Emphasizes critical need for rigorous empirical research</a:t>
            </a:r>
          </a:p>
          <a:p>
            <a:r>
              <a:t>Key Findings:</a:t>
            </a:r>
          </a:p>
          <a:p>
            <a:pPr lvl="1"/>
            <a:r>
              <a:t>• Traditional texts offer rich philosophical and narrative resources</a:t>
            </a:r>
          </a:p>
          <a:p>
            <a:pPr lvl="1"/>
            <a:r>
              <a:t>• Scenario-based analysis reveals potential applications</a:t>
            </a:r>
          </a:p>
          <a:p>
            <a:pPr lvl="1"/>
            <a:r>
              <a:t>• Significant limitations and gaps identified</a:t>
            </a:r>
          </a:p>
          <a:p>
            <a:pPr lvl="1"/>
            <a:r>
              <a:t>• All findings require empirical validation</a:t>
            </a:r>
          </a:p>
          <a:p>
            <a:r>
              <a:t>Future Directions: Careful empirical validation, cultural sensitivity, evidence-based implementation strategies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