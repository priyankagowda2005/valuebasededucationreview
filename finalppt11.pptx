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514743"/>
                </a:solidFill>
                <a:latin typeface="Palatino Linotype"/>
                <a:cs typeface="Palatino Linotyp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514743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514743"/>
                </a:solidFill>
                <a:latin typeface="Palatino Linotype"/>
                <a:cs typeface="Palatino Linotyp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14743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514743"/>
                </a:solidFill>
                <a:latin typeface="Palatino Linotype"/>
                <a:cs typeface="Palatino Linotyp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FF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514743"/>
                </a:solidFill>
                <a:latin typeface="Palatino Linotype"/>
                <a:cs typeface="Palatino Linotyp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FF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103375" y="1219200"/>
            <a:ext cx="9985375" cy="0"/>
          </a:xfrm>
          <a:custGeom>
            <a:avLst/>
            <a:gdLst/>
            <a:ahLst/>
            <a:cxnLst/>
            <a:rect l="l" t="t" r="r" b="b"/>
            <a:pathLst>
              <a:path w="9985375" h="0">
                <a:moveTo>
                  <a:pt x="9985248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51474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103375" y="1303655"/>
            <a:ext cx="9985375" cy="0"/>
          </a:xfrm>
          <a:custGeom>
            <a:avLst/>
            <a:gdLst/>
            <a:ahLst/>
            <a:cxnLst/>
            <a:rect l="l" t="t" r="r" b="b"/>
            <a:pathLst>
              <a:path w="9985375" h="0">
                <a:moveTo>
                  <a:pt x="9985248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51474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92200" y="234823"/>
            <a:ext cx="9660255" cy="893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514743"/>
                </a:solidFill>
                <a:latin typeface="Palatino Linotype"/>
                <a:cs typeface="Palatino Linotype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92200" y="1563370"/>
            <a:ext cx="9785985" cy="44176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514743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Open book on table, blurred shelves of books in background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00798" y="1252600"/>
            <a:ext cx="5210175" cy="42083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b="1">
                <a:solidFill>
                  <a:srgbClr val="0E4661"/>
                </a:solidFill>
                <a:latin typeface="Palatino Linotype"/>
                <a:cs typeface="Palatino Linotype"/>
              </a:rPr>
              <a:t>Trash</a:t>
            </a:r>
            <a:r>
              <a:rPr dirty="0" sz="4000" spc="-120" b="1">
                <a:solidFill>
                  <a:srgbClr val="0E4661"/>
                </a:solidFill>
                <a:latin typeface="Palatino Linotype"/>
                <a:cs typeface="Palatino Linotype"/>
              </a:rPr>
              <a:t> </a:t>
            </a:r>
            <a:r>
              <a:rPr dirty="0" sz="4000" spc="-40" b="1">
                <a:solidFill>
                  <a:srgbClr val="0E4661"/>
                </a:solidFill>
                <a:latin typeface="Palatino Linotype"/>
                <a:cs typeface="Palatino Linotype"/>
              </a:rPr>
              <a:t>Sorting</a:t>
            </a:r>
            <a:r>
              <a:rPr dirty="0" sz="4000" spc="-120" b="1">
                <a:solidFill>
                  <a:srgbClr val="0E4661"/>
                </a:solidFill>
                <a:latin typeface="Palatino Linotype"/>
                <a:cs typeface="Palatino Linotype"/>
              </a:rPr>
              <a:t> </a:t>
            </a:r>
            <a:r>
              <a:rPr dirty="0" sz="4000" b="1">
                <a:solidFill>
                  <a:srgbClr val="0E4661"/>
                </a:solidFill>
                <a:latin typeface="Palatino Linotype"/>
                <a:cs typeface="Palatino Linotype"/>
              </a:rPr>
              <a:t>Using</a:t>
            </a:r>
            <a:r>
              <a:rPr dirty="0" sz="4000" spc="-125" b="1">
                <a:solidFill>
                  <a:srgbClr val="0E4661"/>
                </a:solidFill>
                <a:latin typeface="Palatino Linotype"/>
                <a:cs typeface="Palatino Linotype"/>
              </a:rPr>
              <a:t> </a:t>
            </a:r>
            <a:r>
              <a:rPr dirty="0" sz="4000" spc="-55" b="1">
                <a:solidFill>
                  <a:srgbClr val="0E4661"/>
                </a:solidFill>
                <a:latin typeface="Palatino Linotype"/>
                <a:cs typeface="Palatino Linotype"/>
              </a:rPr>
              <a:t>Artificial</a:t>
            </a:r>
            <a:r>
              <a:rPr dirty="0" sz="4000" spc="-120" b="1">
                <a:solidFill>
                  <a:srgbClr val="0E4661"/>
                </a:solidFill>
                <a:latin typeface="Palatino Linotype"/>
                <a:cs typeface="Palatino Linotype"/>
              </a:rPr>
              <a:t> </a:t>
            </a:r>
            <a:r>
              <a:rPr dirty="0" sz="4000" spc="-20" b="1">
                <a:solidFill>
                  <a:srgbClr val="0E4661"/>
                </a:solidFill>
                <a:latin typeface="Palatino Linotype"/>
                <a:cs typeface="Palatino Linotype"/>
              </a:rPr>
              <a:t>Intelligence</a:t>
            </a:r>
            <a:endParaRPr sz="400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51050" y="1810257"/>
            <a:ext cx="4627245" cy="17030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9685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Times New Roman"/>
                <a:cs typeface="Times New Roman"/>
              </a:rPr>
              <a:t>Malnad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College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of</a:t>
            </a:r>
            <a:r>
              <a:rPr dirty="0" sz="2000" spc="-1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Engineering,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Hassan</a:t>
            </a:r>
            <a:endParaRPr sz="2000">
              <a:latin typeface="Times New Roman"/>
              <a:cs typeface="Times New Roman"/>
            </a:endParaRPr>
          </a:p>
          <a:p>
            <a:pPr marL="848994" marR="5080" indent="-836930">
              <a:lnSpc>
                <a:spcPct val="100000"/>
              </a:lnSpc>
              <a:spcBef>
                <a:spcPts val="1800"/>
              </a:spcBef>
            </a:pPr>
            <a:r>
              <a:rPr dirty="0" sz="2000" b="1">
                <a:latin typeface="Times New Roman"/>
                <a:cs typeface="Times New Roman"/>
              </a:rPr>
              <a:t>Department</a:t>
            </a:r>
            <a:r>
              <a:rPr dirty="0" sz="2000" spc="-6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of</a:t>
            </a:r>
            <a:r>
              <a:rPr dirty="0" sz="2000" spc="-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Electronics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and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Electronics Engineering</a:t>
            </a:r>
            <a:endParaRPr sz="2000">
              <a:latin typeface="Times New Roman"/>
              <a:cs typeface="Times New Roman"/>
            </a:endParaRPr>
          </a:p>
          <a:p>
            <a:pPr marL="815340">
              <a:lnSpc>
                <a:spcPct val="100000"/>
              </a:lnSpc>
              <a:spcBef>
                <a:spcPts val="2039"/>
              </a:spcBef>
            </a:pPr>
            <a:r>
              <a:rPr dirty="0" sz="1800" spc="-55" b="1">
                <a:solidFill>
                  <a:srgbClr val="0E4661"/>
                </a:solidFill>
                <a:latin typeface="Arial"/>
                <a:cs typeface="Arial"/>
              </a:rPr>
              <a:t>Team </a:t>
            </a:r>
            <a:r>
              <a:rPr dirty="0" sz="1800" spc="-10" b="1">
                <a:solidFill>
                  <a:srgbClr val="0E4661"/>
                </a:solidFill>
                <a:latin typeface="Arial"/>
                <a:cs typeface="Arial"/>
              </a:rPr>
              <a:t>Members: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83335" y="3762247"/>
            <a:ext cx="2256155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034" marR="5080" indent="-1397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E4661"/>
                </a:solidFill>
                <a:latin typeface="Arial"/>
                <a:cs typeface="Arial"/>
              </a:rPr>
              <a:t>Shivanand</a:t>
            </a:r>
            <a:r>
              <a:rPr dirty="0" sz="1800" spc="-5">
                <a:solidFill>
                  <a:srgbClr val="0E4661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0E4661"/>
                </a:solidFill>
                <a:latin typeface="Arial"/>
                <a:cs typeface="Arial"/>
              </a:rPr>
              <a:t>Manur </a:t>
            </a:r>
            <a:r>
              <a:rPr dirty="0" sz="1800">
                <a:solidFill>
                  <a:srgbClr val="0E4661"/>
                </a:solidFill>
                <a:latin typeface="Arial"/>
                <a:cs typeface="Arial"/>
              </a:rPr>
              <a:t>Vikas</a:t>
            </a:r>
            <a:r>
              <a:rPr dirty="0" sz="1800" spc="-85">
                <a:solidFill>
                  <a:srgbClr val="0E4661"/>
                </a:solidFill>
                <a:latin typeface="Arial"/>
                <a:cs typeface="Arial"/>
              </a:rPr>
              <a:t> </a:t>
            </a:r>
            <a:r>
              <a:rPr dirty="0" sz="1800" spc="-60">
                <a:solidFill>
                  <a:srgbClr val="0E4661"/>
                </a:solidFill>
                <a:latin typeface="Arial"/>
                <a:cs typeface="Arial"/>
              </a:rPr>
              <a:t>P </a:t>
            </a:r>
            <a:r>
              <a:rPr dirty="0" sz="1800">
                <a:solidFill>
                  <a:srgbClr val="0E4661"/>
                </a:solidFill>
                <a:latin typeface="Arial"/>
                <a:cs typeface="Arial"/>
              </a:rPr>
              <a:t>Vivekanandachar</a:t>
            </a:r>
            <a:r>
              <a:rPr dirty="0" sz="1800" spc="55">
                <a:solidFill>
                  <a:srgbClr val="0E4661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E4661"/>
                </a:solidFill>
                <a:latin typeface="Arial"/>
                <a:cs typeface="Arial"/>
              </a:rPr>
              <a:t>N</a:t>
            </a:r>
            <a:r>
              <a:rPr dirty="0" sz="1800" spc="85">
                <a:solidFill>
                  <a:srgbClr val="0E4661"/>
                </a:solidFill>
                <a:latin typeface="Arial"/>
                <a:cs typeface="Arial"/>
              </a:rPr>
              <a:t> </a:t>
            </a:r>
            <a:r>
              <a:rPr dirty="0" sz="1800" spc="-50">
                <a:solidFill>
                  <a:srgbClr val="0E4661"/>
                </a:solidFill>
                <a:latin typeface="Arial"/>
                <a:cs typeface="Arial"/>
              </a:rPr>
              <a:t>L </a:t>
            </a:r>
            <a:r>
              <a:rPr dirty="0" sz="1800" spc="-35">
                <a:solidFill>
                  <a:srgbClr val="0E4661"/>
                </a:solidFill>
                <a:latin typeface="Arial"/>
                <a:cs typeface="Arial"/>
              </a:rPr>
              <a:t>Yashswini</a:t>
            </a:r>
            <a:r>
              <a:rPr dirty="0" sz="1800" spc="-90">
                <a:solidFill>
                  <a:srgbClr val="0E4661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E4661"/>
                </a:solidFill>
                <a:latin typeface="Arial"/>
                <a:cs typeface="Arial"/>
              </a:rPr>
              <a:t>K</a:t>
            </a:r>
            <a:r>
              <a:rPr dirty="0" sz="1800" spc="-55">
                <a:solidFill>
                  <a:srgbClr val="0E4661"/>
                </a:solidFill>
                <a:latin typeface="Arial"/>
                <a:cs typeface="Arial"/>
              </a:rPr>
              <a:t> </a:t>
            </a:r>
            <a:r>
              <a:rPr dirty="0" sz="1800" spc="-50">
                <a:solidFill>
                  <a:srgbClr val="0E4661"/>
                </a:solidFill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24832" y="3762247"/>
            <a:ext cx="156845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29209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0E4661"/>
                </a:solidFill>
                <a:latin typeface="Arial"/>
                <a:cs typeface="Arial"/>
              </a:rPr>
              <a:t>(4MC22EE077) </a:t>
            </a:r>
            <a:r>
              <a:rPr dirty="0" sz="1800" spc="-30">
                <a:solidFill>
                  <a:srgbClr val="0E4661"/>
                </a:solidFill>
                <a:latin typeface="Arial"/>
                <a:cs typeface="Arial"/>
              </a:rPr>
              <a:t>(4MC22EE105) (4MC22EE107) (4MC22EE110)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6686" y="1373250"/>
            <a:ext cx="1217193" cy="172707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273554" y="5163692"/>
            <a:ext cx="2584450" cy="16852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0E4661"/>
                </a:solidFill>
                <a:latin typeface="Times New Roman"/>
                <a:cs typeface="Times New Roman"/>
              </a:rPr>
              <a:t>Under</a:t>
            </a:r>
            <a:r>
              <a:rPr dirty="0" sz="2000" spc="-55" b="1">
                <a:solidFill>
                  <a:srgbClr val="0E4661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0E4661"/>
                </a:solidFill>
                <a:latin typeface="Times New Roman"/>
                <a:cs typeface="Times New Roman"/>
              </a:rPr>
              <a:t>the</a:t>
            </a:r>
            <a:r>
              <a:rPr dirty="0" sz="2000" spc="-25" b="1">
                <a:solidFill>
                  <a:srgbClr val="0E4661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0E4661"/>
                </a:solidFill>
                <a:latin typeface="Times New Roman"/>
                <a:cs typeface="Times New Roman"/>
              </a:rPr>
              <a:t>guidance</a:t>
            </a:r>
            <a:r>
              <a:rPr dirty="0" sz="2000" spc="-35" b="1">
                <a:solidFill>
                  <a:srgbClr val="0E4661"/>
                </a:solidFill>
                <a:latin typeface="Times New Roman"/>
                <a:cs typeface="Times New Roman"/>
              </a:rPr>
              <a:t> </a:t>
            </a:r>
            <a:r>
              <a:rPr dirty="0" sz="2000" spc="-25" b="1">
                <a:solidFill>
                  <a:srgbClr val="0E4661"/>
                </a:solidFill>
                <a:latin typeface="Times New Roman"/>
                <a:cs typeface="Times New Roman"/>
              </a:rPr>
              <a:t>of:</a:t>
            </a:r>
            <a:endParaRPr sz="2000">
              <a:latin typeface="Times New Roman"/>
              <a:cs typeface="Times New Roman"/>
            </a:endParaRPr>
          </a:p>
          <a:p>
            <a:pPr marL="510540" marR="5080">
              <a:lnSpc>
                <a:spcPct val="100000"/>
              </a:lnSpc>
              <a:spcBef>
                <a:spcPts val="2020"/>
              </a:spcBef>
            </a:pPr>
            <a:r>
              <a:rPr dirty="0" sz="1800">
                <a:solidFill>
                  <a:srgbClr val="0E4661"/>
                </a:solidFill>
                <a:latin typeface="Arial"/>
                <a:cs typeface="Arial"/>
              </a:rPr>
              <a:t>Dr.</a:t>
            </a:r>
            <a:r>
              <a:rPr dirty="0" sz="1800" spc="220">
                <a:solidFill>
                  <a:srgbClr val="0E4661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E4661"/>
                </a:solidFill>
                <a:latin typeface="Arial"/>
                <a:cs typeface="Arial"/>
              </a:rPr>
              <a:t>Kaveri</a:t>
            </a:r>
            <a:r>
              <a:rPr dirty="0" sz="1800" spc="-70">
                <a:solidFill>
                  <a:srgbClr val="0E4661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E4661"/>
                </a:solidFill>
                <a:latin typeface="Arial"/>
                <a:cs typeface="Arial"/>
              </a:rPr>
              <a:t>K</a:t>
            </a:r>
            <a:r>
              <a:rPr dirty="0" sz="1800" spc="-75">
                <a:solidFill>
                  <a:srgbClr val="0E4661"/>
                </a:solidFill>
                <a:latin typeface="Arial"/>
                <a:cs typeface="Arial"/>
              </a:rPr>
              <a:t> </a:t>
            </a:r>
            <a:r>
              <a:rPr dirty="0" sz="1800" spc="-50">
                <a:solidFill>
                  <a:srgbClr val="0E4661"/>
                </a:solidFill>
                <a:latin typeface="Arial"/>
                <a:cs typeface="Arial"/>
              </a:rPr>
              <a:t>B </a:t>
            </a:r>
            <a:r>
              <a:rPr dirty="0" sz="1800">
                <a:solidFill>
                  <a:srgbClr val="0E4661"/>
                </a:solidFill>
                <a:latin typeface="Arial"/>
                <a:cs typeface="Arial"/>
              </a:rPr>
              <a:t>Associate</a:t>
            </a:r>
            <a:r>
              <a:rPr dirty="0" sz="1800" spc="105">
                <a:solidFill>
                  <a:srgbClr val="0E4661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0E4661"/>
                </a:solidFill>
                <a:latin typeface="Arial"/>
                <a:cs typeface="Arial"/>
              </a:rPr>
              <a:t>Professor </a:t>
            </a:r>
            <a:r>
              <a:rPr dirty="0" sz="1800">
                <a:solidFill>
                  <a:srgbClr val="0E4661"/>
                </a:solidFill>
                <a:latin typeface="Arial"/>
                <a:cs typeface="Arial"/>
              </a:rPr>
              <a:t>Dept.</a:t>
            </a:r>
            <a:r>
              <a:rPr dirty="0" sz="1800" spc="315">
                <a:solidFill>
                  <a:srgbClr val="0E4661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0E4661"/>
                </a:solidFill>
                <a:latin typeface="Arial"/>
                <a:cs typeface="Arial"/>
              </a:rPr>
              <a:t>of</a:t>
            </a:r>
            <a:r>
              <a:rPr dirty="0" sz="1800" spc="-20">
                <a:solidFill>
                  <a:srgbClr val="0E4661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0E4661"/>
                </a:solidFill>
                <a:latin typeface="Arial"/>
                <a:cs typeface="Arial"/>
              </a:rPr>
              <a:t>EEE </a:t>
            </a:r>
            <a:r>
              <a:rPr dirty="0" sz="1800" spc="-10">
                <a:solidFill>
                  <a:srgbClr val="0E4661"/>
                </a:solidFill>
                <a:latin typeface="Arial"/>
                <a:cs typeface="Arial"/>
              </a:rPr>
              <a:t>MCE,Hassan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311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 b="1">
                <a:latin typeface="Palatino Linotype"/>
                <a:cs typeface="Palatino Linotype"/>
              </a:rPr>
              <a:t>OVERVIEW: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4696" y="1473682"/>
            <a:ext cx="2431415" cy="4142104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228600" indent="-215900">
              <a:lnSpc>
                <a:spcPct val="100000"/>
              </a:lnSpc>
              <a:spcBef>
                <a:spcPts val="1300"/>
              </a:spcBef>
              <a:buClr>
                <a:srgbClr val="242424"/>
              </a:buClr>
              <a:buFont typeface="Microsoft Sans Serif"/>
              <a:buChar char="◦"/>
              <a:tabLst>
                <a:tab pos="228600" algn="l"/>
              </a:tabLst>
            </a:pPr>
            <a:r>
              <a:rPr dirty="0" sz="2000" spc="45">
                <a:solidFill>
                  <a:srgbClr val="514743"/>
                </a:solidFill>
                <a:latin typeface="Cambria"/>
                <a:cs typeface="Cambria"/>
              </a:rPr>
              <a:t>Introduction</a:t>
            </a:r>
            <a:endParaRPr sz="2000">
              <a:latin typeface="Cambria"/>
              <a:cs typeface="Cambria"/>
            </a:endParaRPr>
          </a:p>
          <a:p>
            <a:pPr marL="196850" indent="-184150">
              <a:lnSpc>
                <a:spcPct val="100000"/>
              </a:lnSpc>
              <a:spcBef>
                <a:spcPts val="1205"/>
              </a:spcBef>
              <a:buClr>
                <a:srgbClr val="242424"/>
              </a:buClr>
              <a:buFont typeface="Microsoft Sans Serif"/>
              <a:buChar char="◦"/>
              <a:tabLst>
                <a:tab pos="196850" algn="l"/>
              </a:tabLst>
            </a:pPr>
            <a:r>
              <a:rPr dirty="0" sz="2000">
                <a:solidFill>
                  <a:srgbClr val="514743"/>
                </a:solidFill>
                <a:latin typeface="Cambria"/>
                <a:cs typeface="Cambria"/>
              </a:rPr>
              <a:t>Literature</a:t>
            </a:r>
            <a:r>
              <a:rPr dirty="0" sz="2000" spc="490">
                <a:solidFill>
                  <a:srgbClr val="514743"/>
                </a:solidFill>
                <a:latin typeface="Cambria"/>
                <a:cs typeface="Cambria"/>
              </a:rPr>
              <a:t> </a:t>
            </a:r>
            <a:r>
              <a:rPr dirty="0" sz="2000" spc="-10">
                <a:solidFill>
                  <a:srgbClr val="514743"/>
                </a:solidFill>
                <a:latin typeface="Cambria"/>
                <a:cs typeface="Cambria"/>
              </a:rPr>
              <a:t>Review</a:t>
            </a:r>
            <a:endParaRPr sz="2000">
              <a:latin typeface="Cambria"/>
              <a:cs typeface="Cambria"/>
            </a:endParaRPr>
          </a:p>
          <a:p>
            <a:pPr marL="196850" indent="-184150">
              <a:lnSpc>
                <a:spcPct val="100000"/>
              </a:lnSpc>
              <a:spcBef>
                <a:spcPts val="1200"/>
              </a:spcBef>
              <a:buClr>
                <a:srgbClr val="242424"/>
              </a:buClr>
              <a:buFont typeface="Microsoft Sans Serif"/>
              <a:buChar char="◦"/>
              <a:tabLst>
                <a:tab pos="196850" algn="l"/>
              </a:tabLst>
            </a:pPr>
            <a:r>
              <a:rPr dirty="0" sz="2000" spc="50">
                <a:solidFill>
                  <a:srgbClr val="514743"/>
                </a:solidFill>
                <a:latin typeface="Cambria"/>
                <a:cs typeface="Cambria"/>
              </a:rPr>
              <a:t>Problem</a:t>
            </a:r>
            <a:r>
              <a:rPr dirty="0" sz="2000" spc="170">
                <a:solidFill>
                  <a:srgbClr val="514743"/>
                </a:solidFill>
                <a:latin typeface="Cambria"/>
                <a:cs typeface="Cambria"/>
              </a:rPr>
              <a:t> </a:t>
            </a:r>
            <a:r>
              <a:rPr dirty="0" sz="2000" spc="50">
                <a:solidFill>
                  <a:srgbClr val="514743"/>
                </a:solidFill>
                <a:latin typeface="Cambria"/>
                <a:cs typeface="Cambria"/>
              </a:rPr>
              <a:t>statement</a:t>
            </a:r>
            <a:endParaRPr sz="2000">
              <a:latin typeface="Cambria"/>
              <a:cs typeface="Cambria"/>
            </a:endParaRPr>
          </a:p>
          <a:p>
            <a:pPr marL="196850" indent="-184150">
              <a:lnSpc>
                <a:spcPct val="100000"/>
              </a:lnSpc>
              <a:spcBef>
                <a:spcPts val="1200"/>
              </a:spcBef>
              <a:buClr>
                <a:srgbClr val="242424"/>
              </a:buClr>
              <a:buFont typeface="Microsoft Sans Serif"/>
              <a:buChar char="◦"/>
              <a:tabLst>
                <a:tab pos="196850" algn="l"/>
              </a:tabLst>
            </a:pPr>
            <a:r>
              <a:rPr dirty="0" sz="2000" spc="35">
                <a:solidFill>
                  <a:srgbClr val="514743"/>
                </a:solidFill>
                <a:latin typeface="Cambria"/>
                <a:cs typeface="Cambria"/>
              </a:rPr>
              <a:t>Objectives</a:t>
            </a:r>
            <a:endParaRPr sz="2000">
              <a:latin typeface="Cambria"/>
              <a:cs typeface="Cambria"/>
            </a:endParaRPr>
          </a:p>
          <a:p>
            <a:pPr marL="196850" indent="-184150">
              <a:lnSpc>
                <a:spcPct val="100000"/>
              </a:lnSpc>
              <a:spcBef>
                <a:spcPts val="1200"/>
              </a:spcBef>
              <a:buClr>
                <a:srgbClr val="242424"/>
              </a:buClr>
              <a:buFont typeface="Microsoft Sans Serif"/>
              <a:buChar char="◦"/>
              <a:tabLst>
                <a:tab pos="196850" algn="l"/>
              </a:tabLst>
            </a:pPr>
            <a:r>
              <a:rPr dirty="0" sz="2000" spc="50">
                <a:solidFill>
                  <a:srgbClr val="514743"/>
                </a:solidFill>
                <a:latin typeface="Cambria"/>
                <a:cs typeface="Cambria"/>
              </a:rPr>
              <a:t>Block</a:t>
            </a:r>
            <a:r>
              <a:rPr dirty="0" sz="2000" spc="160">
                <a:solidFill>
                  <a:srgbClr val="514743"/>
                </a:solidFill>
                <a:latin typeface="Cambria"/>
                <a:cs typeface="Cambria"/>
              </a:rPr>
              <a:t> </a:t>
            </a:r>
            <a:r>
              <a:rPr dirty="0" sz="2000" spc="40">
                <a:solidFill>
                  <a:srgbClr val="514743"/>
                </a:solidFill>
                <a:latin typeface="Cambria"/>
                <a:cs typeface="Cambria"/>
              </a:rPr>
              <a:t>diagram</a:t>
            </a:r>
            <a:endParaRPr sz="2000">
              <a:latin typeface="Cambria"/>
              <a:cs typeface="Cambria"/>
            </a:endParaRPr>
          </a:p>
          <a:p>
            <a:pPr marL="195580" indent="-182880">
              <a:lnSpc>
                <a:spcPct val="100000"/>
              </a:lnSpc>
              <a:spcBef>
                <a:spcPts val="1200"/>
              </a:spcBef>
              <a:buClr>
                <a:srgbClr val="242424"/>
              </a:buClr>
              <a:buFont typeface="Microsoft Sans Serif"/>
              <a:buChar char="◦"/>
              <a:tabLst>
                <a:tab pos="195580" algn="l"/>
              </a:tabLst>
            </a:pPr>
            <a:r>
              <a:rPr dirty="0" sz="2000" spc="40">
                <a:solidFill>
                  <a:srgbClr val="514743"/>
                </a:solidFill>
                <a:latin typeface="Cambria"/>
                <a:cs typeface="Cambria"/>
              </a:rPr>
              <a:t>Methodology</a:t>
            </a:r>
            <a:endParaRPr sz="2000">
              <a:latin typeface="Cambria"/>
              <a:cs typeface="Cambria"/>
            </a:endParaRPr>
          </a:p>
          <a:p>
            <a:pPr marL="196850" indent="-184150">
              <a:lnSpc>
                <a:spcPct val="100000"/>
              </a:lnSpc>
              <a:spcBef>
                <a:spcPts val="1200"/>
              </a:spcBef>
              <a:buClr>
                <a:srgbClr val="242424"/>
              </a:buClr>
              <a:buFont typeface="Microsoft Sans Serif"/>
              <a:buChar char="◦"/>
              <a:tabLst>
                <a:tab pos="196850" algn="l"/>
              </a:tabLst>
            </a:pPr>
            <a:r>
              <a:rPr dirty="0" sz="2000" spc="70">
                <a:solidFill>
                  <a:srgbClr val="514743"/>
                </a:solidFill>
                <a:latin typeface="Cambria"/>
                <a:cs typeface="Cambria"/>
              </a:rPr>
              <a:t>Results</a:t>
            </a:r>
            <a:endParaRPr sz="2000">
              <a:latin typeface="Cambria"/>
              <a:cs typeface="Cambria"/>
            </a:endParaRPr>
          </a:p>
          <a:p>
            <a:pPr marL="196850" indent="-184150">
              <a:lnSpc>
                <a:spcPct val="100000"/>
              </a:lnSpc>
              <a:spcBef>
                <a:spcPts val="1215"/>
              </a:spcBef>
              <a:buClr>
                <a:srgbClr val="242424"/>
              </a:buClr>
              <a:buFont typeface="Microsoft Sans Serif"/>
              <a:buChar char="◦"/>
              <a:tabLst>
                <a:tab pos="196850" algn="l"/>
              </a:tabLst>
            </a:pPr>
            <a:r>
              <a:rPr dirty="0" sz="2000" spc="-10">
                <a:solidFill>
                  <a:srgbClr val="514743"/>
                </a:solidFill>
                <a:latin typeface="Arial"/>
                <a:cs typeface="Arial"/>
              </a:rPr>
              <a:t>Conclusion</a:t>
            </a:r>
            <a:endParaRPr sz="2000">
              <a:latin typeface="Arial"/>
              <a:cs typeface="Arial"/>
            </a:endParaRPr>
          </a:p>
          <a:p>
            <a:pPr marL="196850" indent="-184150">
              <a:lnSpc>
                <a:spcPct val="100000"/>
              </a:lnSpc>
              <a:spcBef>
                <a:spcPts val="1190"/>
              </a:spcBef>
              <a:buClr>
                <a:srgbClr val="242424"/>
              </a:buClr>
              <a:buFont typeface="Microsoft Sans Serif"/>
              <a:buChar char="◦"/>
              <a:tabLst>
                <a:tab pos="196850" algn="l"/>
              </a:tabLst>
            </a:pPr>
            <a:r>
              <a:rPr dirty="0" sz="2000" spc="70">
                <a:solidFill>
                  <a:srgbClr val="514743"/>
                </a:solidFill>
                <a:latin typeface="Cambria"/>
                <a:cs typeface="Cambria"/>
              </a:rPr>
              <a:t>Reference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533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10" b="1">
                <a:latin typeface="Times New Roman"/>
                <a:cs typeface="Times New Roman"/>
              </a:rPr>
              <a:t>INTRODUCTION</a:t>
            </a:r>
            <a:r>
              <a:rPr dirty="0" spc="180" b="1">
                <a:latin typeface="Times New Roman"/>
                <a:cs typeface="Times New Roman"/>
              </a:rPr>
              <a:t> </a:t>
            </a:r>
            <a:r>
              <a:rPr dirty="0" spc="-50" b="1">
                <a:latin typeface="Times New Roman"/>
                <a:cs typeface="Times New Roman"/>
              </a:rPr>
              <a:t>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92200" y="1418336"/>
            <a:ext cx="10010140" cy="449262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algn="just" marL="299085" marR="5080" indent="-287020">
              <a:lnSpc>
                <a:spcPts val="2160"/>
              </a:lnSpc>
              <a:spcBef>
                <a:spcPts val="375"/>
              </a:spcBef>
              <a:buFont typeface="Wingdings"/>
              <a:buChar char=""/>
              <a:tabLst>
                <a:tab pos="299085" algn="l"/>
              </a:tabLst>
            </a:pP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Waste</a:t>
            </a:r>
            <a:r>
              <a:rPr dirty="0" sz="2000" spc="12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management</a:t>
            </a:r>
            <a:r>
              <a:rPr dirty="0" sz="2000" spc="13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has</a:t>
            </a:r>
            <a:r>
              <a:rPr dirty="0" sz="2000" spc="12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become</a:t>
            </a:r>
            <a:r>
              <a:rPr dirty="0" sz="2000" spc="12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one</a:t>
            </a:r>
            <a:r>
              <a:rPr dirty="0" sz="2000" spc="12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of</a:t>
            </a:r>
            <a:r>
              <a:rPr dirty="0" sz="2000" spc="13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the</a:t>
            </a:r>
            <a:r>
              <a:rPr dirty="0" sz="2000" spc="12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most</a:t>
            </a:r>
            <a:r>
              <a:rPr dirty="0" sz="2000" spc="12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critical</a:t>
            </a:r>
            <a:r>
              <a:rPr dirty="0" sz="2000" spc="114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global</a:t>
            </a:r>
            <a:r>
              <a:rPr dirty="0" sz="2000" spc="12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challenges</a:t>
            </a:r>
            <a:r>
              <a:rPr dirty="0" sz="2000" spc="13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of</a:t>
            </a:r>
            <a:r>
              <a:rPr dirty="0" sz="2000" spc="13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the</a:t>
            </a:r>
            <a:r>
              <a:rPr dirty="0" sz="2000" spc="12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21st</a:t>
            </a:r>
            <a:r>
              <a:rPr dirty="0" sz="2000" spc="12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514743"/>
                </a:solidFill>
                <a:latin typeface="Times New Roman"/>
                <a:cs typeface="Times New Roman"/>
              </a:rPr>
              <a:t>century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due</a:t>
            </a:r>
            <a:r>
              <a:rPr dirty="0" sz="2000" spc="-2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to</a:t>
            </a:r>
            <a:r>
              <a:rPr dirty="0" sz="2000" spc="-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rapid</a:t>
            </a:r>
            <a:r>
              <a:rPr dirty="0" sz="2000" spc="-2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514743"/>
                </a:solidFill>
                <a:latin typeface="Times New Roman"/>
                <a:cs typeface="Times New Roman"/>
              </a:rPr>
              <a:t>urbanization</a:t>
            </a:r>
            <a:endParaRPr sz="2000">
              <a:latin typeface="Times New Roman"/>
              <a:cs typeface="Times New Roman"/>
            </a:endParaRPr>
          </a:p>
          <a:p>
            <a:pPr marL="363220" indent="-350520">
              <a:lnSpc>
                <a:spcPct val="100000"/>
              </a:lnSpc>
              <a:spcBef>
                <a:spcPts val="1530"/>
              </a:spcBef>
              <a:buFont typeface="Wingdings"/>
              <a:buChar char=""/>
              <a:tabLst>
                <a:tab pos="363220" algn="l"/>
              </a:tabLst>
            </a:pP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Increased</a:t>
            </a:r>
            <a:r>
              <a:rPr dirty="0" sz="2000" spc="-5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population</a:t>
            </a:r>
            <a:r>
              <a:rPr dirty="0" sz="2000" spc="-4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growth,</a:t>
            </a:r>
            <a:r>
              <a:rPr dirty="0" sz="2000" spc="-4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and</a:t>
            </a:r>
            <a:r>
              <a:rPr dirty="0" sz="2000" spc="-2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a</a:t>
            </a:r>
            <a:r>
              <a:rPr dirty="0" sz="2000" spc="-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surge</a:t>
            </a:r>
            <a:r>
              <a:rPr dirty="0" sz="2000" spc="-3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in</a:t>
            </a:r>
            <a:r>
              <a:rPr dirty="0" sz="2000" spc="-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514743"/>
                </a:solidFill>
                <a:latin typeface="Times New Roman"/>
                <a:cs typeface="Times New Roman"/>
              </a:rPr>
              <a:t>consumerism.</a:t>
            </a:r>
            <a:endParaRPr sz="2000">
              <a:latin typeface="Times New Roman"/>
              <a:cs typeface="Times New Roman"/>
            </a:endParaRPr>
          </a:p>
          <a:p>
            <a:pPr algn="just" marL="299085" marR="5715" indent="-287020">
              <a:lnSpc>
                <a:spcPts val="2160"/>
              </a:lnSpc>
              <a:spcBef>
                <a:spcPts val="1830"/>
              </a:spcBef>
              <a:buFont typeface="Wingdings"/>
              <a:buChar char=""/>
              <a:tabLst>
                <a:tab pos="299085" algn="l"/>
              </a:tabLst>
            </a:pP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Improper</a:t>
            </a:r>
            <a:r>
              <a:rPr dirty="0" sz="2000" spc="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solid</a:t>
            </a:r>
            <a:r>
              <a:rPr dirty="0" sz="2000" spc="1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waste</a:t>
            </a:r>
            <a:r>
              <a:rPr dirty="0" sz="2000" spc="1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disposal leads</a:t>
            </a:r>
            <a:r>
              <a:rPr dirty="0" sz="2000" spc="2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to</a:t>
            </a:r>
            <a:r>
              <a:rPr dirty="0" sz="2000" spc="2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soil</a:t>
            </a:r>
            <a:r>
              <a:rPr dirty="0" sz="2000" spc="1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contamination,</a:t>
            </a:r>
            <a:r>
              <a:rPr dirty="0" sz="2000" spc="-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water pollution,</a:t>
            </a:r>
            <a:r>
              <a:rPr dirty="0" sz="2000" spc="2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harmful</a:t>
            </a:r>
            <a:r>
              <a:rPr dirty="0" sz="2000" spc="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514743"/>
                </a:solidFill>
                <a:latin typeface="Times New Roman"/>
                <a:cs typeface="Times New Roman"/>
              </a:rPr>
              <a:t>greenhouse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gas</a:t>
            </a:r>
            <a:r>
              <a:rPr dirty="0" sz="2000" spc="-2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emissions,</a:t>
            </a:r>
            <a:r>
              <a:rPr dirty="0" sz="2000" spc="-4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and</a:t>
            </a:r>
            <a:r>
              <a:rPr dirty="0" sz="2000" spc="-2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long-term</a:t>
            </a:r>
            <a:r>
              <a:rPr dirty="0" sz="2000" spc="-5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health</a:t>
            </a:r>
            <a:r>
              <a:rPr dirty="0" sz="2000" spc="-2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514743"/>
                </a:solidFill>
                <a:latin typeface="Times New Roman"/>
                <a:cs typeface="Times New Roman"/>
              </a:rPr>
              <a:t>hazards.</a:t>
            </a:r>
            <a:endParaRPr sz="2000">
              <a:latin typeface="Times New Roman"/>
              <a:cs typeface="Times New Roman"/>
            </a:endParaRPr>
          </a:p>
          <a:p>
            <a:pPr algn="just" marL="299085" marR="8255" indent="-287020">
              <a:lnSpc>
                <a:spcPts val="2160"/>
              </a:lnSpc>
              <a:spcBef>
                <a:spcPts val="1800"/>
              </a:spcBef>
              <a:buFont typeface="Wingdings"/>
              <a:buChar char=""/>
              <a:tabLst>
                <a:tab pos="299085" algn="l"/>
              </a:tabLst>
            </a:pP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Traditional</a:t>
            </a:r>
            <a:r>
              <a:rPr dirty="0" sz="2000" spc="8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waste</a:t>
            </a:r>
            <a:r>
              <a:rPr dirty="0" sz="2000" spc="7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sorting</a:t>
            </a:r>
            <a:r>
              <a:rPr dirty="0" sz="2000" spc="10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systems</a:t>
            </a:r>
            <a:r>
              <a:rPr dirty="0" sz="2000" spc="9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are</a:t>
            </a:r>
            <a:r>
              <a:rPr dirty="0" sz="2000" spc="8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slow,</a:t>
            </a:r>
            <a:r>
              <a:rPr dirty="0" sz="2000" spc="8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514743"/>
                </a:solidFill>
                <a:latin typeface="Times New Roman"/>
                <a:cs typeface="Times New Roman"/>
              </a:rPr>
              <a:t>labour-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intensive,</a:t>
            </a:r>
            <a:r>
              <a:rPr dirty="0" sz="2000" spc="10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inconsistent,</a:t>
            </a:r>
            <a:r>
              <a:rPr dirty="0" sz="2000" spc="9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and</a:t>
            </a:r>
            <a:r>
              <a:rPr dirty="0" sz="2000" spc="8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highly</a:t>
            </a:r>
            <a:r>
              <a:rPr dirty="0" sz="2000" spc="7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prone</a:t>
            </a:r>
            <a:r>
              <a:rPr dirty="0" sz="2000" spc="7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 spc="-25">
                <a:solidFill>
                  <a:srgbClr val="514743"/>
                </a:solidFill>
                <a:latin typeface="Times New Roman"/>
                <a:cs typeface="Times New Roman"/>
              </a:rPr>
              <a:t>to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human</a:t>
            </a:r>
            <a:r>
              <a:rPr dirty="0" sz="2000" spc="-2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514743"/>
                </a:solidFill>
                <a:latin typeface="Times New Roman"/>
                <a:cs typeface="Times New Roman"/>
              </a:rPr>
              <a:t>error.</a:t>
            </a:r>
            <a:endParaRPr sz="2000">
              <a:latin typeface="Times New Roman"/>
              <a:cs typeface="Times New Roman"/>
            </a:endParaRPr>
          </a:p>
          <a:p>
            <a:pPr algn="just" marL="299085" marR="5080" indent="-287020">
              <a:lnSpc>
                <a:spcPts val="2160"/>
              </a:lnSpc>
              <a:spcBef>
                <a:spcPts val="1805"/>
              </a:spcBef>
              <a:buFont typeface="Wingdings"/>
              <a:buChar char=""/>
              <a:tabLst>
                <a:tab pos="299085" algn="l"/>
              </a:tabLst>
            </a:pP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As</a:t>
            </a:r>
            <a:r>
              <a:rPr dirty="0" sz="2000" spc="47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nations</a:t>
            </a:r>
            <a:r>
              <a:rPr dirty="0" sz="2000" spc="47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shift</a:t>
            </a:r>
            <a:r>
              <a:rPr dirty="0" sz="2000" spc="46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towards</a:t>
            </a:r>
            <a:r>
              <a:rPr dirty="0" sz="2000" spc="48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smart</a:t>
            </a:r>
            <a:r>
              <a:rPr dirty="0" sz="2000" spc="48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cities</a:t>
            </a:r>
            <a:r>
              <a:rPr dirty="0" sz="2000" spc="47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and</a:t>
            </a:r>
            <a:r>
              <a:rPr dirty="0" sz="2000" spc="47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digital</a:t>
            </a:r>
            <a:r>
              <a:rPr dirty="0" sz="2000" spc="46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automation,</a:t>
            </a:r>
            <a:r>
              <a:rPr dirty="0" sz="2000" spc="484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there</a:t>
            </a:r>
            <a:r>
              <a:rPr dirty="0" sz="2000" spc="47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is</a:t>
            </a:r>
            <a:r>
              <a:rPr dirty="0" sz="2000" spc="48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an</a:t>
            </a:r>
            <a:r>
              <a:rPr dirty="0" sz="2000" spc="48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urgent</a:t>
            </a:r>
            <a:r>
              <a:rPr dirty="0" sz="2000" spc="47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need</a:t>
            </a:r>
            <a:r>
              <a:rPr dirty="0" sz="2000" spc="47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 spc="-25">
                <a:solidFill>
                  <a:srgbClr val="514743"/>
                </a:solidFill>
                <a:latin typeface="Times New Roman"/>
                <a:cs typeface="Times New Roman"/>
              </a:rPr>
              <a:t>for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intelligent,</a:t>
            </a:r>
            <a:r>
              <a:rPr dirty="0" sz="2000" spc="-6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automated,</a:t>
            </a:r>
            <a:r>
              <a:rPr dirty="0" sz="2000" spc="-3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and</a:t>
            </a:r>
            <a:r>
              <a:rPr dirty="0" sz="2000" spc="-1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efficient</a:t>
            </a:r>
            <a:r>
              <a:rPr dirty="0" sz="2000" spc="-6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waste</a:t>
            </a:r>
            <a:r>
              <a:rPr dirty="0" sz="2000" spc="-3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segregation</a:t>
            </a:r>
            <a:r>
              <a:rPr dirty="0" sz="2000" spc="-4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514743"/>
                </a:solidFill>
                <a:latin typeface="Times New Roman"/>
                <a:cs typeface="Times New Roman"/>
              </a:rPr>
              <a:t>technologies</a:t>
            </a:r>
            <a:endParaRPr sz="2000">
              <a:latin typeface="Times New Roman"/>
              <a:cs typeface="Times New Roman"/>
            </a:endParaRPr>
          </a:p>
          <a:p>
            <a:pPr algn="just" marL="299085" marR="5080" indent="-287020">
              <a:lnSpc>
                <a:spcPts val="2160"/>
              </a:lnSpc>
              <a:spcBef>
                <a:spcPts val="1800"/>
              </a:spcBef>
              <a:buFont typeface="Wingdings"/>
              <a:buChar char=""/>
              <a:tabLst>
                <a:tab pos="299085" algn="l"/>
              </a:tabLst>
            </a:pPr>
            <a:r>
              <a:rPr dirty="0" sz="2000">
                <a:latin typeface="Times New Roman"/>
                <a:cs typeface="Times New Roman"/>
              </a:rPr>
              <a:t>Artificial</a:t>
            </a:r>
            <a:r>
              <a:rPr dirty="0" sz="2000" spc="2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Intelligence</a:t>
            </a:r>
            <a:r>
              <a:rPr dirty="0" sz="2000" spc="2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(AI),</a:t>
            </a:r>
            <a:r>
              <a:rPr dirty="0" sz="2000" spc="2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particularly</a:t>
            </a:r>
            <a:r>
              <a:rPr dirty="0" sz="2000" spc="29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Computer</a:t>
            </a:r>
            <a:r>
              <a:rPr dirty="0" sz="2000" spc="30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Vision</a:t>
            </a:r>
            <a:r>
              <a:rPr dirty="0" sz="2000" spc="30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powered</a:t>
            </a:r>
            <a:r>
              <a:rPr dirty="0" sz="2000" spc="30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by</a:t>
            </a:r>
            <a:r>
              <a:rPr dirty="0" sz="2000" spc="2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Convolutional</a:t>
            </a:r>
            <a:r>
              <a:rPr dirty="0" sz="2000" spc="28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Neural </a:t>
            </a:r>
            <a:r>
              <a:rPr dirty="0" sz="2000">
                <a:latin typeface="Times New Roman"/>
                <a:cs typeface="Times New Roman"/>
              </a:rPr>
              <a:t>Networks</a:t>
            </a:r>
            <a:r>
              <a:rPr dirty="0" sz="2000" spc="1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(CNN),</a:t>
            </a:r>
            <a:r>
              <a:rPr dirty="0" sz="2000" spc="1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has</a:t>
            </a:r>
            <a:r>
              <a:rPr dirty="0" sz="2000" spc="1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emerged</a:t>
            </a:r>
            <a:r>
              <a:rPr dirty="0" sz="2000" spc="17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as</a:t>
            </a:r>
            <a:r>
              <a:rPr dirty="0" sz="2000" spc="1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1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powerful</a:t>
            </a:r>
            <a:r>
              <a:rPr dirty="0" sz="2000" spc="1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tool</a:t>
            </a:r>
            <a:r>
              <a:rPr dirty="0" sz="2000" spc="1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1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revolutionize</a:t>
            </a:r>
            <a:r>
              <a:rPr dirty="0" sz="2000" spc="1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garbage</a:t>
            </a:r>
            <a:r>
              <a:rPr dirty="0" sz="2000" spc="1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classification</a:t>
            </a:r>
            <a:r>
              <a:rPr dirty="0" sz="2000" spc="17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and </a:t>
            </a:r>
            <a:r>
              <a:rPr dirty="0" sz="2000" spc="-10">
                <a:latin typeface="Times New Roman"/>
                <a:cs typeface="Times New Roman"/>
              </a:rPr>
              <a:t>sorting.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7172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solidFill>
                  <a:srgbClr val="000000"/>
                </a:solidFill>
                <a:latin typeface="Times New Roman"/>
                <a:cs typeface="Times New Roman"/>
              </a:rPr>
              <a:t>OBJECTIVES</a:t>
            </a:r>
            <a:r>
              <a:rPr dirty="0" sz="3200" spc="-6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dirty="0" sz="3200" spc="-7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000000"/>
                </a:solidFill>
                <a:latin typeface="Times New Roman"/>
                <a:cs typeface="Times New Roman"/>
              </a:rPr>
              <a:t>THE</a:t>
            </a:r>
            <a:r>
              <a:rPr dirty="0" sz="3200" spc="-20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3200">
                <a:solidFill>
                  <a:srgbClr val="000000"/>
                </a:solidFill>
                <a:latin typeface="Times New Roman"/>
                <a:cs typeface="Times New Roman"/>
              </a:rPr>
              <a:t>AI</a:t>
            </a:r>
            <a:r>
              <a:rPr dirty="0" sz="3200" spc="-25">
                <a:solidFill>
                  <a:srgbClr val="000000"/>
                </a:solidFill>
                <a:latin typeface="Times New Roman"/>
                <a:cs typeface="Times New Roman"/>
              </a:rPr>
              <a:t> :-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92200" y="1593850"/>
            <a:ext cx="9577705" cy="31661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99085" indent="-286385">
              <a:lnSpc>
                <a:spcPts val="2280"/>
              </a:lnSpc>
              <a:spcBef>
                <a:spcPts val="105"/>
              </a:spcBef>
              <a:buFont typeface="Wingdings"/>
              <a:buChar char=""/>
              <a:tabLst>
                <a:tab pos="299085" algn="l"/>
              </a:tabLst>
            </a:pPr>
            <a:r>
              <a:rPr dirty="0" sz="2000" spc="-35">
                <a:latin typeface="Times New Roman"/>
                <a:cs typeface="Times New Roman"/>
              </a:rPr>
              <a:t>To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design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implement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</a:t>
            </a:r>
            <a:r>
              <a:rPr dirty="0" sz="2000" spc="-1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AI-based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intelligent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trash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sorting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model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using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Convolutional</a:t>
            </a:r>
            <a:endParaRPr sz="2000">
              <a:latin typeface="Times New Roman"/>
              <a:cs typeface="Times New Roman"/>
            </a:endParaRPr>
          </a:p>
          <a:p>
            <a:pPr marL="299085">
              <a:lnSpc>
                <a:spcPts val="2280"/>
              </a:lnSpc>
            </a:pPr>
            <a:r>
              <a:rPr dirty="0" sz="2000">
                <a:latin typeface="Times New Roman"/>
                <a:cs typeface="Times New Roman"/>
              </a:rPr>
              <a:t>Neural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Network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(CNN).</a:t>
            </a:r>
            <a:endParaRPr sz="20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960"/>
              </a:spcBef>
              <a:buFont typeface="Wingdings"/>
              <a:buChar char=""/>
              <a:tabLst>
                <a:tab pos="299085" algn="l"/>
              </a:tabLst>
            </a:pPr>
            <a:r>
              <a:rPr dirty="0" sz="2000" spc="-35">
                <a:latin typeface="Times New Roman"/>
                <a:cs typeface="Times New Roman"/>
              </a:rPr>
              <a:t>To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automate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waste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classification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process</a:t>
            </a:r>
            <a:r>
              <a:rPr dirty="0" sz="2000" spc="-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using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image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recognition.</a:t>
            </a:r>
            <a:endParaRPr sz="20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960"/>
              </a:spcBef>
              <a:buFont typeface="Wingdings"/>
              <a:buChar char=""/>
              <a:tabLst>
                <a:tab pos="299085" algn="l"/>
              </a:tabLst>
            </a:pPr>
            <a:r>
              <a:rPr dirty="0" sz="2000" spc="-35">
                <a:latin typeface="Times New Roman"/>
                <a:cs typeface="Times New Roman"/>
              </a:rPr>
              <a:t>To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improve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speed,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accuracy,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safety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waste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segregation.</a:t>
            </a:r>
            <a:endParaRPr sz="20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960"/>
              </a:spcBef>
              <a:buFont typeface="Wingdings"/>
              <a:buChar char=""/>
              <a:tabLst>
                <a:tab pos="299085" algn="l"/>
              </a:tabLst>
            </a:pPr>
            <a:r>
              <a:rPr dirty="0" sz="2000" spc="-35">
                <a:latin typeface="Times New Roman"/>
                <a:cs typeface="Times New Roman"/>
              </a:rPr>
              <a:t>To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reduce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human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effort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risk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associated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manual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waste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sorting.</a:t>
            </a:r>
            <a:endParaRPr sz="20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960"/>
              </a:spcBef>
              <a:buFont typeface="Wingdings"/>
              <a:buChar char=""/>
              <a:tabLst>
                <a:tab pos="299085" algn="l"/>
              </a:tabLst>
            </a:pPr>
            <a:r>
              <a:rPr dirty="0" sz="2000" spc="-35">
                <a:latin typeface="Times New Roman"/>
                <a:cs typeface="Times New Roman"/>
              </a:rPr>
              <a:t>To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provide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efficient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eco-friendly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method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for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recycling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waste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disposal.</a:t>
            </a:r>
            <a:endParaRPr sz="20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960"/>
              </a:spcBef>
              <a:buFont typeface="Wingdings"/>
              <a:buChar char=""/>
              <a:tabLst>
                <a:tab pos="299085" algn="l"/>
              </a:tabLst>
            </a:pPr>
            <a:r>
              <a:rPr dirty="0" sz="2000" spc="-35">
                <a:latin typeface="Times New Roman"/>
                <a:cs typeface="Times New Roman"/>
              </a:rPr>
              <a:t>To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integrate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real-</a:t>
            </a:r>
            <a:r>
              <a:rPr dirty="0" sz="2000">
                <a:latin typeface="Times New Roman"/>
                <a:cs typeface="Times New Roman"/>
              </a:rPr>
              <a:t>time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object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detection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using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camera.</a:t>
            </a:r>
            <a:endParaRPr sz="200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spcBef>
                <a:spcPts val="960"/>
              </a:spcBef>
              <a:buFont typeface="Wingdings"/>
              <a:buChar char=""/>
              <a:tabLst>
                <a:tab pos="299085" algn="l"/>
              </a:tabLst>
            </a:pPr>
            <a:r>
              <a:rPr dirty="0" sz="2000" spc="-35">
                <a:latin typeface="Times New Roman"/>
                <a:cs typeface="Times New Roman"/>
              </a:rPr>
              <a:t>To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demonstrate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application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-1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AI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smart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city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waste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management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systems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92200" y="147650"/>
            <a:ext cx="5332730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30" b="1">
                <a:solidFill>
                  <a:srgbClr val="3C3631"/>
                </a:solidFill>
                <a:latin typeface="Palatino Linotype"/>
                <a:cs typeface="Palatino Linotype"/>
              </a:rPr>
              <a:t>Why</a:t>
            </a:r>
            <a:r>
              <a:rPr dirty="0" sz="3200" spc="-75" b="1">
                <a:solidFill>
                  <a:srgbClr val="3C3631"/>
                </a:solidFill>
                <a:latin typeface="Palatino Linotype"/>
                <a:cs typeface="Palatino Linotype"/>
              </a:rPr>
              <a:t> </a:t>
            </a:r>
            <a:r>
              <a:rPr dirty="0" sz="3200" spc="-35" b="1">
                <a:solidFill>
                  <a:srgbClr val="3C3631"/>
                </a:solidFill>
                <a:latin typeface="Palatino Linotype"/>
                <a:cs typeface="Palatino Linotype"/>
              </a:rPr>
              <a:t>CNN</a:t>
            </a:r>
            <a:r>
              <a:rPr dirty="0" sz="3200" spc="-65" b="1">
                <a:solidFill>
                  <a:srgbClr val="3C3631"/>
                </a:solidFill>
                <a:latin typeface="Palatino Linotype"/>
                <a:cs typeface="Palatino Linotype"/>
              </a:rPr>
              <a:t> </a:t>
            </a:r>
            <a:r>
              <a:rPr dirty="0" sz="3200" b="1">
                <a:solidFill>
                  <a:srgbClr val="3C3631"/>
                </a:solidFill>
                <a:latin typeface="Palatino Linotype"/>
                <a:cs typeface="Palatino Linotype"/>
              </a:rPr>
              <a:t>for</a:t>
            </a:r>
            <a:r>
              <a:rPr dirty="0" sz="3200" spc="-65" b="1">
                <a:solidFill>
                  <a:srgbClr val="3C3631"/>
                </a:solidFill>
                <a:latin typeface="Palatino Linotype"/>
                <a:cs typeface="Palatino Linotype"/>
              </a:rPr>
              <a:t> </a:t>
            </a:r>
            <a:r>
              <a:rPr dirty="0" sz="3200" b="1">
                <a:solidFill>
                  <a:srgbClr val="3C3631"/>
                </a:solidFill>
                <a:latin typeface="Palatino Linotype"/>
                <a:cs typeface="Palatino Linotype"/>
              </a:rPr>
              <a:t>Trash</a:t>
            </a:r>
            <a:r>
              <a:rPr dirty="0" sz="3200" spc="-75" b="1">
                <a:solidFill>
                  <a:srgbClr val="3C3631"/>
                </a:solidFill>
                <a:latin typeface="Palatino Linotype"/>
                <a:cs typeface="Palatino Linotype"/>
              </a:rPr>
              <a:t> </a:t>
            </a:r>
            <a:r>
              <a:rPr dirty="0" sz="3200" spc="-50" b="1">
                <a:solidFill>
                  <a:srgbClr val="3C3631"/>
                </a:solidFill>
                <a:latin typeface="Palatino Linotype"/>
                <a:cs typeface="Palatino Linotype"/>
              </a:rPr>
              <a:t>Sorting?</a:t>
            </a:r>
            <a:endParaRPr sz="320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92200" y="1912239"/>
            <a:ext cx="9189085" cy="3403600"/>
          </a:xfrm>
          <a:prstGeom prst="rect">
            <a:avLst/>
          </a:prstGeom>
        </p:spPr>
        <p:txBody>
          <a:bodyPr wrap="square" lIns="0" tIns="1790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dirty="0" sz="2400" spc="-85" b="1">
                <a:solidFill>
                  <a:srgbClr val="3C3631"/>
                </a:solidFill>
                <a:latin typeface="Arial"/>
                <a:cs typeface="Arial"/>
              </a:rPr>
              <a:t>CONVOLUTIONAL</a:t>
            </a:r>
            <a:r>
              <a:rPr dirty="0" sz="2400" spc="-20" b="1">
                <a:solidFill>
                  <a:srgbClr val="3C3631"/>
                </a:solidFill>
                <a:latin typeface="Arial"/>
                <a:cs typeface="Arial"/>
              </a:rPr>
              <a:t> </a:t>
            </a:r>
            <a:r>
              <a:rPr dirty="0" sz="2400" spc="-200" b="1">
                <a:solidFill>
                  <a:srgbClr val="3C3631"/>
                </a:solidFill>
                <a:latin typeface="Arial"/>
                <a:cs typeface="Arial"/>
              </a:rPr>
              <a:t>NEURAL</a:t>
            </a:r>
            <a:r>
              <a:rPr dirty="0" sz="2400" spc="20" b="1">
                <a:solidFill>
                  <a:srgbClr val="3C3631"/>
                </a:solidFill>
                <a:latin typeface="Arial"/>
                <a:cs typeface="Arial"/>
              </a:rPr>
              <a:t> </a:t>
            </a:r>
            <a:r>
              <a:rPr dirty="0" sz="2400" spc="-170" b="1">
                <a:solidFill>
                  <a:srgbClr val="3C3631"/>
                </a:solidFill>
                <a:latin typeface="Arial"/>
                <a:cs typeface="Arial"/>
              </a:rPr>
              <a:t>NETWORK</a:t>
            </a:r>
            <a:r>
              <a:rPr dirty="0" sz="2400" spc="5" b="1">
                <a:solidFill>
                  <a:srgbClr val="3C3631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3C3631"/>
                </a:solidFill>
                <a:latin typeface="Arial"/>
                <a:cs typeface="Arial"/>
              </a:rPr>
              <a:t>(CNN)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ts val="1939"/>
              </a:lnSpc>
              <a:spcBef>
                <a:spcPts val="1230"/>
              </a:spcBef>
            </a:pPr>
            <a:r>
              <a:rPr dirty="0" sz="1800" spc="-40">
                <a:solidFill>
                  <a:srgbClr val="514743"/>
                </a:solidFill>
                <a:latin typeface="Arial"/>
                <a:cs typeface="Arial"/>
              </a:rPr>
              <a:t>CNN</a:t>
            </a:r>
            <a:r>
              <a:rPr dirty="0" sz="1800" spc="114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is</a:t>
            </a:r>
            <a:r>
              <a:rPr dirty="0" sz="1800" spc="12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a</a:t>
            </a:r>
            <a:r>
              <a:rPr dirty="0" sz="1800" spc="10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deep</a:t>
            </a:r>
            <a:r>
              <a:rPr dirty="0" sz="1800" spc="12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learning</a:t>
            </a:r>
            <a:r>
              <a:rPr dirty="0" sz="1800" spc="12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architecture</a:t>
            </a:r>
            <a:r>
              <a:rPr dirty="0" sz="1800" spc="114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widely</a:t>
            </a:r>
            <a:r>
              <a:rPr dirty="0" sz="1800" spc="12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used</a:t>
            </a:r>
            <a:r>
              <a:rPr dirty="0" sz="1800" spc="12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in</a:t>
            </a:r>
            <a:r>
              <a:rPr dirty="0" sz="1800" spc="12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computer</a:t>
            </a:r>
            <a:r>
              <a:rPr dirty="0" sz="1800" spc="11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vision</a:t>
            </a:r>
            <a:r>
              <a:rPr dirty="0" sz="1800" spc="12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tasks</a:t>
            </a:r>
            <a:r>
              <a:rPr dirty="0" sz="1800" spc="10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such</a:t>
            </a:r>
            <a:r>
              <a:rPr dirty="0" sz="1800" spc="10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as</a:t>
            </a:r>
            <a:r>
              <a:rPr dirty="0" sz="1800" spc="10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14743"/>
                </a:solidFill>
                <a:latin typeface="Arial"/>
                <a:cs typeface="Arial"/>
              </a:rPr>
              <a:t>image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classification,</a:t>
            </a:r>
            <a:r>
              <a:rPr dirty="0" sz="1800" spc="32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object</a:t>
            </a:r>
            <a:r>
              <a:rPr dirty="0" sz="1800" spc="32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detection,</a:t>
            </a:r>
            <a:r>
              <a:rPr dirty="0" sz="1800" spc="30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and</a:t>
            </a:r>
            <a:r>
              <a:rPr dirty="0" sz="1800" spc="31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14743"/>
                </a:solidFill>
                <a:latin typeface="Arial"/>
                <a:cs typeface="Arial"/>
              </a:rPr>
              <a:t>segmentation.</a:t>
            </a:r>
            <a:endParaRPr sz="18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1814"/>
              </a:spcBef>
              <a:buFont typeface="Wingdings"/>
              <a:buChar char=""/>
              <a:tabLst>
                <a:tab pos="299085" algn="l"/>
              </a:tabLst>
            </a:pP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Captures</a:t>
            </a:r>
            <a:r>
              <a:rPr dirty="0" sz="1800" spc="9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spatial</a:t>
            </a:r>
            <a:r>
              <a:rPr dirty="0" sz="1800" spc="10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features</a:t>
            </a:r>
            <a:r>
              <a:rPr dirty="0" sz="1800" spc="11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in</a:t>
            </a:r>
            <a:r>
              <a:rPr dirty="0" sz="1800" spc="11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14743"/>
                </a:solidFill>
                <a:latin typeface="Arial"/>
                <a:cs typeface="Arial"/>
              </a:rPr>
              <a:t>images.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0"/>
              </a:spcBef>
              <a:buClr>
                <a:srgbClr val="514743"/>
              </a:buClr>
              <a:buFont typeface="Wingdings"/>
              <a:buChar char=""/>
            </a:pPr>
            <a:endParaRPr sz="18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"/>
              <a:tabLst>
                <a:tab pos="299085" algn="l"/>
              </a:tabLst>
            </a:pP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Automatically</a:t>
            </a:r>
            <a:r>
              <a:rPr dirty="0" sz="1800" spc="10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extracts</a:t>
            </a:r>
            <a:r>
              <a:rPr dirty="0" sz="1800" spc="12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edges,</a:t>
            </a:r>
            <a:r>
              <a:rPr dirty="0" sz="1800" spc="114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textures,</a:t>
            </a:r>
            <a:r>
              <a:rPr dirty="0" sz="1800" spc="10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shapes,</a:t>
            </a:r>
            <a:r>
              <a:rPr dirty="0" sz="1800" spc="9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and</a:t>
            </a:r>
            <a:r>
              <a:rPr dirty="0" sz="1800" spc="10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14743"/>
                </a:solidFill>
                <a:latin typeface="Arial"/>
                <a:cs typeface="Arial"/>
              </a:rPr>
              <a:t>patterns.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0"/>
              </a:spcBef>
              <a:buClr>
                <a:srgbClr val="514743"/>
              </a:buClr>
              <a:buFont typeface="Wingdings"/>
              <a:buChar char=""/>
            </a:pPr>
            <a:endParaRPr sz="18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"/>
              <a:tabLst>
                <a:tab pos="299085" algn="l"/>
              </a:tabLst>
            </a:pP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High</a:t>
            </a:r>
            <a:r>
              <a:rPr dirty="0" sz="1800" spc="14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accuracy</a:t>
            </a:r>
            <a:r>
              <a:rPr dirty="0" sz="1800" spc="12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in</a:t>
            </a:r>
            <a:r>
              <a:rPr dirty="0" sz="1800" spc="14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real-time</a:t>
            </a:r>
            <a:r>
              <a:rPr dirty="0" sz="1800" spc="16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14743"/>
                </a:solidFill>
                <a:latin typeface="Arial"/>
                <a:cs typeface="Arial"/>
              </a:rPr>
              <a:t>classification.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0"/>
              </a:spcBef>
              <a:buClr>
                <a:srgbClr val="514743"/>
              </a:buClr>
              <a:buFont typeface="Wingdings"/>
              <a:buChar char=""/>
            </a:pPr>
            <a:endParaRPr sz="18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buFont typeface="Wingdings"/>
              <a:buChar char=""/>
              <a:tabLst>
                <a:tab pos="299085" algn="l"/>
              </a:tabLst>
            </a:pP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Robust</a:t>
            </a:r>
            <a:r>
              <a:rPr dirty="0" sz="1800" spc="11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against</a:t>
            </a:r>
            <a:r>
              <a:rPr dirty="0" sz="1800" spc="11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noise</a:t>
            </a:r>
            <a:r>
              <a:rPr dirty="0" sz="1800" spc="12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and</a:t>
            </a:r>
            <a:r>
              <a:rPr dirty="0" sz="1800" spc="10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background</a:t>
            </a:r>
            <a:r>
              <a:rPr dirty="0" sz="1800" spc="12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14743"/>
                </a:solidFill>
                <a:latin typeface="Arial"/>
                <a:cs typeface="Arial"/>
              </a:rPr>
              <a:t>variations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3500" rIns="0" bIns="0" rtlCol="0" vert="horz">
            <a:spAutoFit/>
          </a:bodyPr>
          <a:lstStyle/>
          <a:p>
            <a:pPr marL="12700" marR="5080">
              <a:lnSpc>
                <a:spcPts val="3130"/>
              </a:lnSpc>
              <a:spcBef>
                <a:spcPts val="500"/>
              </a:spcBef>
            </a:pPr>
            <a:r>
              <a:rPr dirty="0" sz="2900" spc="-80" b="1">
                <a:latin typeface="Palatino Linotype"/>
                <a:cs typeface="Palatino Linotype"/>
              </a:rPr>
              <a:t>HOW</a:t>
            </a:r>
            <a:r>
              <a:rPr dirty="0" sz="2900" spc="-105" b="1">
                <a:latin typeface="Palatino Linotype"/>
                <a:cs typeface="Palatino Linotype"/>
              </a:rPr>
              <a:t> </a:t>
            </a:r>
            <a:r>
              <a:rPr dirty="0" sz="2900" spc="-110" b="1">
                <a:latin typeface="Palatino Linotype"/>
                <a:cs typeface="Palatino Linotype"/>
              </a:rPr>
              <a:t>CONVOLUTIONAL</a:t>
            </a:r>
            <a:r>
              <a:rPr dirty="0" sz="2900" spc="-70" b="1">
                <a:latin typeface="Palatino Linotype"/>
                <a:cs typeface="Palatino Linotype"/>
              </a:rPr>
              <a:t> </a:t>
            </a:r>
            <a:r>
              <a:rPr dirty="0" sz="2900" spc="-10" b="1">
                <a:latin typeface="Palatino Linotype"/>
                <a:cs typeface="Palatino Linotype"/>
              </a:rPr>
              <a:t>NEURAL</a:t>
            </a:r>
            <a:r>
              <a:rPr dirty="0" sz="2900" spc="-80" b="1">
                <a:latin typeface="Palatino Linotype"/>
                <a:cs typeface="Palatino Linotype"/>
              </a:rPr>
              <a:t> </a:t>
            </a:r>
            <a:r>
              <a:rPr dirty="0" sz="2900" spc="-110" b="1">
                <a:latin typeface="Palatino Linotype"/>
                <a:cs typeface="Palatino Linotype"/>
              </a:rPr>
              <a:t>NETWORK</a:t>
            </a:r>
            <a:r>
              <a:rPr dirty="0" sz="2900" spc="-70" b="1">
                <a:latin typeface="Palatino Linotype"/>
                <a:cs typeface="Palatino Linotype"/>
              </a:rPr>
              <a:t> </a:t>
            </a:r>
            <a:r>
              <a:rPr dirty="0" sz="2900" spc="-10" b="1">
                <a:latin typeface="Palatino Linotype"/>
                <a:cs typeface="Palatino Linotype"/>
              </a:rPr>
              <a:t>(CNN) </a:t>
            </a:r>
            <a:r>
              <a:rPr dirty="0" sz="2900" spc="-165" b="1">
                <a:latin typeface="Palatino Linotype"/>
                <a:cs typeface="Palatino Linotype"/>
              </a:rPr>
              <a:t>WORKS</a:t>
            </a:r>
            <a:r>
              <a:rPr dirty="0" sz="2900" spc="-20" b="1">
                <a:latin typeface="Palatino Linotype"/>
                <a:cs typeface="Palatino Linotype"/>
              </a:rPr>
              <a:t> </a:t>
            </a:r>
            <a:r>
              <a:rPr dirty="0" sz="2900" b="1">
                <a:latin typeface="Palatino Linotype"/>
                <a:cs typeface="Palatino Linotype"/>
              </a:rPr>
              <a:t>IN</a:t>
            </a:r>
            <a:r>
              <a:rPr dirty="0" sz="2900" spc="10" b="1">
                <a:latin typeface="Palatino Linotype"/>
                <a:cs typeface="Palatino Linotype"/>
              </a:rPr>
              <a:t> </a:t>
            </a:r>
            <a:r>
              <a:rPr dirty="0" sz="2900" b="1">
                <a:latin typeface="Palatino Linotype"/>
                <a:cs typeface="Palatino Linotype"/>
              </a:rPr>
              <a:t>THE</a:t>
            </a:r>
            <a:r>
              <a:rPr dirty="0" sz="2900" spc="-20" b="1">
                <a:latin typeface="Palatino Linotype"/>
                <a:cs typeface="Palatino Linotype"/>
              </a:rPr>
              <a:t> </a:t>
            </a:r>
            <a:r>
              <a:rPr dirty="0" sz="2900" spc="-80" b="1">
                <a:latin typeface="Palatino Linotype"/>
                <a:cs typeface="Palatino Linotype"/>
              </a:rPr>
              <a:t>TRASH</a:t>
            </a:r>
            <a:r>
              <a:rPr dirty="0" sz="2900" spc="-15" b="1">
                <a:latin typeface="Palatino Linotype"/>
                <a:cs typeface="Palatino Linotype"/>
              </a:rPr>
              <a:t> </a:t>
            </a:r>
            <a:r>
              <a:rPr dirty="0" sz="2900" spc="-135" b="1">
                <a:latin typeface="Palatino Linotype"/>
                <a:cs typeface="Palatino Linotype"/>
              </a:rPr>
              <a:t>SORTING</a:t>
            </a:r>
            <a:r>
              <a:rPr dirty="0" sz="2900" spc="-20" b="1">
                <a:latin typeface="Palatino Linotype"/>
                <a:cs typeface="Palatino Linotype"/>
              </a:rPr>
              <a:t> </a:t>
            </a:r>
            <a:r>
              <a:rPr dirty="0" sz="2900" spc="-65" b="1">
                <a:latin typeface="Palatino Linotype"/>
                <a:cs typeface="Palatino Linotype"/>
              </a:rPr>
              <a:t>USING</a:t>
            </a:r>
            <a:r>
              <a:rPr dirty="0" sz="2900" spc="-5" b="1">
                <a:latin typeface="Palatino Linotype"/>
                <a:cs typeface="Palatino Linotype"/>
              </a:rPr>
              <a:t> </a:t>
            </a:r>
            <a:r>
              <a:rPr dirty="0" sz="2900" b="1">
                <a:latin typeface="Palatino Linotype"/>
                <a:cs typeface="Palatino Linotype"/>
              </a:rPr>
              <a:t>AI</a:t>
            </a:r>
            <a:r>
              <a:rPr dirty="0" sz="2900" spc="-10" b="1">
                <a:latin typeface="Palatino Linotype"/>
                <a:cs typeface="Palatino Linotype"/>
              </a:rPr>
              <a:t> </a:t>
            </a:r>
            <a:r>
              <a:rPr dirty="0" sz="2900" spc="-45" b="1">
                <a:latin typeface="Palatino Linotype"/>
                <a:cs typeface="Palatino Linotype"/>
              </a:rPr>
              <a:t>PROJECT</a:t>
            </a:r>
            <a:endParaRPr sz="290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59865" y="1579625"/>
            <a:ext cx="9757410" cy="2610485"/>
          </a:xfrm>
          <a:prstGeom prst="rect">
            <a:avLst/>
          </a:prstGeom>
        </p:spPr>
        <p:txBody>
          <a:bodyPr wrap="square" lIns="0" tIns="137795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85"/>
              </a:spcBef>
              <a:buFont typeface="Wingdings"/>
              <a:buChar char=""/>
              <a:tabLst>
                <a:tab pos="299085" algn="l"/>
              </a:tabLst>
            </a:pP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In</a:t>
            </a:r>
            <a:r>
              <a:rPr dirty="0" sz="1800" spc="-3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this</a:t>
            </a:r>
            <a:r>
              <a:rPr dirty="0" sz="1800" spc="-4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project,</a:t>
            </a:r>
            <a:r>
              <a:rPr dirty="0" sz="1800" spc="-6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Convolutional</a:t>
            </a:r>
            <a:r>
              <a:rPr dirty="0" sz="1800" spc="-5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Neural</a:t>
            </a:r>
            <a:r>
              <a:rPr dirty="0" sz="1800" spc="-3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Networks</a:t>
            </a:r>
            <a:r>
              <a:rPr dirty="0" sz="1800" spc="-4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(CNNs)</a:t>
            </a:r>
            <a:r>
              <a:rPr dirty="0" sz="1800" spc="-4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act</a:t>
            </a:r>
            <a:r>
              <a:rPr dirty="0" sz="1800" spc="-3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as</a:t>
            </a:r>
            <a:r>
              <a:rPr dirty="0" sz="1800" spc="-4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the</a:t>
            </a:r>
            <a:r>
              <a:rPr dirty="0" sz="1800" spc="-3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“brain”</a:t>
            </a:r>
            <a:r>
              <a:rPr dirty="0" sz="1800" spc="-3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of</a:t>
            </a:r>
            <a:r>
              <a:rPr dirty="0" sz="1800" spc="-3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the</a:t>
            </a:r>
            <a:r>
              <a:rPr dirty="0" sz="1800" spc="-3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514743"/>
                </a:solidFill>
                <a:latin typeface="Times New Roman"/>
                <a:cs typeface="Times New Roman"/>
              </a:rPr>
              <a:t>system.</a:t>
            </a:r>
            <a:endParaRPr sz="1800">
              <a:latin typeface="Times New Roman"/>
              <a:cs typeface="Times New Roman"/>
            </a:endParaRPr>
          </a:p>
          <a:p>
            <a:pPr marL="299085" marR="5080" indent="-287020">
              <a:lnSpc>
                <a:spcPts val="1939"/>
              </a:lnSpc>
              <a:spcBef>
                <a:spcPts val="1230"/>
              </a:spcBef>
              <a:buFont typeface="Wingdings"/>
              <a:buChar char=""/>
              <a:tabLst>
                <a:tab pos="299085" algn="l"/>
              </a:tabLst>
            </a:pP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Their</a:t>
            </a:r>
            <a:r>
              <a:rPr dirty="0" sz="1800" spc="-4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main</a:t>
            </a:r>
            <a:r>
              <a:rPr dirty="0" sz="1800" spc="-2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responsibility</a:t>
            </a:r>
            <a:r>
              <a:rPr dirty="0" sz="1800" spc="-4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is</a:t>
            </a:r>
            <a:r>
              <a:rPr dirty="0" sz="1800" spc="-3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to</a:t>
            </a:r>
            <a:r>
              <a:rPr dirty="0" sz="1800" spc="-3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identify</a:t>
            </a:r>
            <a:r>
              <a:rPr dirty="0" sz="1800" spc="-4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and</a:t>
            </a:r>
            <a:r>
              <a:rPr dirty="0" sz="1800" spc="-2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classify</a:t>
            </a:r>
            <a:r>
              <a:rPr dirty="0" sz="1800" spc="-3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waste</a:t>
            </a:r>
            <a:r>
              <a:rPr dirty="0" sz="1800" spc="-3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514743"/>
                </a:solidFill>
                <a:latin typeface="Times New Roman"/>
                <a:cs typeface="Times New Roman"/>
              </a:rPr>
              <a:t>items—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whether</a:t>
            </a:r>
            <a:r>
              <a:rPr dirty="0" sz="1800" spc="-2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they</a:t>
            </a:r>
            <a:r>
              <a:rPr dirty="0" sz="1800" spc="-3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are</a:t>
            </a:r>
            <a:r>
              <a:rPr dirty="0" sz="1800" spc="-2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plastic,</a:t>
            </a:r>
            <a:r>
              <a:rPr dirty="0" sz="1800" spc="-5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514743"/>
                </a:solidFill>
                <a:latin typeface="Times New Roman"/>
                <a:cs typeface="Times New Roman"/>
              </a:rPr>
              <a:t>paper,</a:t>
            </a:r>
            <a:r>
              <a:rPr dirty="0" sz="1800" spc="-3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514743"/>
                </a:solidFill>
                <a:latin typeface="Times New Roman"/>
                <a:cs typeface="Times New Roman"/>
              </a:rPr>
              <a:t>glass,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metal,</a:t>
            </a:r>
            <a:r>
              <a:rPr dirty="0" sz="1800" spc="-4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cardboard,</a:t>
            </a:r>
            <a:r>
              <a:rPr dirty="0" sz="1800" spc="-4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or</a:t>
            </a:r>
            <a:r>
              <a:rPr dirty="0" sz="1800" spc="-2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organic</a:t>
            </a:r>
            <a:r>
              <a:rPr dirty="0" sz="1800" spc="-2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514743"/>
                </a:solidFill>
                <a:latin typeface="Times New Roman"/>
                <a:cs typeface="Times New Roman"/>
              </a:rPr>
              <a:t>materials—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based</a:t>
            </a:r>
            <a:r>
              <a:rPr dirty="0" sz="1800" spc="-4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purely</a:t>
            </a:r>
            <a:r>
              <a:rPr dirty="0" sz="1800" spc="-3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on</a:t>
            </a:r>
            <a:r>
              <a:rPr dirty="0" sz="1800" spc="-3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an</a:t>
            </a:r>
            <a:r>
              <a:rPr dirty="0" sz="1800" spc="-2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image</a:t>
            </a:r>
            <a:r>
              <a:rPr dirty="0" sz="1800" spc="-2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captured</a:t>
            </a:r>
            <a:r>
              <a:rPr dirty="0" sz="1800" spc="-3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by</a:t>
            </a:r>
            <a:r>
              <a:rPr dirty="0" sz="1800" spc="-3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a</a:t>
            </a:r>
            <a:r>
              <a:rPr dirty="0" sz="1800" spc="-2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514743"/>
                </a:solidFill>
                <a:latin typeface="Times New Roman"/>
                <a:cs typeface="Times New Roman"/>
              </a:rPr>
              <a:t>camera.</a:t>
            </a:r>
            <a:endParaRPr sz="1800">
              <a:latin typeface="Times New Roman"/>
              <a:cs typeface="Times New Roman"/>
            </a:endParaRPr>
          </a:p>
          <a:p>
            <a:pPr marL="354965" indent="-342265">
              <a:lnSpc>
                <a:spcPts val="2050"/>
              </a:lnSpc>
              <a:spcBef>
                <a:spcPts val="960"/>
              </a:spcBef>
              <a:buFont typeface="Wingdings"/>
              <a:buChar char=""/>
              <a:tabLst>
                <a:tab pos="354965" algn="l"/>
              </a:tabLst>
            </a:pP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CNNs</a:t>
            </a:r>
            <a:r>
              <a:rPr dirty="0" sz="1800" spc="-2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excel</a:t>
            </a:r>
            <a:r>
              <a:rPr dirty="0" sz="1800" spc="-4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in</a:t>
            </a:r>
            <a:r>
              <a:rPr dirty="0" sz="1800" spc="-3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514743"/>
                </a:solidFill>
                <a:latin typeface="Times New Roman"/>
                <a:cs typeface="Times New Roman"/>
              </a:rPr>
              <a:t>image-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based</a:t>
            </a:r>
            <a:r>
              <a:rPr dirty="0" sz="1800" spc="-3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tasks</a:t>
            </a:r>
            <a:r>
              <a:rPr dirty="0" sz="1800" spc="-3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because</a:t>
            </a:r>
            <a:r>
              <a:rPr dirty="0" sz="1800" spc="-4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they</a:t>
            </a:r>
            <a:r>
              <a:rPr dirty="0" sz="1800" spc="-3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automatically</a:t>
            </a:r>
            <a:r>
              <a:rPr dirty="0" sz="1800" spc="-5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learn</a:t>
            </a:r>
            <a:r>
              <a:rPr dirty="0" sz="1800" spc="-3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features</a:t>
            </a:r>
            <a:r>
              <a:rPr dirty="0" sz="1800" spc="-5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such</a:t>
            </a:r>
            <a:r>
              <a:rPr dirty="0" sz="1800" spc="-2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as</a:t>
            </a:r>
            <a:r>
              <a:rPr dirty="0" sz="1800" spc="-4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edges,</a:t>
            </a:r>
            <a:r>
              <a:rPr dirty="0" sz="1800" spc="-2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514743"/>
                </a:solidFill>
                <a:latin typeface="Times New Roman"/>
                <a:cs typeface="Times New Roman"/>
              </a:rPr>
              <a:t>colors,</a:t>
            </a:r>
            <a:endParaRPr sz="1800">
              <a:latin typeface="Times New Roman"/>
              <a:cs typeface="Times New Roman"/>
            </a:endParaRPr>
          </a:p>
          <a:p>
            <a:pPr marL="299085">
              <a:lnSpc>
                <a:spcPts val="2050"/>
              </a:lnSpc>
            </a:pP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textures,</a:t>
            </a:r>
            <a:r>
              <a:rPr dirty="0" sz="1800" spc="-2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shapes,</a:t>
            </a:r>
            <a:r>
              <a:rPr dirty="0" sz="1800" spc="-1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and</a:t>
            </a:r>
            <a:r>
              <a:rPr dirty="0" sz="1800" spc="-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complex</a:t>
            </a:r>
            <a:r>
              <a:rPr dirty="0" sz="1800" spc="-1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object</a:t>
            </a:r>
            <a:r>
              <a:rPr dirty="0" sz="1800" spc="-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patterns</a:t>
            </a:r>
            <a:r>
              <a:rPr dirty="0" sz="1800" spc="-3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without</a:t>
            </a:r>
            <a:r>
              <a:rPr dirty="0" sz="1800" spc="-1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human</a:t>
            </a:r>
            <a:r>
              <a:rPr dirty="0" sz="1800" spc="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514743"/>
                </a:solidFill>
                <a:latin typeface="Times New Roman"/>
                <a:cs typeface="Times New Roman"/>
              </a:rPr>
              <a:t>intervention.</a:t>
            </a:r>
            <a:endParaRPr sz="1800">
              <a:latin typeface="Times New Roman"/>
              <a:cs typeface="Times New Roman"/>
            </a:endParaRPr>
          </a:p>
          <a:p>
            <a:pPr marL="299085" marR="22225" indent="-287020">
              <a:lnSpc>
                <a:spcPts val="1939"/>
              </a:lnSpc>
              <a:spcBef>
                <a:spcPts val="1235"/>
              </a:spcBef>
              <a:buFont typeface="Wingdings"/>
              <a:buChar char=""/>
              <a:tabLst>
                <a:tab pos="299085" algn="l"/>
              </a:tabLst>
            </a:pP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This</a:t>
            </a:r>
            <a:r>
              <a:rPr dirty="0" sz="1800" spc="-4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system</a:t>
            </a:r>
            <a:r>
              <a:rPr dirty="0" sz="1800" spc="-4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relies</a:t>
            </a:r>
            <a:r>
              <a:rPr dirty="0" sz="1800" spc="-4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on</a:t>
            </a:r>
            <a:r>
              <a:rPr dirty="0" sz="1800" spc="-3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a</a:t>
            </a:r>
            <a:r>
              <a:rPr dirty="0" sz="1800" spc="-2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trained</a:t>
            </a:r>
            <a:r>
              <a:rPr dirty="0" sz="1800" spc="-4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CNN</a:t>
            </a:r>
            <a:r>
              <a:rPr dirty="0" sz="1800" spc="-2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model</a:t>
            </a:r>
            <a:r>
              <a:rPr dirty="0" sz="1800" spc="-2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deployed</a:t>
            </a:r>
            <a:r>
              <a:rPr dirty="0" sz="1800" spc="-5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on</a:t>
            </a:r>
            <a:r>
              <a:rPr dirty="0" sz="1800" spc="-3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a</a:t>
            </a:r>
            <a:r>
              <a:rPr dirty="0" sz="1800" spc="-1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Raspberry</a:t>
            </a:r>
            <a:r>
              <a:rPr dirty="0" sz="1800" spc="-3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Pi.</a:t>
            </a:r>
            <a:r>
              <a:rPr dirty="0" sz="1800" spc="-6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The</a:t>
            </a:r>
            <a:r>
              <a:rPr dirty="0" sz="1800" spc="-2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camera</a:t>
            </a:r>
            <a:r>
              <a:rPr dirty="0" sz="1800" spc="-2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captures</a:t>
            </a:r>
            <a:r>
              <a:rPr dirty="0" sz="1800" spc="-4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real-</a:t>
            </a:r>
            <a:r>
              <a:rPr dirty="0" sz="1800" spc="-20">
                <a:solidFill>
                  <a:srgbClr val="514743"/>
                </a:solidFill>
                <a:latin typeface="Times New Roman"/>
                <a:cs typeface="Times New Roman"/>
              </a:rPr>
              <a:t>time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images</a:t>
            </a:r>
            <a:r>
              <a:rPr dirty="0" sz="1800" spc="-3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of</a:t>
            </a:r>
            <a:r>
              <a:rPr dirty="0" sz="1800" spc="-3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waste</a:t>
            </a:r>
            <a:r>
              <a:rPr dirty="0" sz="1800" spc="-3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objects,</a:t>
            </a:r>
            <a:r>
              <a:rPr dirty="0" sz="1800" spc="-5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and</a:t>
            </a:r>
            <a:r>
              <a:rPr dirty="0" sz="1800" spc="-3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the</a:t>
            </a:r>
            <a:r>
              <a:rPr dirty="0" sz="1800" spc="-3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CNN</a:t>
            </a:r>
            <a:r>
              <a:rPr dirty="0" sz="1800" spc="-3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classifies</a:t>
            </a:r>
            <a:r>
              <a:rPr dirty="0" sz="1800" spc="-4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them</a:t>
            </a:r>
            <a:r>
              <a:rPr dirty="0" sz="1800" spc="-4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to</a:t>
            </a:r>
            <a:r>
              <a:rPr dirty="0" sz="1800" spc="-2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direct</a:t>
            </a:r>
            <a:r>
              <a:rPr dirty="0" sz="1800" spc="-4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the</a:t>
            </a:r>
            <a:r>
              <a:rPr dirty="0" sz="1800" spc="-2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sorting</a:t>
            </a:r>
            <a:r>
              <a:rPr dirty="0" sz="1800" spc="-3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mechanism.</a:t>
            </a:r>
            <a:r>
              <a:rPr dirty="0" sz="1800" spc="-7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This</a:t>
            </a:r>
            <a:r>
              <a:rPr dirty="0" sz="1800" spc="-4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514743"/>
                </a:solidFill>
                <a:latin typeface="Times New Roman"/>
                <a:cs typeface="Times New Roman"/>
              </a:rPr>
              <a:t>enables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automation,</a:t>
            </a:r>
            <a:r>
              <a:rPr dirty="0" sz="1800" spc="-4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speed,</a:t>
            </a:r>
            <a:r>
              <a:rPr dirty="0" sz="1800" spc="-3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and</a:t>
            </a:r>
            <a:r>
              <a:rPr dirty="0" sz="1800" spc="-3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accuracy</a:t>
            </a:r>
            <a:r>
              <a:rPr dirty="0" sz="1800" spc="-5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in</a:t>
            </a:r>
            <a:r>
              <a:rPr dirty="0" sz="1800" spc="-3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waste</a:t>
            </a:r>
            <a:r>
              <a:rPr dirty="0" sz="1800" spc="-3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514743"/>
                </a:solidFill>
                <a:latin typeface="Times New Roman"/>
                <a:cs typeface="Times New Roman"/>
              </a:rPr>
              <a:t>segregation.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92200" y="659384"/>
            <a:ext cx="443738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40225" algn="l"/>
              </a:tabLst>
            </a:pPr>
            <a:r>
              <a:rPr dirty="0" spc="140" b="1">
                <a:latin typeface="Times New Roman"/>
                <a:cs typeface="Times New Roman"/>
              </a:rPr>
              <a:t>LITERATURE</a:t>
            </a:r>
            <a:r>
              <a:rPr dirty="0" spc="254" b="1">
                <a:latin typeface="Times New Roman"/>
                <a:cs typeface="Times New Roman"/>
              </a:rPr>
              <a:t> </a:t>
            </a:r>
            <a:r>
              <a:rPr dirty="0" spc="-10" b="1">
                <a:latin typeface="Palatino Linotype"/>
                <a:cs typeface="Palatino Linotype"/>
              </a:rPr>
              <a:t>SURVEY</a:t>
            </a:r>
            <a:r>
              <a:rPr dirty="0" b="1">
                <a:latin typeface="Palatino Linotype"/>
                <a:cs typeface="Palatino Linotype"/>
              </a:rPr>
              <a:t>	</a:t>
            </a:r>
            <a:r>
              <a:rPr dirty="0" spc="-50" b="1">
                <a:latin typeface="Palatino Linotype"/>
                <a:cs typeface="Palatino Linotype"/>
              </a:rPr>
              <a:t>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92200" y="1601470"/>
            <a:ext cx="9772650" cy="44011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25" b="1">
                <a:solidFill>
                  <a:srgbClr val="514743"/>
                </a:solidFill>
                <a:latin typeface="Arial"/>
                <a:cs typeface="Arial"/>
              </a:rPr>
              <a:t>"Trash</a:t>
            </a:r>
            <a:r>
              <a:rPr dirty="0" sz="2000" spc="-15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2000" spc="-40" b="1">
                <a:solidFill>
                  <a:srgbClr val="514743"/>
                </a:solidFill>
                <a:latin typeface="Arial"/>
                <a:cs typeface="Arial"/>
              </a:rPr>
              <a:t>Detection:</a:t>
            </a:r>
            <a:r>
              <a:rPr dirty="0" sz="2000" spc="-90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2000" spc="-65" b="1">
                <a:solidFill>
                  <a:srgbClr val="514743"/>
                </a:solidFill>
                <a:latin typeface="Arial"/>
                <a:cs typeface="Arial"/>
              </a:rPr>
              <a:t>Advanced</a:t>
            </a:r>
            <a:r>
              <a:rPr dirty="0" sz="2000" spc="-40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2000" spc="-60" b="1">
                <a:solidFill>
                  <a:srgbClr val="514743"/>
                </a:solidFill>
                <a:latin typeface="Arial"/>
                <a:cs typeface="Arial"/>
              </a:rPr>
              <a:t>Classification</a:t>
            </a:r>
            <a:r>
              <a:rPr dirty="0" sz="2000" spc="-50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514743"/>
                </a:solidFill>
                <a:latin typeface="Arial"/>
                <a:cs typeface="Arial"/>
              </a:rPr>
              <a:t>of</a:t>
            </a:r>
            <a:r>
              <a:rPr dirty="0" sz="2000" spc="-25" b="1">
                <a:solidFill>
                  <a:srgbClr val="514743"/>
                </a:solidFill>
                <a:latin typeface="Arial"/>
                <a:cs typeface="Arial"/>
              </a:rPr>
              <a:t> Waste</a:t>
            </a:r>
            <a:r>
              <a:rPr dirty="0" sz="2000" spc="-40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2000" spc="-35" b="1">
                <a:solidFill>
                  <a:srgbClr val="514743"/>
                </a:solidFill>
                <a:latin typeface="Arial"/>
                <a:cs typeface="Arial"/>
              </a:rPr>
              <a:t>Materials</a:t>
            </a:r>
            <a:r>
              <a:rPr dirty="0" sz="2000" spc="-45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2000" spc="-70" b="1">
                <a:solidFill>
                  <a:srgbClr val="514743"/>
                </a:solidFill>
                <a:latin typeface="Arial"/>
                <a:cs typeface="Arial"/>
              </a:rPr>
              <a:t>Using</a:t>
            </a:r>
            <a:r>
              <a:rPr dirty="0" sz="2000" spc="-40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2000" spc="-125" b="1">
                <a:solidFill>
                  <a:srgbClr val="514743"/>
                </a:solidFill>
                <a:latin typeface="Arial"/>
                <a:cs typeface="Arial"/>
              </a:rPr>
              <a:t>ML</a:t>
            </a:r>
            <a:r>
              <a:rPr dirty="0" sz="2000" spc="-15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2000" spc="-50" b="1">
                <a:solidFill>
                  <a:srgbClr val="514743"/>
                </a:solidFill>
                <a:latin typeface="Arial"/>
                <a:cs typeface="Arial"/>
              </a:rPr>
              <a:t>Techniques,"</a:t>
            </a: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1560"/>
              </a:spcBef>
              <a:buFont typeface="Wingdings"/>
              <a:buChar char=""/>
              <a:tabLst>
                <a:tab pos="241300" algn="l"/>
              </a:tabLst>
            </a:pPr>
            <a:r>
              <a:rPr dirty="0" sz="2000" spc="-55">
                <a:solidFill>
                  <a:srgbClr val="514743"/>
                </a:solidFill>
                <a:latin typeface="Arial"/>
                <a:cs typeface="Arial"/>
              </a:rPr>
              <a:t>CNN-</a:t>
            </a:r>
            <a:r>
              <a:rPr dirty="0" sz="2000">
                <a:solidFill>
                  <a:srgbClr val="514743"/>
                </a:solidFill>
                <a:latin typeface="Arial"/>
                <a:cs typeface="Arial"/>
              </a:rPr>
              <a:t>based</a:t>
            </a:r>
            <a:r>
              <a:rPr dirty="0" sz="2000" spc="3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2000" spc="-45">
                <a:solidFill>
                  <a:srgbClr val="514743"/>
                </a:solidFill>
                <a:latin typeface="Arial"/>
                <a:cs typeface="Arial"/>
              </a:rPr>
              <a:t>ML</a:t>
            </a:r>
            <a:r>
              <a:rPr dirty="0" sz="2000" spc="6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514743"/>
                </a:solidFill>
                <a:latin typeface="Arial"/>
                <a:cs typeface="Arial"/>
              </a:rPr>
              <a:t>enables</a:t>
            </a:r>
            <a:r>
              <a:rPr dirty="0" sz="2000" spc="7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514743"/>
                </a:solidFill>
                <a:latin typeface="Arial"/>
                <a:cs typeface="Arial"/>
              </a:rPr>
              <a:t>accurate</a:t>
            </a:r>
            <a:r>
              <a:rPr dirty="0" sz="2000" spc="5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2000" spc="45">
                <a:solidFill>
                  <a:srgbClr val="514743"/>
                </a:solidFill>
                <a:latin typeface="Arial"/>
                <a:cs typeface="Arial"/>
              </a:rPr>
              <a:t>automated</a:t>
            </a:r>
            <a:r>
              <a:rPr dirty="0" sz="2000" spc="3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514743"/>
                </a:solidFill>
                <a:latin typeface="Arial"/>
                <a:cs typeface="Arial"/>
              </a:rPr>
              <a:t>waste</a:t>
            </a:r>
            <a:r>
              <a:rPr dirty="0" sz="2000" spc="4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514743"/>
                </a:solidFill>
                <a:latin typeface="Arial"/>
                <a:cs typeface="Arial"/>
              </a:rPr>
              <a:t>classification</a:t>
            </a:r>
            <a:endParaRPr sz="2000">
              <a:latin typeface="Arial"/>
              <a:cs typeface="Arial"/>
            </a:endParaRPr>
          </a:p>
          <a:p>
            <a:pPr marL="12700" marR="102235">
              <a:lnSpc>
                <a:spcPts val="2160"/>
              </a:lnSpc>
              <a:spcBef>
                <a:spcPts val="1830"/>
              </a:spcBef>
            </a:pPr>
            <a:r>
              <a:rPr dirty="0" sz="2000" spc="-105" b="1">
                <a:solidFill>
                  <a:srgbClr val="514743"/>
                </a:solidFill>
                <a:latin typeface="Arial"/>
                <a:cs typeface="Arial"/>
              </a:rPr>
              <a:t>"AI-</a:t>
            </a:r>
            <a:r>
              <a:rPr dirty="0" sz="2000" spc="-100" b="1">
                <a:solidFill>
                  <a:srgbClr val="514743"/>
                </a:solidFill>
                <a:latin typeface="Arial"/>
                <a:cs typeface="Arial"/>
              </a:rPr>
              <a:t>Powered</a:t>
            </a:r>
            <a:r>
              <a:rPr dirty="0" sz="2000" spc="-40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2000" spc="-95" b="1">
                <a:solidFill>
                  <a:srgbClr val="514743"/>
                </a:solidFill>
                <a:latin typeface="Arial"/>
                <a:cs typeface="Arial"/>
              </a:rPr>
              <a:t>Trash</a:t>
            </a:r>
            <a:r>
              <a:rPr dirty="0" sz="2000" spc="-40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2000" spc="-60" b="1">
                <a:solidFill>
                  <a:srgbClr val="514743"/>
                </a:solidFill>
                <a:latin typeface="Arial"/>
                <a:cs typeface="Arial"/>
              </a:rPr>
              <a:t>Classification</a:t>
            </a:r>
            <a:r>
              <a:rPr dirty="0" sz="2000" spc="-75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2000" spc="-80" b="1">
                <a:solidFill>
                  <a:srgbClr val="514743"/>
                </a:solidFill>
                <a:latin typeface="Arial"/>
                <a:cs typeface="Arial"/>
              </a:rPr>
              <a:t>System</a:t>
            </a:r>
            <a:r>
              <a:rPr dirty="0" sz="2000" spc="-50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514743"/>
                </a:solidFill>
                <a:latin typeface="Arial"/>
                <a:cs typeface="Arial"/>
              </a:rPr>
              <a:t>for</a:t>
            </a:r>
            <a:r>
              <a:rPr dirty="0" sz="2000" spc="-30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2000" spc="-70" b="1">
                <a:solidFill>
                  <a:srgbClr val="514743"/>
                </a:solidFill>
                <a:latin typeface="Arial"/>
                <a:cs typeface="Arial"/>
              </a:rPr>
              <a:t>Lakes</a:t>
            </a:r>
            <a:r>
              <a:rPr dirty="0" sz="2000" spc="-35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514743"/>
                </a:solidFill>
                <a:latin typeface="Arial"/>
                <a:cs typeface="Arial"/>
              </a:rPr>
              <a:t>and</a:t>
            </a:r>
            <a:r>
              <a:rPr dirty="0" sz="2000" spc="-40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2000" spc="-20" b="1">
                <a:solidFill>
                  <a:srgbClr val="514743"/>
                </a:solidFill>
                <a:latin typeface="Arial"/>
                <a:cs typeface="Arial"/>
              </a:rPr>
              <a:t>Water</a:t>
            </a:r>
            <a:r>
              <a:rPr dirty="0" sz="2000" spc="-50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2000" spc="-75" b="1">
                <a:solidFill>
                  <a:srgbClr val="514743"/>
                </a:solidFill>
                <a:latin typeface="Arial"/>
                <a:cs typeface="Arial"/>
              </a:rPr>
              <a:t>Bodies</a:t>
            </a:r>
            <a:r>
              <a:rPr dirty="0" sz="2000" spc="-50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2000" spc="-75" b="1">
                <a:solidFill>
                  <a:srgbClr val="514743"/>
                </a:solidFill>
                <a:latin typeface="Arial"/>
                <a:cs typeface="Arial"/>
              </a:rPr>
              <a:t>Using</a:t>
            </a:r>
            <a:r>
              <a:rPr dirty="0" sz="2000" spc="-50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514743"/>
                </a:solidFill>
                <a:latin typeface="Arial"/>
                <a:cs typeface="Arial"/>
              </a:rPr>
              <a:t>Transfer Learning"</a:t>
            </a:r>
            <a:endParaRPr sz="2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1530"/>
              </a:spcBef>
              <a:buFont typeface="Wingdings"/>
              <a:buChar char=""/>
              <a:tabLst>
                <a:tab pos="240665" algn="l"/>
              </a:tabLst>
            </a:pPr>
            <a:r>
              <a:rPr dirty="0" sz="2000" spc="-30">
                <a:solidFill>
                  <a:srgbClr val="514743"/>
                </a:solidFill>
                <a:latin typeface="Arial"/>
                <a:cs typeface="Arial"/>
              </a:rPr>
              <a:t>Fine-</a:t>
            </a:r>
            <a:r>
              <a:rPr dirty="0" sz="2000">
                <a:solidFill>
                  <a:srgbClr val="514743"/>
                </a:solidFill>
                <a:latin typeface="Arial"/>
                <a:cs typeface="Arial"/>
              </a:rPr>
              <a:t>tuned</a:t>
            </a:r>
            <a:r>
              <a:rPr dirty="0" sz="2000" spc="21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2000" spc="-35">
                <a:solidFill>
                  <a:srgbClr val="514743"/>
                </a:solidFill>
                <a:latin typeface="Arial"/>
                <a:cs typeface="Arial"/>
              </a:rPr>
              <a:t>ResNet-</a:t>
            </a:r>
            <a:r>
              <a:rPr dirty="0" sz="2000" spc="55">
                <a:solidFill>
                  <a:srgbClr val="514743"/>
                </a:solidFill>
                <a:latin typeface="Arial"/>
                <a:cs typeface="Arial"/>
              </a:rPr>
              <a:t>50</a:t>
            </a:r>
            <a:r>
              <a:rPr dirty="0" sz="2000" spc="229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514743"/>
                </a:solidFill>
                <a:latin typeface="Arial"/>
                <a:cs typeface="Arial"/>
              </a:rPr>
              <a:t>detects</a:t>
            </a:r>
            <a:r>
              <a:rPr dirty="0" sz="2000" spc="229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514743"/>
                </a:solidFill>
                <a:latin typeface="Arial"/>
                <a:cs typeface="Arial"/>
              </a:rPr>
              <a:t>floating</a:t>
            </a:r>
            <a:r>
              <a:rPr dirty="0" sz="2000" spc="25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514743"/>
                </a:solidFill>
                <a:latin typeface="Arial"/>
                <a:cs typeface="Arial"/>
              </a:rPr>
              <a:t>waste.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  <a:tabLst>
                <a:tab pos="4413250" algn="l"/>
              </a:tabLst>
            </a:pPr>
            <a:r>
              <a:rPr dirty="0" sz="2000" spc="-65" b="1">
                <a:solidFill>
                  <a:srgbClr val="514743"/>
                </a:solidFill>
                <a:latin typeface="Arial"/>
                <a:cs typeface="Arial"/>
              </a:rPr>
              <a:t>"Smart</a:t>
            </a:r>
            <a:r>
              <a:rPr dirty="0" sz="2000" spc="-75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2000" spc="-25" b="1">
                <a:solidFill>
                  <a:srgbClr val="514743"/>
                </a:solidFill>
                <a:latin typeface="Arial"/>
                <a:cs typeface="Arial"/>
              </a:rPr>
              <a:t>Waste</a:t>
            </a:r>
            <a:r>
              <a:rPr dirty="0" sz="2000" spc="-85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2000" spc="-60" b="1">
                <a:solidFill>
                  <a:srgbClr val="514743"/>
                </a:solidFill>
                <a:latin typeface="Arial"/>
                <a:cs typeface="Arial"/>
              </a:rPr>
              <a:t>Segregation</a:t>
            </a:r>
            <a:r>
              <a:rPr dirty="0" sz="2000" spc="-80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514743"/>
                </a:solidFill>
                <a:latin typeface="Arial"/>
                <a:cs typeface="Arial"/>
              </a:rPr>
              <a:t>for</a:t>
            </a:r>
            <a:r>
              <a:rPr dirty="0" sz="2000" spc="-60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2000" spc="-20" b="1">
                <a:solidFill>
                  <a:srgbClr val="514743"/>
                </a:solidFill>
                <a:latin typeface="Arial"/>
                <a:cs typeface="Arial"/>
              </a:rPr>
              <a:t>Home</a:t>
            </a:r>
            <a:r>
              <a:rPr dirty="0" sz="2000" b="1">
                <a:solidFill>
                  <a:srgbClr val="514743"/>
                </a:solidFill>
                <a:latin typeface="Arial"/>
                <a:cs typeface="Arial"/>
              </a:rPr>
              <a:t>	</a:t>
            </a:r>
            <a:r>
              <a:rPr dirty="0" sz="2000" spc="-20" b="1">
                <a:solidFill>
                  <a:srgbClr val="514743"/>
                </a:solidFill>
                <a:latin typeface="Arial"/>
                <a:cs typeface="Arial"/>
              </a:rPr>
              <a:t>Environment"</a:t>
            </a: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1560"/>
              </a:spcBef>
              <a:buFont typeface="Wingdings"/>
              <a:buChar char=""/>
              <a:tabLst>
                <a:tab pos="241300" algn="l"/>
              </a:tabLst>
            </a:pPr>
            <a:r>
              <a:rPr dirty="0" sz="2000">
                <a:solidFill>
                  <a:srgbClr val="514743"/>
                </a:solidFill>
                <a:latin typeface="Arial"/>
                <a:cs typeface="Arial"/>
              </a:rPr>
              <a:t>Ultrasonic</a:t>
            </a:r>
            <a:r>
              <a:rPr dirty="0" sz="2000" spc="10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514743"/>
                </a:solidFill>
                <a:latin typeface="Arial"/>
                <a:cs typeface="Arial"/>
              </a:rPr>
              <a:t>sensor</a:t>
            </a:r>
            <a:r>
              <a:rPr dirty="0" sz="2000" spc="12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514743"/>
                </a:solidFill>
                <a:latin typeface="Arial"/>
                <a:cs typeface="Arial"/>
              </a:rPr>
              <a:t>+</a:t>
            </a:r>
            <a:r>
              <a:rPr dirty="0" sz="2000" spc="10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514743"/>
                </a:solidFill>
                <a:latin typeface="Arial"/>
                <a:cs typeface="Arial"/>
              </a:rPr>
              <a:t>camera</a:t>
            </a:r>
            <a:r>
              <a:rPr dirty="0" sz="2000" spc="9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514743"/>
                </a:solidFill>
                <a:latin typeface="Arial"/>
                <a:cs typeface="Arial"/>
              </a:rPr>
              <a:t>with</a:t>
            </a:r>
            <a:r>
              <a:rPr dirty="0" sz="2000" spc="9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2000" spc="-60">
                <a:solidFill>
                  <a:srgbClr val="514743"/>
                </a:solidFill>
                <a:latin typeface="Arial"/>
                <a:cs typeface="Arial"/>
              </a:rPr>
              <a:t>CNN</a:t>
            </a:r>
            <a:r>
              <a:rPr dirty="0" sz="2000" spc="10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514743"/>
                </a:solidFill>
                <a:latin typeface="Arial"/>
                <a:cs typeface="Arial"/>
              </a:rPr>
              <a:t>classifies</a:t>
            </a:r>
            <a:r>
              <a:rPr dirty="0" sz="2000" spc="10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514743"/>
                </a:solidFill>
                <a:latin typeface="Arial"/>
                <a:cs typeface="Arial"/>
              </a:rPr>
              <a:t>home</a:t>
            </a:r>
            <a:r>
              <a:rPr dirty="0" sz="2000" spc="9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514743"/>
                </a:solidFill>
                <a:latin typeface="Arial"/>
                <a:cs typeface="Arial"/>
              </a:rPr>
              <a:t>waste</a:t>
            </a:r>
            <a:r>
              <a:rPr dirty="0" sz="2000" spc="10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514743"/>
                </a:solidFill>
                <a:latin typeface="Arial"/>
                <a:cs typeface="Arial"/>
              </a:rPr>
              <a:t>types.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2280"/>
              </a:lnSpc>
              <a:spcBef>
                <a:spcPts val="1560"/>
              </a:spcBef>
            </a:pPr>
            <a:r>
              <a:rPr dirty="0" sz="2000" spc="-85" b="1">
                <a:solidFill>
                  <a:srgbClr val="514743"/>
                </a:solidFill>
                <a:latin typeface="Arial"/>
                <a:cs typeface="Arial"/>
              </a:rPr>
              <a:t>“Clever</a:t>
            </a:r>
            <a:r>
              <a:rPr dirty="0" sz="2000" spc="-55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2000" spc="-110" b="1">
                <a:solidFill>
                  <a:srgbClr val="514743"/>
                </a:solidFill>
                <a:latin typeface="Arial"/>
                <a:cs typeface="Arial"/>
              </a:rPr>
              <a:t>Trash:</a:t>
            </a:r>
            <a:r>
              <a:rPr dirty="0" sz="2000" spc="-25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2000" spc="-120" b="1">
                <a:solidFill>
                  <a:srgbClr val="514743"/>
                </a:solidFill>
                <a:latin typeface="Arial"/>
                <a:cs typeface="Arial"/>
              </a:rPr>
              <a:t>An</a:t>
            </a:r>
            <a:r>
              <a:rPr dirty="0" sz="2000" spc="-20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2000" spc="-90" b="1">
                <a:solidFill>
                  <a:srgbClr val="514743"/>
                </a:solidFill>
                <a:latin typeface="Arial"/>
                <a:cs typeface="Arial"/>
              </a:rPr>
              <a:t>ML-</a:t>
            </a:r>
            <a:r>
              <a:rPr dirty="0" sz="2000" spc="-30" b="1">
                <a:solidFill>
                  <a:srgbClr val="514743"/>
                </a:solidFill>
                <a:latin typeface="Arial"/>
                <a:cs typeface="Arial"/>
              </a:rPr>
              <a:t>based</a:t>
            </a:r>
            <a:r>
              <a:rPr dirty="0" sz="2000" spc="-105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514743"/>
                </a:solidFill>
                <a:latin typeface="Arial"/>
                <a:cs typeface="Arial"/>
              </a:rPr>
              <a:t>IoT</a:t>
            </a:r>
            <a:r>
              <a:rPr dirty="0" sz="2000" spc="-85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2000" spc="-70" b="1">
                <a:solidFill>
                  <a:srgbClr val="514743"/>
                </a:solidFill>
                <a:latin typeface="Arial"/>
                <a:cs typeface="Arial"/>
              </a:rPr>
              <a:t>system</a:t>
            </a:r>
            <a:r>
              <a:rPr dirty="0" sz="2000" spc="-60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514743"/>
                </a:solidFill>
                <a:latin typeface="Arial"/>
                <a:cs typeface="Arial"/>
              </a:rPr>
              <a:t>for</a:t>
            </a:r>
            <a:r>
              <a:rPr dirty="0" sz="2000" spc="-50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2000" spc="-55" b="1">
                <a:solidFill>
                  <a:srgbClr val="514743"/>
                </a:solidFill>
                <a:latin typeface="Arial"/>
                <a:cs typeface="Arial"/>
              </a:rPr>
              <a:t>waste</a:t>
            </a:r>
            <a:r>
              <a:rPr dirty="0" sz="2000" spc="-65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2000" spc="-50" b="1">
                <a:solidFill>
                  <a:srgbClr val="514743"/>
                </a:solidFill>
                <a:latin typeface="Arial"/>
                <a:cs typeface="Arial"/>
              </a:rPr>
              <a:t>sorting</a:t>
            </a:r>
            <a:r>
              <a:rPr dirty="0" sz="2000" spc="-60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2000" spc="-75" b="1">
                <a:solidFill>
                  <a:srgbClr val="514743"/>
                </a:solidFill>
                <a:latin typeface="Arial"/>
                <a:cs typeface="Arial"/>
              </a:rPr>
              <a:t>with</a:t>
            </a:r>
            <a:r>
              <a:rPr dirty="0" sz="2000" spc="-65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2000" spc="-55" b="1">
                <a:solidFill>
                  <a:srgbClr val="514743"/>
                </a:solidFill>
                <a:latin typeface="Arial"/>
                <a:cs typeface="Arial"/>
              </a:rPr>
              <a:t>continuous</a:t>
            </a:r>
            <a:r>
              <a:rPr dirty="0" sz="2000" spc="-65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514743"/>
                </a:solidFill>
                <a:latin typeface="Arial"/>
                <a:cs typeface="Arial"/>
              </a:rPr>
              <a:t>learning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2280"/>
              </a:lnSpc>
            </a:pPr>
            <a:r>
              <a:rPr dirty="0" sz="2000" spc="-10" b="1">
                <a:solidFill>
                  <a:srgbClr val="514743"/>
                </a:solidFill>
                <a:latin typeface="Arial"/>
                <a:cs typeface="Arial"/>
              </a:rPr>
              <a:t>cycle“</a:t>
            </a: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1560"/>
              </a:spcBef>
              <a:buFont typeface="Wingdings"/>
              <a:buChar char=""/>
              <a:tabLst>
                <a:tab pos="241300" algn="l"/>
              </a:tabLst>
            </a:pPr>
            <a:r>
              <a:rPr dirty="0" sz="2000" spc="-55">
                <a:solidFill>
                  <a:srgbClr val="514743"/>
                </a:solidFill>
                <a:latin typeface="Arial"/>
                <a:cs typeface="Arial"/>
              </a:rPr>
              <a:t>ML-</a:t>
            </a:r>
            <a:r>
              <a:rPr dirty="0" sz="2000">
                <a:solidFill>
                  <a:srgbClr val="514743"/>
                </a:solidFill>
                <a:latin typeface="Arial"/>
                <a:cs typeface="Arial"/>
              </a:rPr>
              <a:t>based</a:t>
            </a:r>
            <a:r>
              <a:rPr dirty="0" sz="2000" spc="6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514743"/>
                </a:solidFill>
                <a:latin typeface="Arial"/>
                <a:cs typeface="Arial"/>
              </a:rPr>
              <a:t>IoT</a:t>
            </a:r>
            <a:r>
              <a:rPr dirty="0" sz="2000" spc="9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514743"/>
                </a:solidFill>
                <a:latin typeface="Arial"/>
                <a:cs typeface="Arial"/>
              </a:rPr>
              <a:t>smart</a:t>
            </a:r>
            <a:r>
              <a:rPr dirty="0" sz="2000" spc="7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514743"/>
                </a:solidFill>
                <a:latin typeface="Arial"/>
                <a:cs typeface="Arial"/>
              </a:rPr>
              <a:t>bin</a:t>
            </a:r>
            <a:r>
              <a:rPr dirty="0" sz="2000" spc="8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514743"/>
                </a:solidFill>
                <a:latin typeface="Arial"/>
                <a:cs typeface="Arial"/>
              </a:rPr>
              <a:t>improves</a:t>
            </a:r>
            <a:r>
              <a:rPr dirty="0" sz="2000" spc="7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514743"/>
                </a:solidFill>
                <a:latin typeface="Arial"/>
                <a:cs typeface="Arial"/>
              </a:rPr>
              <a:t>waste</a:t>
            </a:r>
            <a:r>
              <a:rPr dirty="0" sz="2000" spc="7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514743"/>
                </a:solidFill>
                <a:latin typeface="Arial"/>
                <a:cs typeface="Arial"/>
              </a:rPr>
              <a:t>sorting.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92200" y="659384"/>
            <a:ext cx="443738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40225" algn="l"/>
              </a:tabLst>
            </a:pPr>
            <a:r>
              <a:rPr dirty="0" spc="140" b="1">
                <a:latin typeface="Times New Roman"/>
                <a:cs typeface="Times New Roman"/>
              </a:rPr>
              <a:t>LITERATURE</a:t>
            </a:r>
            <a:r>
              <a:rPr dirty="0" spc="254" b="1">
                <a:latin typeface="Times New Roman"/>
                <a:cs typeface="Times New Roman"/>
              </a:rPr>
              <a:t> </a:t>
            </a:r>
            <a:r>
              <a:rPr dirty="0" spc="-10" b="1">
                <a:latin typeface="Palatino Linotype"/>
                <a:cs typeface="Palatino Linotype"/>
              </a:rPr>
              <a:t>SURVEY</a:t>
            </a:r>
            <a:r>
              <a:rPr dirty="0" b="1">
                <a:latin typeface="Palatino Linotype"/>
                <a:cs typeface="Palatino Linotype"/>
              </a:rPr>
              <a:t>	</a:t>
            </a:r>
            <a:r>
              <a:rPr dirty="0" spc="-50" b="1">
                <a:latin typeface="Palatino Linotype"/>
                <a:cs typeface="Palatino Linotype"/>
              </a:rPr>
              <a:t>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92200" y="1606041"/>
            <a:ext cx="9896475" cy="1973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050"/>
              </a:lnSpc>
              <a:spcBef>
                <a:spcPts val="100"/>
              </a:spcBef>
            </a:pPr>
            <a:r>
              <a:rPr dirty="0" sz="1800" spc="-65" b="1">
                <a:solidFill>
                  <a:srgbClr val="514743"/>
                </a:solidFill>
                <a:latin typeface="Arial"/>
                <a:cs typeface="Arial"/>
              </a:rPr>
              <a:t>“Development</a:t>
            </a:r>
            <a:r>
              <a:rPr dirty="0" sz="1800" spc="-60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14743"/>
                </a:solidFill>
                <a:latin typeface="Arial"/>
                <a:cs typeface="Arial"/>
              </a:rPr>
              <a:t>of</a:t>
            </a:r>
            <a:r>
              <a:rPr dirty="0" sz="1800" spc="-60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 spc="-25" b="1">
                <a:solidFill>
                  <a:srgbClr val="514743"/>
                </a:solidFill>
                <a:latin typeface="Arial"/>
                <a:cs typeface="Arial"/>
              </a:rPr>
              <a:t>automatic</a:t>
            </a:r>
            <a:r>
              <a:rPr dirty="0" sz="1800" spc="-60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 spc="-40" b="1">
                <a:solidFill>
                  <a:srgbClr val="514743"/>
                </a:solidFill>
                <a:latin typeface="Arial"/>
                <a:cs typeface="Arial"/>
              </a:rPr>
              <a:t>trash</a:t>
            </a:r>
            <a:r>
              <a:rPr dirty="0" sz="1800" spc="-60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 spc="-40" b="1">
                <a:solidFill>
                  <a:srgbClr val="514743"/>
                </a:solidFill>
                <a:latin typeface="Arial"/>
                <a:cs typeface="Arial"/>
              </a:rPr>
              <a:t>bin</a:t>
            </a:r>
            <a:r>
              <a:rPr dirty="0" sz="1800" spc="-45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514743"/>
                </a:solidFill>
                <a:latin typeface="Arial"/>
                <a:cs typeface="Arial"/>
              </a:rPr>
              <a:t>for</a:t>
            </a:r>
            <a:r>
              <a:rPr dirty="0" sz="1800" spc="-50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 spc="-45" b="1">
                <a:solidFill>
                  <a:srgbClr val="514743"/>
                </a:solidFill>
                <a:latin typeface="Arial"/>
                <a:cs typeface="Arial"/>
              </a:rPr>
              <a:t>sorting</a:t>
            </a:r>
            <a:r>
              <a:rPr dirty="0" sz="1800" spc="-60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14743"/>
                </a:solidFill>
                <a:latin typeface="Arial"/>
                <a:cs typeface="Arial"/>
              </a:rPr>
              <a:t>metal</a:t>
            </a:r>
            <a:r>
              <a:rPr dirty="0" sz="1800" spc="-55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14743"/>
                </a:solidFill>
                <a:latin typeface="Arial"/>
                <a:cs typeface="Arial"/>
              </a:rPr>
              <a:t>and</a:t>
            </a:r>
            <a:r>
              <a:rPr dirty="0" sz="1800" spc="-55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 spc="-45" b="1">
                <a:solidFill>
                  <a:srgbClr val="514743"/>
                </a:solidFill>
                <a:latin typeface="Arial"/>
                <a:cs typeface="Arial"/>
              </a:rPr>
              <a:t>non-</a:t>
            </a:r>
            <a:r>
              <a:rPr dirty="0" sz="1800" spc="-35" b="1">
                <a:solidFill>
                  <a:srgbClr val="514743"/>
                </a:solidFill>
                <a:latin typeface="Arial"/>
                <a:cs typeface="Arial"/>
              </a:rPr>
              <a:t>metallic</a:t>
            </a:r>
            <a:r>
              <a:rPr dirty="0" sz="1800" spc="-60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 spc="-65" b="1">
                <a:solidFill>
                  <a:srgbClr val="514743"/>
                </a:solidFill>
                <a:latin typeface="Arial"/>
                <a:cs typeface="Arial"/>
              </a:rPr>
              <a:t>wastes</a:t>
            </a:r>
            <a:r>
              <a:rPr dirty="0" sz="1800" spc="-60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 spc="-85" b="1">
                <a:solidFill>
                  <a:srgbClr val="514743"/>
                </a:solidFill>
                <a:latin typeface="Arial"/>
                <a:cs typeface="Arial"/>
              </a:rPr>
              <a:t>using</a:t>
            </a:r>
            <a:r>
              <a:rPr dirty="0" sz="1800" spc="-40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514743"/>
                </a:solidFill>
                <a:latin typeface="Arial"/>
                <a:cs typeface="Arial"/>
              </a:rPr>
              <a:t>proximity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050"/>
              </a:lnSpc>
            </a:pPr>
            <a:r>
              <a:rPr dirty="0" sz="1800" spc="-70" b="1">
                <a:solidFill>
                  <a:srgbClr val="514743"/>
                </a:solidFill>
                <a:latin typeface="Arial"/>
                <a:cs typeface="Arial"/>
              </a:rPr>
              <a:t>sensors</a:t>
            </a:r>
            <a:r>
              <a:rPr dirty="0" sz="1800" spc="-55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14743"/>
                </a:solidFill>
                <a:latin typeface="Arial"/>
                <a:cs typeface="Arial"/>
              </a:rPr>
              <a:t>and</a:t>
            </a:r>
            <a:r>
              <a:rPr dirty="0" sz="1800" spc="-65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 spc="-45" b="1">
                <a:solidFill>
                  <a:srgbClr val="514743"/>
                </a:solidFill>
                <a:latin typeface="Arial"/>
                <a:cs typeface="Arial"/>
              </a:rPr>
              <a:t>notifications</a:t>
            </a:r>
            <a:r>
              <a:rPr dirty="0" sz="1800" spc="-60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 spc="-25" b="1">
                <a:solidFill>
                  <a:srgbClr val="514743"/>
                </a:solidFill>
                <a:latin typeface="Arial"/>
                <a:cs typeface="Arial"/>
              </a:rPr>
              <a:t>via</a:t>
            </a:r>
            <a:r>
              <a:rPr dirty="0" sz="1800" spc="-45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514743"/>
                </a:solidFill>
                <a:latin typeface="Arial"/>
                <a:cs typeface="Arial"/>
              </a:rPr>
              <a:t>telegram"</a:t>
            </a:r>
            <a:endParaRPr sz="1800">
              <a:latin typeface="Arial"/>
              <a:cs typeface="Arial"/>
            </a:endParaRPr>
          </a:p>
          <a:p>
            <a:pPr marL="12700" marR="3672204" indent="228600">
              <a:lnSpc>
                <a:spcPct val="173300"/>
              </a:lnSpc>
              <a:buFont typeface="Wingdings"/>
              <a:buChar char=""/>
              <a:tabLst>
                <a:tab pos="241300" algn="l"/>
              </a:tabLst>
            </a:pP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Auto</a:t>
            </a:r>
            <a:r>
              <a:rPr dirty="0" sz="1800" spc="13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bin</a:t>
            </a:r>
            <a:r>
              <a:rPr dirty="0" sz="1800" spc="14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sorts</a:t>
            </a:r>
            <a:r>
              <a:rPr dirty="0" sz="1800" spc="15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metal</a:t>
            </a:r>
            <a:r>
              <a:rPr dirty="0" sz="1800" spc="16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vs</a:t>
            </a:r>
            <a:r>
              <a:rPr dirty="0" sz="1800" spc="14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non-metal</a:t>
            </a:r>
            <a:r>
              <a:rPr dirty="0" sz="1800" spc="13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and</a:t>
            </a:r>
            <a:r>
              <a:rPr dirty="0" sz="1800" spc="13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sends</a:t>
            </a:r>
            <a:r>
              <a:rPr dirty="0" sz="1800" spc="13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14743"/>
                </a:solidFill>
                <a:latin typeface="Arial"/>
                <a:cs typeface="Arial"/>
              </a:rPr>
              <a:t>alerts. </a:t>
            </a:r>
            <a:r>
              <a:rPr dirty="0" sz="1800" spc="-75" b="1">
                <a:solidFill>
                  <a:srgbClr val="514743"/>
                </a:solidFill>
                <a:latin typeface="Arial"/>
                <a:cs typeface="Arial"/>
              </a:rPr>
              <a:t>"Autonomous</a:t>
            </a:r>
            <a:r>
              <a:rPr dirty="0" sz="1800" spc="-50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 spc="-65" b="1">
                <a:solidFill>
                  <a:srgbClr val="514743"/>
                </a:solidFill>
                <a:latin typeface="Arial"/>
                <a:cs typeface="Arial"/>
              </a:rPr>
              <a:t>Boat:</a:t>
            </a:r>
            <a:r>
              <a:rPr dirty="0" sz="1800" spc="-40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 spc="-55" b="1">
                <a:solidFill>
                  <a:srgbClr val="514743"/>
                </a:solidFill>
                <a:latin typeface="Arial"/>
                <a:cs typeface="Arial"/>
              </a:rPr>
              <a:t>Floating</a:t>
            </a:r>
            <a:r>
              <a:rPr dirty="0" sz="1800" spc="-45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 spc="-90" b="1">
                <a:solidFill>
                  <a:srgbClr val="514743"/>
                </a:solidFill>
                <a:latin typeface="Arial"/>
                <a:cs typeface="Arial"/>
              </a:rPr>
              <a:t>Trash</a:t>
            </a:r>
            <a:r>
              <a:rPr dirty="0" sz="1800" spc="-35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 spc="-30" b="1">
                <a:solidFill>
                  <a:srgbClr val="514743"/>
                </a:solidFill>
                <a:latin typeface="Arial"/>
                <a:cs typeface="Arial"/>
              </a:rPr>
              <a:t>Collector</a:t>
            </a:r>
            <a:r>
              <a:rPr dirty="0" sz="1800" spc="-50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14743"/>
                </a:solidFill>
                <a:latin typeface="Arial"/>
                <a:cs typeface="Arial"/>
              </a:rPr>
              <a:t>and</a:t>
            </a:r>
            <a:r>
              <a:rPr dirty="0" sz="1800" spc="-40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 spc="-50" b="1">
                <a:solidFill>
                  <a:srgbClr val="514743"/>
                </a:solidFill>
                <a:latin typeface="Arial"/>
                <a:cs typeface="Arial"/>
              </a:rPr>
              <a:t>Classifier,"</a:t>
            </a:r>
            <a:endParaRPr sz="18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1585"/>
              </a:spcBef>
              <a:buFont typeface="Wingdings"/>
              <a:buChar char=""/>
              <a:tabLst>
                <a:tab pos="241300" algn="l"/>
              </a:tabLst>
            </a:pPr>
            <a:r>
              <a:rPr dirty="0" sz="1800" spc="-130">
                <a:solidFill>
                  <a:srgbClr val="514743"/>
                </a:solidFill>
                <a:latin typeface="Arial"/>
                <a:cs typeface="Arial"/>
              </a:rPr>
              <a:t>GPS-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enabled</a:t>
            </a:r>
            <a:r>
              <a:rPr dirty="0" sz="1800" spc="24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autonomous</a:t>
            </a:r>
            <a:r>
              <a:rPr dirty="0" sz="1800" spc="20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boat</a:t>
            </a:r>
            <a:r>
              <a:rPr dirty="0" sz="1800" spc="25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detects,</a:t>
            </a:r>
            <a:r>
              <a:rPr dirty="0" sz="1800" spc="25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collects,</a:t>
            </a:r>
            <a:r>
              <a:rPr dirty="0" sz="1800" spc="27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and</a:t>
            </a:r>
            <a:r>
              <a:rPr dirty="0" sz="1800" spc="21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sorts</a:t>
            </a:r>
            <a:r>
              <a:rPr dirty="0" sz="1800" spc="254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floating</a:t>
            </a:r>
            <a:r>
              <a:rPr dirty="0" sz="1800" spc="24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14743"/>
                </a:solidFill>
                <a:latin typeface="Arial"/>
                <a:cs typeface="Arial"/>
              </a:rPr>
              <a:t>trash.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65632" rIns="0" bIns="0" rtlCol="0" vert="horz">
            <a:spAutoFit/>
          </a:bodyPr>
          <a:lstStyle/>
          <a:p>
            <a:pPr marL="140970">
              <a:lnSpc>
                <a:spcPct val="100000"/>
              </a:lnSpc>
              <a:spcBef>
                <a:spcPts val="105"/>
              </a:spcBef>
            </a:pPr>
            <a:r>
              <a:rPr dirty="0" sz="3200" spc="-10" b="1">
                <a:latin typeface="Palatino Linotype"/>
                <a:cs typeface="Palatino Linotype"/>
              </a:rPr>
              <a:t>Problem</a:t>
            </a:r>
            <a:r>
              <a:rPr dirty="0" sz="3200" spc="-160" b="1">
                <a:latin typeface="Palatino Linotype"/>
                <a:cs typeface="Palatino Linotype"/>
              </a:rPr>
              <a:t> </a:t>
            </a:r>
            <a:r>
              <a:rPr dirty="0" sz="3200" spc="-40" b="1">
                <a:latin typeface="Palatino Linotype"/>
                <a:cs typeface="Palatino Linotype"/>
              </a:rPr>
              <a:t>Statement:</a:t>
            </a:r>
            <a:endParaRPr sz="320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92200" y="1420965"/>
            <a:ext cx="8952865" cy="3961129"/>
          </a:xfrm>
          <a:prstGeom prst="rect">
            <a:avLst/>
          </a:prstGeom>
        </p:spPr>
        <p:txBody>
          <a:bodyPr wrap="square" lIns="0" tIns="1371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 sz="1800" spc="-80" b="1">
                <a:solidFill>
                  <a:srgbClr val="514743"/>
                </a:solidFill>
                <a:latin typeface="Arial"/>
                <a:cs typeface="Arial"/>
              </a:rPr>
              <a:t>To</a:t>
            </a:r>
            <a:r>
              <a:rPr dirty="0" sz="1800" spc="-45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 spc="-65" b="1">
                <a:solidFill>
                  <a:srgbClr val="514743"/>
                </a:solidFill>
                <a:latin typeface="Arial"/>
                <a:cs typeface="Arial"/>
              </a:rPr>
              <a:t>design</a:t>
            </a:r>
            <a:r>
              <a:rPr dirty="0" sz="1800" spc="-60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14743"/>
                </a:solidFill>
                <a:latin typeface="Arial"/>
                <a:cs typeface="Arial"/>
              </a:rPr>
              <a:t>and</a:t>
            </a:r>
            <a:r>
              <a:rPr dirty="0" sz="1800" spc="-45" b="1">
                <a:solidFill>
                  <a:srgbClr val="514743"/>
                </a:solidFill>
                <a:latin typeface="Arial"/>
                <a:cs typeface="Arial"/>
              </a:rPr>
              <a:t> implement</a:t>
            </a:r>
            <a:r>
              <a:rPr dirty="0" sz="1800" spc="-55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14743"/>
                </a:solidFill>
                <a:latin typeface="Arial"/>
                <a:cs typeface="Arial"/>
              </a:rPr>
              <a:t>an</a:t>
            </a:r>
            <a:r>
              <a:rPr dirty="0" sz="1800" spc="-40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514743"/>
                </a:solidFill>
                <a:latin typeface="Arial"/>
                <a:cs typeface="Arial"/>
              </a:rPr>
              <a:t>automated</a:t>
            </a:r>
            <a:r>
              <a:rPr dirty="0" sz="1800" spc="-45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14743"/>
                </a:solidFill>
                <a:latin typeface="Arial"/>
                <a:cs typeface="Arial"/>
              </a:rPr>
              <a:t>and</a:t>
            </a:r>
            <a:r>
              <a:rPr dirty="0" sz="1800" spc="-45" b="1">
                <a:solidFill>
                  <a:srgbClr val="514743"/>
                </a:solidFill>
                <a:latin typeface="Arial"/>
                <a:cs typeface="Arial"/>
              </a:rPr>
              <a:t> intelligent </a:t>
            </a:r>
            <a:r>
              <a:rPr dirty="0" sz="1800" spc="-60" b="1">
                <a:solidFill>
                  <a:srgbClr val="514743"/>
                </a:solidFill>
                <a:latin typeface="Arial"/>
                <a:cs typeface="Arial"/>
              </a:rPr>
              <a:t>waste</a:t>
            </a:r>
            <a:r>
              <a:rPr dirty="0" sz="1800" spc="-65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514743"/>
                </a:solidFill>
                <a:latin typeface="Arial"/>
                <a:cs typeface="Arial"/>
              </a:rPr>
              <a:t>segregation:</a:t>
            </a:r>
            <a:endParaRPr sz="1800">
              <a:latin typeface="Arial"/>
              <a:cs typeface="Arial"/>
            </a:endParaRPr>
          </a:p>
          <a:p>
            <a:pPr marL="299085" indent="-286385">
              <a:lnSpc>
                <a:spcPts val="2055"/>
              </a:lnSpc>
              <a:spcBef>
                <a:spcPts val="985"/>
              </a:spcBef>
              <a:buFont typeface="Wingdings"/>
              <a:buChar char=""/>
              <a:tabLst>
                <a:tab pos="299085" algn="l"/>
              </a:tabLst>
            </a:pP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The</a:t>
            </a:r>
            <a:r>
              <a:rPr dirty="0" sz="1800" spc="10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increasing</a:t>
            </a:r>
            <a:r>
              <a:rPr dirty="0" sz="1800" spc="9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volume</a:t>
            </a:r>
            <a:r>
              <a:rPr dirty="0" sz="1800" spc="9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14743"/>
                </a:solidFill>
                <a:latin typeface="Arial"/>
                <a:cs typeface="Arial"/>
              </a:rPr>
              <a:t>of</a:t>
            </a:r>
            <a:r>
              <a:rPr dirty="0" sz="1800" spc="10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improperly</a:t>
            </a:r>
            <a:r>
              <a:rPr dirty="0" sz="1800" spc="114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514743"/>
                </a:solidFill>
                <a:latin typeface="Arial"/>
                <a:cs typeface="Arial"/>
              </a:rPr>
              <a:t>sorted</a:t>
            </a:r>
            <a:r>
              <a:rPr dirty="0" sz="1800" spc="10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waste</a:t>
            </a:r>
            <a:r>
              <a:rPr dirty="0" sz="1800" spc="10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poses</a:t>
            </a:r>
            <a:r>
              <a:rPr dirty="0" sz="1800" spc="10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a</a:t>
            </a:r>
            <a:r>
              <a:rPr dirty="0" sz="1800" spc="8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significant</a:t>
            </a:r>
            <a:r>
              <a:rPr dirty="0" sz="1800" spc="9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challenge</a:t>
            </a:r>
            <a:r>
              <a:rPr dirty="0" sz="1800" spc="10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14743"/>
                </a:solidFill>
                <a:latin typeface="Arial"/>
                <a:cs typeface="Arial"/>
              </a:rPr>
              <a:t>to</a:t>
            </a:r>
            <a:endParaRPr sz="1800">
              <a:latin typeface="Arial"/>
              <a:cs typeface="Arial"/>
            </a:endParaRPr>
          </a:p>
          <a:p>
            <a:pPr marL="299085">
              <a:lnSpc>
                <a:spcPts val="2055"/>
              </a:lnSpc>
            </a:pP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effective</a:t>
            </a:r>
            <a:r>
              <a:rPr dirty="0" sz="1800" spc="17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waste</a:t>
            </a:r>
            <a:r>
              <a:rPr dirty="0" sz="1800" spc="16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management</a:t>
            </a:r>
            <a:r>
              <a:rPr dirty="0" sz="1800" spc="14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and</a:t>
            </a:r>
            <a:r>
              <a:rPr dirty="0" sz="1800" spc="15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environmental</a:t>
            </a:r>
            <a:r>
              <a:rPr dirty="0" sz="1800" spc="14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14743"/>
                </a:solidFill>
                <a:latin typeface="Arial"/>
                <a:cs typeface="Arial"/>
              </a:rPr>
              <a:t>sustainability.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55"/>
              </a:spcBef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800" spc="-80" b="1">
                <a:solidFill>
                  <a:srgbClr val="514743"/>
                </a:solidFill>
                <a:latin typeface="Arial"/>
                <a:cs typeface="Arial"/>
              </a:rPr>
              <a:t>To</a:t>
            </a:r>
            <a:r>
              <a:rPr dirty="0" sz="1800" spc="-45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 spc="-35" b="1">
                <a:solidFill>
                  <a:srgbClr val="514743"/>
                </a:solidFill>
                <a:latin typeface="Arial"/>
                <a:cs typeface="Arial"/>
              </a:rPr>
              <a:t>develop</a:t>
            </a:r>
            <a:r>
              <a:rPr dirty="0" sz="1800" spc="-50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14743"/>
                </a:solidFill>
                <a:latin typeface="Arial"/>
                <a:cs typeface="Arial"/>
              </a:rPr>
              <a:t>an</a:t>
            </a:r>
            <a:r>
              <a:rPr dirty="0" sz="1800" spc="-55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 spc="-75" b="1">
                <a:solidFill>
                  <a:srgbClr val="514743"/>
                </a:solidFill>
                <a:latin typeface="Arial"/>
                <a:cs typeface="Arial"/>
              </a:rPr>
              <a:t>AI-</a:t>
            </a:r>
            <a:r>
              <a:rPr dirty="0" sz="1800" spc="-25" b="1">
                <a:solidFill>
                  <a:srgbClr val="514743"/>
                </a:solidFill>
                <a:latin typeface="Arial"/>
                <a:cs typeface="Arial"/>
              </a:rPr>
              <a:t>based</a:t>
            </a:r>
            <a:r>
              <a:rPr dirty="0" sz="1800" spc="-60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 spc="-20" b="1">
                <a:solidFill>
                  <a:srgbClr val="514743"/>
                </a:solidFill>
                <a:latin typeface="Arial"/>
                <a:cs typeface="Arial"/>
              </a:rPr>
              <a:t>automated</a:t>
            </a:r>
            <a:r>
              <a:rPr dirty="0" sz="1800" spc="-60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 spc="-50" b="1">
                <a:solidFill>
                  <a:srgbClr val="514743"/>
                </a:solidFill>
                <a:latin typeface="Arial"/>
                <a:cs typeface="Arial"/>
              </a:rPr>
              <a:t>waste</a:t>
            </a:r>
            <a:r>
              <a:rPr dirty="0" sz="1800" spc="-65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 spc="-45" b="1">
                <a:solidFill>
                  <a:srgbClr val="514743"/>
                </a:solidFill>
                <a:latin typeface="Arial"/>
                <a:cs typeface="Arial"/>
              </a:rPr>
              <a:t>sorting</a:t>
            </a:r>
            <a:r>
              <a:rPr dirty="0" sz="1800" spc="-50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514743"/>
                </a:solidFill>
                <a:latin typeface="Arial"/>
                <a:cs typeface="Arial"/>
              </a:rPr>
              <a:t>system:</a:t>
            </a:r>
            <a:endParaRPr sz="1800">
              <a:latin typeface="Arial"/>
              <a:cs typeface="Arial"/>
            </a:endParaRPr>
          </a:p>
          <a:p>
            <a:pPr marL="299085" indent="-286385">
              <a:lnSpc>
                <a:spcPts val="2055"/>
              </a:lnSpc>
              <a:spcBef>
                <a:spcPts val="985"/>
              </a:spcBef>
              <a:buFont typeface="Wingdings"/>
              <a:buChar char=""/>
              <a:tabLst>
                <a:tab pos="299085" algn="l"/>
              </a:tabLst>
            </a:pP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There</a:t>
            </a:r>
            <a:r>
              <a:rPr dirty="0" sz="1800" spc="13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is</a:t>
            </a:r>
            <a:r>
              <a:rPr dirty="0" sz="1800" spc="13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a</a:t>
            </a:r>
            <a:r>
              <a:rPr dirty="0" sz="1800" spc="12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critical</a:t>
            </a:r>
            <a:r>
              <a:rPr dirty="0" sz="1800" spc="14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need</a:t>
            </a:r>
            <a:r>
              <a:rPr dirty="0" sz="1800" spc="13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for</a:t>
            </a:r>
            <a:r>
              <a:rPr dirty="0" sz="1800" spc="12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an</a:t>
            </a:r>
            <a:r>
              <a:rPr dirty="0" sz="1800" spc="12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intelligent,</a:t>
            </a:r>
            <a:r>
              <a:rPr dirty="0" sz="1800" spc="14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14743"/>
                </a:solidFill>
                <a:latin typeface="Arial"/>
                <a:cs typeface="Arial"/>
              </a:rPr>
              <a:t>automated</a:t>
            </a:r>
            <a:r>
              <a:rPr dirty="0" sz="1800" spc="12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solution</a:t>
            </a:r>
            <a:r>
              <a:rPr dirty="0" sz="1800" spc="12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514743"/>
                </a:solidFill>
                <a:latin typeface="Arial"/>
                <a:cs typeface="Arial"/>
              </a:rPr>
              <a:t>that</a:t>
            </a:r>
            <a:r>
              <a:rPr dirty="0" sz="1800" spc="114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can</a:t>
            </a:r>
            <a:r>
              <a:rPr dirty="0" sz="1800" spc="12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14743"/>
                </a:solidFill>
                <a:latin typeface="Arial"/>
                <a:cs typeface="Arial"/>
              </a:rPr>
              <a:t>accurately</a:t>
            </a:r>
            <a:endParaRPr sz="1800">
              <a:latin typeface="Arial"/>
              <a:cs typeface="Arial"/>
            </a:endParaRPr>
          </a:p>
          <a:p>
            <a:pPr marL="299085">
              <a:lnSpc>
                <a:spcPts val="2055"/>
              </a:lnSpc>
            </a:pP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identify</a:t>
            </a:r>
            <a:r>
              <a:rPr dirty="0" sz="1800" spc="13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and</a:t>
            </a:r>
            <a:r>
              <a:rPr dirty="0" sz="1800" spc="14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classify</a:t>
            </a:r>
            <a:r>
              <a:rPr dirty="0" sz="1800" spc="14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different</a:t>
            </a:r>
            <a:r>
              <a:rPr dirty="0" sz="1800" spc="15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types</a:t>
            </a:r>
            <a:r>
              <a:rPr dirty="0" sz="1800" spc="16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514743"/>
                </a:solidFill>
                <a:latin typeface="Arial"/>
                <a:cs typeface="Arial"/>
              </a:rPr>
              <a:t>of</a:t>
            </a:r>
            <a:r>
              <a:rPr dirty="0" sz="1800" spc="15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waste</a:t>
            </a:r>
            <a:r>
              <a:rPr dirty="0" sz="1800" spc="13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at</a:t>
            </a:r>
            <a:r>
              <a:rPr dirty="0" sz="1800" spc="15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the</a:t>
            </a:r>
            <a:r>
              <a:rPr dirty="0" sz="1800" spc="15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14743"/>
                </a:solidFill>
                <a:latin typeface="Arial"/>
                <a:cs typeface="Arial"/>
              </a:rPr>
              <a:t>source.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55"/>
              </a:spcBef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 spc="-10" b="1">
                <a:solidFill>
                  <a:srgbClr val="514743"/>
                </a:solidFill>
                <a:latin typeface="Arial"/>
                <a:cs typeface="Arial"/>
              </a:rPr>
              <a:t>Health</a:t>
            </a:r>
            <a:r>
              <a:rPr dirty="0" sz="1800" spc="-100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14743"/>
                </a:solidFill>
                <a:latin typeface="Arial"/>
                <a:cs typeface="Arial"/>
              </a:rPr>
              <a:t>and</a:t>
            </a:r>
            <a:r>
              <a:rPr dirty="0" sz="1800" spc="-85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 spc="-25" b="1">
                <a:solidFill>
                  <a:srgbClr val="514743"/>
                </a:solidFill>
                <a:latin typeface="Arial"/>
                <a:cs typeface="Arial"/>
              </a:rPr>
              <a:t>Safety</a:t>
            </a:r>
            <a:r>
              <a:rPr dirty="0" sz="1800" spc="-100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 spc="-55" b="1">
                <a:solidFill>
                  <a:srgbClr val="514743"/>
                </a:solidFill>
                <a:latin typeface="Arial"/>
                <a:cs typeface="Arial"/>
              </a:rPr>
              <a:t>Concerns</a:t>
            </a:r>
            <a:r>
              <a:rPr dirty="0" sz="1800" spc="-70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 spc="-40" b="1">
                <a:solidFill>
                  <a:srgbClr val="514743"/>
                </a:solidFill>
                <a:latin typeface="Arial"/>
                <a:cs typeface="Arial"/>
              </a:rPr>
              <a:t>Worker</a:t>
            </a:r>
            <a:r>
              <a:rPr dirty="0" sz="1800" spc="-65" b="1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514743"/>
                </a:solidFill>
                <a:latin typeface="Arial"/>
                <a:cs typeface="Arial"/>
              </a:rPr>
              <a:t>Exposure:</a:t>
            </a:r>
            <a:endParaRPr sz="1800">
              <a:latin typeface="Arial"/>
              <a:cs typeface="Arial"/>
            </a:endParaRPr>
          </a:p>
          <a:p>
            <a:pPr marL="299085" indent="-286385">
              <a:lnSpc>
                <a:spcPts val="2050"/>
              </a:lnSpc>
              <a:spcBef>
                <a:spcPts val="980"/>
              </a:spcBef>
              <a:buFont typeface="Wingdings"/>
              <a:buChar char=""/>
              <a:tabLst>
                <a:tab pos="299085" algn="l"/>
              </a:tabLst>
            </a:pP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Manual</a:t>
            </a:r>
            <a:r>
              <a:rPr dirty="0" sz="1800" spc="9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sorters</a:t>
            </a:r>
            <a:r>
              <a:rPr dirty="0" sz="1800" spc="11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are</a:t>
            </a:r>
            <a:r>
              <a:rPr dirty="0" sz="1800" spc="10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frequently</a:t>
            </a:r>
            <a:r>
              <a:rPr dirty="0" sz="1800" spc="12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exposed</a:t>
            </a:r>
            <a:r>
              <a:rPr dirty="0" sz="1800" spc="114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 spc="95">
                <a:solidFill>
                  <a:srgbClr val="514743"/>
                </a:solidFill>
                <a:latin typeface="Arial"/>
                <a:cs typeface="Arial"/>
              </a:rPr>
              <a:t>to</a:t>
            </a:r>
            <a:r>
              <a:rPr dirty="0" sz="1800" spc="9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pathogens,</a:t>
            </a:r>
            <a:r>
              <a:rPr dirty="0" sz="1800" spc="12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sharp</a:t>
            </a:r>
            <a:r>
              <a:rPr dirty="0" sz="1800" spc="9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objects</a:t>
            </a:r>
            <a:r>
              <a:rPr dirty="0" sz="1800" spc="12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(like</a:t>
            </a:r>
            <a:r>
              <a:rPr dirty="0" sz="1800" spc="12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needles</a:t>
            </a:r>
            <a:r>
              <a:rPr dirty="0" sz="1800" spc="12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514743"/>
                </a:solidFill>
                <a:latin typeface="Arial"/>
                <a:cs typeface="Arial"/>
              </a:rPr>
              <a:t>or</a:t>
            </a:r>
            <a:endParaRPr sz="1800">
              <a:latin typeface="Arial"/>
              <a:cs typeface="Arial"/>
            </a:endParaRPr>
          </a:p>
          <a:p>
            <a:pPr marL="299085">
              <a:lnSpc>
                <a:spcPts val="2050"/>
              </a:lnSpc>
            </a:pP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broken</a:t>
            </a:r>
            <a:r>
              <a:rPr dirty="0" sz="1800" spc="16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glass),</a:t>
            </a:r>
            <a:r>
              <a:rPr dirty="0" sz="1800" spc="16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and</a:t>
            </a:r>
            <a:r>
              <a:rPr dirty="0" sz="1800" spc="15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toxic</a:t>
            </a:r>
            <a:r>
              <a:rPr dirty="0" sz="1800" spc="17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substances,</a:t>
            </a:r>
            <a:r>
              <a:rPr dirty="0" sz="1800" spc="16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posing</a:t>
            </a:r>
            <a:r>
              <a:rPr dirty="0" sz="1800" spc="16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significant</a:t>
            </a:r>
            <a:r>
              <a:rPr dirty="0" sz="1800" spc="16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long-term</a:t>
            </a:r>
            <a:r>
              <a:rPr dirty="0" sz="1800" spc="16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health</a:t>
            </a:r>
            <a:r>
              <a:rPr dirty="0" sz="1800" spc="15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14743"/>
                </a:solidFill>
                <a:latin typeface="Arial"/>
                <a:cs typeface="Arial"/>
              </a:rPr>
              <a:t>risks.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7172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229" b="1">
                <a:latin typeface="Times New Roman"/>
                <a:cs typeface="Times New Roman"/>
              </a:rPr>
              <a:t>OBJECTIVES: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92200" y="1880361"/>
            <a:ext cx="9168130" cy="2543810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marL="299085" marR="5080" indent="-287020">
              <a:lnSpc>
                <a:spcPts val="1939"/>
              </a:lnSpc>
              <a:spcBef>
                <a:spcPts val="345"/>
              </a:spcBef>
              <a:buFont typeface="Wingdings"/>
              <a:buChar char=""/>
              <a:tabLst>
                <a:tab pos="299085" algn="l"/>
              </a:tabLst>
            </a:pP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To</a:t>
            </a:r>
            <a:r>
              <a:rPr dirty="0" sz="1800" spc="17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design</a:t>
            </a:r>
            <a:r>
              <a:rPr dirty="0" sz="1800" spc="18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and</a:t>
            </a:r>
            <a:r>
              <a:rPr dirty="0" sz="1800" spc="16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develop</a:t>
            </a:r>
            <a:r>
              <a:rPr dirty="0" sz="1800" spc="17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an</a:t>
            </a:r>
            <a:r>
              <a:rPr dirty="0" sz="1800" spc="17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intelligent</a:t>
            </a:r>
            <a:r>
              <a:rPr dirty="0" sz="1800" spc="21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trash-sorting</a:t>
            </a:r>
            <a:r>
              <a:rPr dirty="0" sz="1800" spc="14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system</a:t>
            </a:r>
            <a:r>
              <a:rPr dirty="0" sz="1800" spc="18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using</a:t>
            </a:r>
            <a:r>
              <a:rPr dirty="0" sz="1800" spc="16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Convolutional</a:t>
            </a:r>
            <a:r>
              <a:rPr dirty="0" sz="1800" spc="15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14743"/>
                </a:solidFill>
                <a:latin typeface="Arial"/>
                <a:cs typeface="Arial"/>
              </a:rPr>
              <a:t>Neural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Networks</a:t>
            </a:r>
            <a:r>
              <a:rPr dirty="0" sz="1800" spc="6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14743"/>
                </a:solidFill>
                <a:latin typeface="Arial"/>
                <a:cs typeface="Arial"/>
              </a:rPr>
              <a:t>(CNNs)</a:t>
            </a:r>
            <a:endParaRPr sz="18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960"/>
              </a:spcBef>
              <a:buFont typeface="Wingdings"/>
              <a:buChar char=""/>
              <a:tabLst>
                <a:tab pos="299085" algn="l"/>
              </a:tabLst>
            </a:pP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To</a:t>
            </a:r>
            <a:r>
              <a:rPr dirty="0" sz="1800" spc="8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improve</a:t>
            </a:r>
            <a:r>
              <a:rPr dirty="0" sz="1800" spc="10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waste-separation</a:t>
            </a:r>
            <a:r>
              <a:rPr dirty="0" sz="1800" spc="8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14743"/>
                </a:solidFill>
                <a:latin typeface="Arial"/>
                <a:cs typeface="Arial"/>
              </a:rPr>
              <a:t>accuracy</a:t>
            </a:r>
            <a:endParaRPr sz="18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990"/>
              </a:spcBef>
              <a:buFont typeface="Wingdings"/>
              <a:buChar char=""/>
              <a:tabLst>
                <a:tab pos="299085" algn="l"/>
              </a:tabLst>
            </a:pP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To</a:t>
            </a:r>
            <a:r>
              <a:rPr dirty="0" sz="1800" spc="12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integrate</a:t>
            </a:r>
            <a:r>
              <a:rPr dirty="0" sz="1800" spc="13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sensor-based</a:t>
            </a:r>
            <a:r>
              <a:rPr dirty="0" sz="1800" spc="114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inputs</a:t>
            </a:r>
            <a:r>
              <a:rPr dirty="0" sz="1800" spc="12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and</a:t>
            </a:r>
            <a:r>
              <a:rPr dirty="0" sz="1800" spc="10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 spc="-45">
                <a:solidFill>
                  <a:srgbClr val="514743"/>
                </a:solidFill>
                <a:latin typeface="Arial"/>
                <a:cs typeface="Arial"/>
              </a:rPr>
              <a:t>CNN</a:t>
            </a:r>
            <a:r>
              <a:rPr dirty="0" sz="1800" spc="12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model</a:t>
            </a:r>
            <a:r>
              <a:rPr dirty="0" sz="1800" spc="12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14743"/>
                </a:solidFill>
                <a:latin typeface="Arial"/>
                <a:cs typeface="Arial"/>
              </a:rPr>
              <a:t>predictions</a:t>
            </a:r>
            <a:endParaRPr sz="18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985"/>
              </a:spcBef>
              <a:buFont typeface="Wingdings"/>
              <a:buChar char=""/>
              <a:tabLst>
                <a:tab pos="299085" algn="l"/>
              </a:tabLst>
            </a:pP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To</a:t>
            </a:r>
            <a:r>
              <a:rPr dirty="0" sz="1800" spc="15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implement</a:t>
            </a:r>
            <a:r>
              <a:rPr dirty="0" sz="1800" spc="19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real-time</a:t>
            </a:r>
            <a:r>
              <a:rPr dirty="0" sz="1800" spc="19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waste</a:t>
            </a:r>
            <a:r>
              <a:rPr dirty="0" sz="1800" spc="18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detection</a:t>
            </a:r>
            <a:r>
              <a:rPr dirty="0" sz="1800" spc="18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and</a:t>
            </a:r>
            <a:r>
              <a:rPr dirty="0" sz="1800" spc="16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14743"/>
                </a:solidFill>
                <a:latin typeface="Arial"/>
                <a:cs typeface="Arial"/>
              </a:rPr>
              <a:t>classification</a:t>
            </a:r>
            <a:endParaRPr sz="18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980"/>
              </a:spcBef>
              <a:buFont typeface="Wingdings"/>
              <a:buChar char=""/>
              <a:tabLst>
                <a:tab pos="299085" algn="l"/>
              </a:tabLst>
            </a:pP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To</a:t>
            </a:r>
            <a:r>
              <a:rPr dirty="0" sz="1800" spc="10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reduce</a:t>
            </a:r>
            <a:r>
              <a:rPr dirty="0" sz="1800" spc="114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human</a:t>
            </a:r>
            <a:r>
              <a:rPr dirty="0" sz="1800" spc="10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involvement</a:t>
            </a:r>
            <a:r>
              <a:rPr dirty="0" sz="1800" spc="12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in</a:t>
            </a:r>
            <a:r>
              <a:rPr dirty="0" sz="1800" spc="11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hazardous</a:t>
            </a:r>
            <a:r>
              <a:rPr dirty="0" sz="1800" spc="8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waste-handling</a:t>
            </a:r>
            <a:r>
              <a:rPr dirty="0" sz="1800" spc="114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14743"/>
                </a:solidFill>
                <a:latin typeface="Arial"/>
                <a:cs typeface="Arial"/>
              </a:rPr>
              <a:t>environments</a:t>
            </a:r>
            <a:endParaRPr sz="180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spcBef>
                <a:spcPts val="985"/>
              </a:spcBef>
              <a:buFont typeface="Wingdings"/>
              <a:buChar char=""/>
              <a:tabLst>
                <a:tab pos="299085" algn="l"/>
              </a:tabLst>
            </a:pP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To</a:t>
            </a:r>
            <a:r>
              <a:rPr dirty="0" sz="1800" spc="114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develop</a:t>
            </a:r>
            <a:r>
              <a:rPr dirty="0" sz="1800" spc="13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a</a:t>
            </a:r>
            <a:r>
              <a:rPr dirty="0" sz="1800" spc="10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scalable</a:t>
            </a:r>
            <a:r>
              <a:rPr dirty="0" sz="1800" spc="130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and</a:t>
            </a:r>
            <a:r>
              <a:rPr dirty="0" sz="1800" spc="9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adaptive</a:t>
            </a:r>
            <a:r>
              <a:rPr dirty="0" sz="1800" spc="12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514743"/>
                </a:solidFill>
                <a:latin typeface="Arial"/>
                <a:cs typeface="Arial"/>
              </a:rPr>
              <a:t>waste-management</a:t>
            </a:r>
            <a:r>
              <a:rPr dirty="0" sz="1800" spc="10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514743"/>
                </a:solidFill>
                <a:latin typeface="Arial"/>
                <a:cs typeface="Arial"/>
              </a:rPr>
              <a:t>solution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03375" y="1219200"/>
            <a:ext cx="9985375" cy="0"/>
          </a:xfrm>
          <a:custGeom>
            <a:avLst/>
            <a:gdLst/>
            <a:ahLst/>
            <a:cxnLst/>
            <a:rect l="l" t="t" r="r" b="b"/>
            <a:pathLst>
              <a:path w="9985375" h="0">
                <a:moveTo>
                  <a:pt x="9985248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51474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103375" y="1303655"/>
            <a:ext cx="9985375" cy="0"/>
          </a:xfrm>
          <a:custGeom>
            <a:avLst/>
            <a:gdLst/>
            <a:ahLst/>
            <a:cxnLst/>
            <a:rect l="l" t="t" r="r" b="b"/>
            <a:pathLst>
              <a:path w="9985375" h="0">
                <a:moveTo>
                  <a:pt x="9985248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51474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6563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130" b="1">
                <a:latin typeface="Palatino Linotype"/>
                <a:cs typeface="Palatino Linotype"/>
              </a:rPr>
              <a:t>BLOCK</a:t>
            </a:r>
            <a:r>
              <a:rPr dirty="0" sz="3200" spc="335" b="1">
                <a:latin typeface="Palatino Linotype"/>
                <a:cs typeface="Palatino Linotype"/>
              </a:rPr>
              <a:t> </a:t>
            </a:r>
            <a:r>
              <a:rPr dirty="0" sz="3200" spc="-10" b="1">
                <a:latin typeface="Palatino Linotype"/>
                <a:cs typeface="Palatino Linotype"/>
              </a:rPr>
              <a:t>DIAGRAM:</a:t>
            </a:r>
            <a:endParaRPr sz="3200">
              <a:latin typeface="Palatino Linotype"/>
              <a:cs typeface="Palatino Linotype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3264" y="1600200"/>
            <a:ext cx="10062197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7172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125" b="1">
                <a:latin typeface="Times New Roman"/>
                <a:cs typeface="Times New Roman"/>
              </a:rPr>
              <a:t>METHADOLOGY</a:t>
            </a:r>
            <a:r>
              <a:rPr dirty="0" sz="3200" spc="155" b="1">
                <a:latin typeface="Times New Roman"/>
                <a:cs typeface="Times New Roman"/>
              </a:rPr>
              <a:t> </a:t>
            </a:r>
            <a:r>
              <a:rPr dirty="0" sz="3200" spc="-50" b="1">
                <a:latin typeface="Times New Roman"/>
                <a:cs typeface="Times New Roman"/>
              </a:rPr>
              <a:t>: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92200" y="1472158"/>
            <a:ext cx="9900285" cy="4279900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60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OS</a:t>
            </a:r>
            <a:r>
              <a:rPr dirty="0" sz="2000" spc="-1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&amp;</a:t>
            </a:r>
            <a:r>
              <a:rPr dirty="0" sz="2000" spc="-2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Language:</a:t>
            </a:r>
            <a:r>
              <a:rPr dirty="0" sz="2000" spc="-4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Raspbian</a:t>
            </a:r>
            <a:r>
              <a:rPr dirty="0" sz="2000" spc="-4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OS</a:t>
            </a:r>
            <a:r>
              <a:rPr dirty="0" sz="2000" spc="-1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using</a:t>
            </a:r>
            <a:r>
              <a:rPr dirty="0" sz="2000" spc="-3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Python</a:t>
            </a:r>
            <a:r>
              <a:rPr dirty="0" sz="2000" spc="-4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 spc="-25">
                <a:solidFill>
                  <a:srgbClr val="514743"/>
                </a:solidFill>
                <a:latin typeface="Times New Roman"/>
                <a:cs typeface="Times New Roman"/>
              </a:rPr>
              <a:t>3.</a:t>
            </a:r>
            <a:endParaRPr sz="2000">
              <a:latin typeface="Times New Roman"/>
              <a:cs typeface="Times New Roman"/>
            </a:endParaRPr>
          </a:p>
          <a:p>
            <a:pPr marL="419734" indent="-407034">
              <a:lnSpc>
                <a:spcPct val="100000"/>
              </a:lnSpc>
              <a:spcBef>
                <a:spcPts val="965"/>
              </a:spcBef>
              <a:buFont typeface="Wingdings"/>
              <a:buChar char=""/>
              <a:tabLst>
                <a:tab pos="419734" algn="l"/>
              </a:tabLst>
            </a:pP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Key</a:t>
            </a:r>
            <a:r>
              <a:rPr dirty="0" sz="2000" spc="-2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Libraries:</a:t>
            </a:r>
            <a:r>
              <a:rPr dirty="0" sz="2000" spc="-4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OpenCV</a:t>
            </a:r>
            <a:r>
              <a:rPr dirty="0" sz="2000" spc="-6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for</a:t>
            </a:r>
            <a:r>
              <a:rPr dirty="0" sz="2000" spc="-2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image</a:t>
            </a:r>
            <a:r>
              <a:rPr dirty="0" sz="2000" spc="-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processing</a:t>
            </a:r>
            <a:r>
              <a:rPr dirty="0" sz="2000" spc="-5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and</a:t>
            </a:r>
            <a:r>
              <a:rPr dirty="0" sz="2000" spc="-4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Tkinter</a:t>
            </a:r>
            <a:r>
              <a:rPr dirty="0" sz="2000" spc="-3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for</a:t>
            </a:r>
            <a:r>
              <a:rPr dirty="0" sz="2000" spc="-2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the</a:t>
            </a:r>
            <a:r>
              <a:rPr dirty="0" sz="2000" spc="-1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 spc="-20">
                <a:solidFill>
                  <a:srgbClr val="514743"/>
                </a:solidFill>
                <a:latin typeface="Times New Roman"/>
                <a:cs typeface="Times New Roman"/>
              </a:rPr>
              <a:t>GUI.</a:t>
            </a:r>
            <a:endParaRPr sz="2000">
              <a:latin typeface="Times New Roman"/>
              <a:cs typeface="Times New Roman"/>
            </a:endParaRPr>
          </a:p>
          <a:p>
            <a:pPr marL="419734" indent="-407034">
              <a:lnSpc>
                <a:spcPct val="100000"/>
              </a:lnSpc>
              <a:spcBef>
                <a:spcPts val="960"/>
              </a:spcBef>
              <a:buFont typeface="Wingdings"/>
              <a:buChar char=""/>
              <a:tabLst>
                <a:tab pos="419734" algn="l"/>
              </a:tabLst>
            </a:pP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Methodology</a:t>
            </a:r>
            <a:r>
              <a:rPr dirty="0" sz="2000" spc="-6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514743"/>
                </a:solidFill>
                <a:latin typeface="Times New Roman"/>
                <a:cs typeface="Times New Roman"/>
              </a:rPr>
              <a:t>Stages:</a:t>
            </a:r>
            <a:endParaRPr sz="20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960"/>
              </a:spcBef>
              <a:buAutoNum type="arabicPeriod"/>
              <a:tabLst>
                <a:tab pos="469900" algn="l"/>
              </a:tabLst>
            </a:pP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Dataset</a:t>
            </a:r>
            <a:r>
              <a:rPr dirty="0" sz="2000" spc="-2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Creation:</a:t>
            </a:r>
            <a:r>
              <a:rPr dirty="0" sz="2000" spc="-4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50–400</a:t>
            </a:r>
            <a:r>
              <a:rPr dirty="0" sz="2000" spc="-4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labeled</a:t>
            </a:r>
            <a:r>
              <a:rPr dirty="0" sz="2000" spc="-2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samples</a:t>
            </a:r>
            <a:r>
              <a:rPr dirty="0" sz="2000" spc="-1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across</a:t>
            </a:r>
            <a:r>
              <a:rPr dirty="0" sz="2000" spc="-4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four</a:t>
            </a:r>
            <a:r>
              <a:rPr dirty="0" sz="2000" spc="-2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514743"/>
                </a:solidFill>
                <a:latin typeface="Times New Roman"/>
                <a:cs typeface="Times New Roman"/>
              </a:rPr>
              <a:t>categories.</a:t>
            </a:r>
            <a:endParaRPr sz="2000">
              <a:latin typeface="Times New Roman"/>
              <a:cs typeface="Times New Roman"/>
            </a:endParaRPr>
          </a:p>
          <a:p>
            <a:pPr marL="534035" indent="-521334">
              <a:lnSpc>
                <a:spcPct val="100000"/>
              </a:lnSpc>
              <a:spcBef>
                <a:spcPts val="960"/>
              </a:spcBef>
              <a:buAutoNum type="arabicPeriod"/>
              <a:tabLst>
                <a:tab pos="534035" algn="l"/>
              </a:tabLst>
            </a:pP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Preprocessing:</a:t>
            </a:r>
            <a:r>
              <a:rPr dirty="0" sz="2000" spc="-5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RGB</a:t>
            </a:r>
            <a:r>
              <a:rPr dirty="0" sz="2000" spc="-2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to</a:t>
            </a:r>
            <a:r>
              <a:rPr dirty="0" sz="2000" spc="-1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HSV</a:t>
            </a:r>
            <a:r>
              <a:rPr dirty="0" sz="2000" spc="-6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conversion</a:t>
            </a:r>
            <a:r>
              <a:rPr dirty="0" sz="2000" spc="-5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and</a:t>
            </a:r>
            <a:r>
              <a:rPr dirty="0" sz="2000" spc="-3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Canny</a:t>
            </a:r>
            <a:r>
              <a:rPr dirty="0" sz="2000" spc="-3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edge</a:t>
            </a:r>
            <a:r>
              <a:rPr dirty="0" sz="2000" spc="-4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514743"/>
                </a:solidFill>
                <a:latin typeface="Times New Roman"/>
                <a:cs typeface="Times New Roman"/>
              </a:rPr>
              <a:t>detection.</a:t>
            </a:r>
            <a:endParaRPr sz="2000">
              <a:latin typeface="Times New Roman"/>
              <a:cs typeface="Times New Roman"/>
            </a:endParaRPr>
          </a:p>
          <a:p>
            <a:pPr marL="534035" indent="-521334">
              <a:lnSpc>
                <a:spcPct val="100000"/>
              </a:lnSpc>
              <a:spcBef>
                <a:spcPts val="960"/>
              </a:spcBef>
              <a:buAutoNum type="arabicPeriod"/>
              <a:tabLst>
                <a:tab pos="534035" algn="l"/>
              </a:tabLst>
            </a:pP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Classification:</a:t>
            </a:r>
            <a:r>
              <a:rPr dirty="0" sz="2000" spc="-7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Softmax</a:t>
            </a:r>
            <a:r>
              <a:rPr dirty="0" sz="2000" spc="-2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normalization</a:t>
            </a:r>
            <a:r>
              <a:rPr dirty="0" sz="2000" spc="-3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and</a:t>
            </a:r>
            <a:r>
              <a:rPr dirty="0" sz="2000" spc="-2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temporal</a:t>
            </a:r>
            <a:r>
              <a:rPr dirty="0" sz="2000" spc="-3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smoothing</a:t>
            </a:r>
            <a:r>
              <a:rPr dirty="0" sz="2000" spc="-3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514743"/>
                </a:solidFill>
                <a:latin typeface="Times New Roman"/>
                <a:cs typeface="Times New Roman"/>
              </a:rPr>
              <a:t>(majority-voting).</a:t>
            </a:r>
            <a:endParaRPr sz="2000">
              <a:latin typeface="Times New Roman"/>
              <a:cs typeface="Times New Roman"/>
            </a:endParaRPr>
          </a:p>
          <a:p>
            <a:pPr lvl="1" marL="355600" marR="224790" indent="-343535">
              <a:lnSpc>
                <a:spcPts val="1939"/>
              </a:lnSpc>
              <a:spcBef>
                <a:spcPts val="1240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Overall,</a:t>
            </a:r>
            <a:r>
              <a:rPr dirty="0" sz="1800" spc="-7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the</a:t>
            </a:r>
            <a:r>
              <a:rPr dirty="0" sz="1800" spc="-3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hardware</a:t>
            </a:r>
            <a:r>
              <a:rPr dirty="0" sz="1800" spc="-3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implementation</a:t>
            </a:r>
            <a:r>
              <a:rPr dirty="0" sz="1800" spc="-5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successfully</a:t>
            </a:r>
            <a:r>
              <a:rPr dirty="0" sz="1800" spc="-4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integrates</a:t>
            </a:r>
            <a:r>
              <a:rPr dirty="0" sz="1800" spc="-5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image</a:t>
            </a:r>
            <a:r>
              <a:rPr dirty="0" sz="1800" spc="-3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514743"/>
                </a:solidFill>
                <a:latin typeface="Times New Roman"/>
                <a:cs typeface="Times New Roman"/>
              </a:rPr>
              <a:t>acquisition,</a:t>
            </a:r>
            <a:r>
              <a:rPr dirty="0" sz="1800" spc="-12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AI</a:t>
            </a:r>
            <a:r>
              <a:rPr dirty="0" sz="1800" spc="-3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processing,</a:t>
            </a:r>
            <a:r>
              <a:rPr dirty="0" sz="1800" spc="-4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514743"/>
                </a:solidFill>
                <a:latin typeface="Times New Roman"/>
                <a:cs typeface="Times New Roman"/>
              </a:rPr>
              <a:t>motor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control,</a:t>
            </a:r>
            <a:r>
              <a:rPr dirty="0" sz="1800" spc="-5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and</a:t>
            </a:r>
            <a:r>
              <a:rPr dirty="0" sz="1800" spc="-5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mechanical</a:t>
            </a:r>
            <a:r>
              <a:rPr dirty="0" sz="1800" spc="-5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514743"/>
                </a:solidFill>
                <a:latin typeface="Times New Roman"/>
                <a:cs typeface="Times New Roman"/>
              </a:rPr>
              <a:t>actuation.</a:t>
            </a:r>
            <a:endParaRPr sz="1800">
              <a:latin typeface="Times New Roman"/>
              <a:cs typeface="Times New Roman"/>
            </a:endParaRPr>
          </a:p>
          <a:p>
            <a:pPr lvl="1" marL="355600" indent="-342900">
              <a:lnSpc>
                <a:spcPts val="2050"/>
              </a:lnSpc>
              <a:spcBef>
                <a:spcPts val="960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The</a:t>
            </a:r>
            <a:r>
              <a:rPr dirty="0" sz="1800" spc="-3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process</a:t>
            </a:r>
            <a:r>
              <a:rPr dirty="0" sz="1800" spc="-4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begins</a:t>
            </a:r>
            <a:r>
              <a:rPr dirty="0" sz="1800" spc="-3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with</a:t>
            </a:r>
            <a:r>
              <a:rPr dirty="0" sz="1800" spc="-3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a</a:t>
            </a:r>
            <a:r>
              <a:rPr dirty="0" sz="1800" spc="-3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USB/Pi</a:t>
            </a:r>
            <a:r>
              <a:rPr dirty="0" sz="1800" spc="-2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Camera,</a:t>
            </a:r>
            <a:r>
              <a:rPr dirty="0" sz="1800" spc="-4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which</a:t>
            </a:r>
            <a:r>
              <a:rPr dirty="0" sz="1800" spc="-2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captures</a:t>
            </a:r>
            <a:r>
              <a:rPr dirty="0" sz="1800" spc="-5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514743"/>
                </a:solidFill>
                <a:latin typeface="Times New Roman"/>
                <a:cs typeface="Times New Roman"/>
              </a:rPr>
              <a:t>real-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time</a:t>
            </a:r>
            <a:r>
              <a:rPr dirty="0" sz="1800" spc="-4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images</a:t>
            </a:r>
            <a:r>
              <a:rPr dirty="0" sz="1800" spc="-2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of</a:t>
            </a:r>
            <a:r>
              <a:rPr dirty="0" sz="1800" spc="-2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the</a:t>
            </a:r>
            <a:r>
              <a:rPr dirty="0" sz="1800" spc="-3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waste</a:t>
            </a:r>
            <a:r>
              <a:rPr dirty="0" sz="1800" spc="-2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placed</a:t>
            </a:r>
            <a:r>
              <a:rPr dirty="0" sz="1800" spc="-5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in</a:t>
            </a:r>
            <a:r>
              <a:rPr dirty="0" sz="1800" spc="-2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514743"/>
                </a:solidFill>
                <a:latin typeface="Times New Roman"/>
                <a:cs typeface="Times New Roman"/>
              </a:rPr>
              <a:t>front</a:t>
            </a:r>
            <a:endParaRPr sz="1800">
              <a:latin typeface="Times New Roman"/>
              <a:cs typeface="Times New Roman"/>
            </a:endParaRPr>
          </a:p>
          <a:p>
            <a:pPr marL="355600">
              <a:lnSpc>
                <a:spcPts val="2050"/>
              </a:lnSpc>
            </a:pP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of</a:t>
            </a:r>
            <a:r>
              <a:rPr dirty="0" sz="1800" spc="-1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the</a:t>
            </a:r>
            <a:r>
              <a:rPr dirty="0" sz="1800" spc="-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514743"/>
                </a:solidFill>
                <a:latin typeface="Times New Roman"/>
                <a:cs typeface="Times New Roman"/>
              </a:rPr>
              <a:t>system.</a:t>
            </a:r>
            <a:endParaRPr sz="1800">
              <a:latin typeface="Times New Roman"/>
              <a:cs typeface="Times New Roman"/>
            </a:endParaRPr>
          </a:p>
          <a:p>
            <a:pPr lvl="1" marL="355600" indent="-342900">
              <a:lnSpc>
                <a:spcPct val="100000"/>
              </a:lnSpc>
              <a:spcBef>
                <a:spcPts val="985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 sz="1800" spc="-10">
                <a:solidFill>
                  <a:srgbClr val="514743"/>
                </a:solidFill>
                <a:latin typeface="Times New Roman"/>
                <a:cs typeface="Times New Roman"/>
              </a:rPr>
              <a:t>The</a:t>
            </a:r>
            <a:r>
              <a:rPr dirty="0" sz="1800" spc="-10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Arduino</a:t>
            </a:r>
            <a:r>
              <a:rPr dirty="0" sz="1800" spc="-5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UNO</a:t>
            </a:r>
            <a:r>
              <a:rPr dirty="0" sz="1800" spc="-1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operates</a:t>
            </a:r>
            <a:r>
              <a:rPr dirty="0" sz="1800" spc="-4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as</a:t>
            </a:r>
            <a:r>
              <a:rPr dirty="0" sz="1800" spc="-2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the</a:t>
            </a:r>
            <a:r>
              <a:rPr dirty="0" sz="1800" spc="-3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>
                <a:solidFill>
                  <a:srgbClr val="514743"/>
                </a:solidFill>
                <a:latin typeface="Times New Roman"/>
                <a:cs typeface="Times New Roman"/>
              </a:rPr>
              <a:t>actuator</a:t>
            </a:r>
            <a:r>
              <a:rPr dirty="0" sz="1800" spc="-4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1800" spc="-10">
                <a:solidFill>
                  <a:srgbClr val="514743"/>
                </a:solidFill>
                <a:latin typeface="Times New Roman"/>
                <a:cs typeface="Times New Roman"/>
              </a:rPr>
              <a:t>controller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7172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195" b="1">
                <a:latin typeface="Times New Roman"/>
                <a:cs typeface="Times New Roman"/>
              </a:rPr>
              <a:t>RESULTS: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1181" y="1769110"/>
            <a:ext cx="8448040" cy="3684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13360" indent="-205104">
              <a:lnSpc>
                <a:spcPct val="100000"/>
              </a:lnSpc>
              <a:spcBef>
                <a:spcPts val="105"/>
              </a:spcBef>
              <a:buSzPct val="95000"/>
              <a:buFont typeface="Wingdings"/>
              <a:buChar char=""/>
              <a:tabLst>
                <a:tab pos="213360" algn="l"/>
              </a:tabLst>
            </a:pP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High</a:t>
            </a:r>
            <a:r>
              <a:rPr dirty="0" sz="2000" spc="-12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Accuracy:</a:t>
            </a:r>
            <a:r>
              <a:rPr dirty="0" sz="2000" spc="-14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Achieved</a:t>
            </a:r>
            <a:r>
              <a:rPr dirty="0" sz="2000" spc="-3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a</a:t>
            </a:r>
            <a:r>
              <a:rPr dirty="0" sz="2000" spc="-1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classification</a:t>
            </a:r>
            <a:r>
              <a:rPr dirty="0" sz="2000" spc="-4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accuracy</a:t>
            </a:r>
            <a:r>
              <a:rPr dirty="0" sz="2000" spc="-1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of</a:t>
            </a:r>
            <a:r>
              <a:rPr dirty="0" sz="2000" spc="-2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over</a:t>
            </a:r>
            <a:r>
              <a:rPr dirty="0" sz="2000" spc="-3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 spc="-20">
                <a:solidFill>
                  <a:srgbClr val="514743"/>
                </a:solidFill>
                <a:latin typeface="Times New Roman"/>
                <a:cs typeface="Times New Roman"/>
              </a:rPr>
              <a:t>95%.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Clr>
                <a:srgbClr val="514743"/>
              </a:buClr>
              <a:buFont typeface="Wingdings"/>
              <a:buChar char=""/>
            </a:pPr>
            <a:endParaRPr sz="2000">
              <a:latin typeface="Times New Roman"/>
              <a:cs typeface="Times New Roman"/>
            </a:endParaRPr>
          </a:p>
          <a:p>
            <a:pPr marL="339725" indent="-327025">
              <a:lnSpc>
                <a:spcPct val="100000"/>
              </a:lnSpc>
              <a:spcBef>
                <a:spcPts val="5"/>
              </a:spcBef>
              <a:buSzPct val="95000"/>
              <a:buFont typeface="Wingdings"/>
              <a:buChar char=""/>
              <a:tabLst>
                <a:tab pos="339725" algn="l"/>
              </a:tabLst>
            </a:pP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Processing</a:t>
            </a:r>
            <a:r>
              <a:rPr dirty="0" sz="2000" spc="-3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Speed:</a:t>
            </a:r>
            <a:r>
              <a:rPr dirty="0" sz="2000" spc="-1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0.6</a:t>
            </a:r>
            <a:r>
              <a:rPr dirty="0" sz="2000" spc="-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to</a:t>
            </a:r>
            <a:r>
              <a:rPr dirty="0" sz="2000" spc="-1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1.0</a:t>
            </a:r>
            <a:r>
              <a:rPr dirty="0" sz="2000" spc="-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seconds</a:t>
            </a:r>
            <a:r>
              <a:rPr dirty="0" sz="2000" spc="-2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per</a:t>
            </a:r>
            <a:r>
              <a:rPr dirty="0" sz="2000" spc="-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514743"/>
                </a:solidFill>
                <a:latin typeface="Times New Roman"/>
                <a:cs typeface="Times New Roman"/>
              </a:rPr>
              <a:t>frame.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Clr>
                <a:srgbClr val="514743"/>
              </a:buClr>
              <a:buFont typeface="Wingdings"/>
              <a:buChar char=""/>
            </a:pPr>
            <a:endParaRPr sz="2000">
              <a:latin typeface="Times New Roman"/>
              <a:cs typeface="Times New Roman"/>
            </a:endParaRPr>
          </a:p>
          <a:p>
            <a:pPr marL="213360" indent="-205104">
              <a:lnSpc>
                <a:spcPct val="100000"/>
              </a:lnSpc>
              <a:buSzPct val="95000"/>
              <a:buFont typeface="Wingdings"/>
              <a:buChar char=""/>
              <a:tabLst>
                <a:tab pos="213360" algn="l"/>
              </a:tabLst>
            </a:pP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Autonomous</a:t>
            </a:r>
            <a:r>
              <a:rPr dirty="0" sz="2000" spc="-5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Operation:</a:t>
            </a:r>
            <a:r>
              <a:rPr dirty="0" sz="2000" spc="-5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Full</a:t>
            </a:r>
            <a:r>
              <a:rPr dirty="0" sz="2000" spc="-2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end-</a:t>
            </a:r>
            <a:r>
              <a:rPr dirty="0" sz="2000" spc="-10">
                <a:solidFill>
                  <a:srgbClr val="514743"/>
                </a:solidFill>
                <a:latin typeface="Times New Roman"/>
                <a:cs typeface="Times New Roman"/>
              </a:rPr>
              <a:t>to-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end</a:t>
            </a:r>
            <a:r>
              <a:rPr dirty="0" sz="2000" spc="-4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solution</a:t>
            </a:r>
            <a:r>
              <a:rPr dirty="0" sz="2000" spc="-3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without</a:t>
            </a:r>
            <a:r>
              <a:rPr dirty="0" sz="2000" spc="-4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human </a:t>
            </a:r>
            <a:r>
              <a:rPr dirty="0" sz="2000" spc="-10">
                <a:solidFill>
                  <a:srgbClr val="514743"/>
                </a:solidFill>
                <a:latin typeface="Times New Roman"/>
                <a:cs typeface="Times New Roman"/>
              </a:rPr>
              <a:t>intervention.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Clr>
                <a:srgbClr val="514743"/>
              </a:buClr>
              <a:buFont typeface="Wingdings"/>
              <a:buChar char=""/>
            </a:pPr>
            <a:endParaRPr sz="2000">
              <a:latin typeface="Times New Roman"/>
              <a:cs typeface="Times New Roman"/>
            </a:endParaRPr>
          </a:p>
          <a:p>
            <a:pPr marL="339725" indent="-327025">
              <a:lnSpc>
                <a:spcPct val="100000"/>
              </a:lnSpc>
              <a:buSzPct val="95000"/>
              <a:buFont typeface="Wingdings"/>
              <a:buChar char=""/>
              <a:tabLst>
                <a:tab pos="339725" algn="l"/>
              </a:tabLst>
            </a:pP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Interactive</a:t>
            </a:r>
            <a:r>
              <a:rPr dirty="0" sz="2000" spc="-4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UI:</a:t>
            </a:r>
            <a:r>
              <a:rPr dirty="0" sz="2000" spc="-1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Live video</a:t>
            </a:r>
            <a:r>
              <a:rPr dirty="0" sz="2000" spc="-2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feed</a:t>
            </a:r>
            <a:r>
              <a:rPr dirty="0" sz="2000" spc="-1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displaying</a:t>
            </a:r>
            <a:r>
              <a:rPr dirty="0" sz="2000" spc="-2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predicted</a:t>
            </a:r>
            <a:r>
              <a:rPr dirty="0" sz="2000" spc="-3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type</a:t>
            </a:r>
            <a:r>
              <a:rPr dirty="0" sz="2000" spc="-1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and confidence</a:t>
            </a:r>
            <a:r>
              <a:rPr dirty="0" sz="2000" spc="-3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514743"/>
                </a:solidFill>
                <a:latin typeface="Times New Roman"/>
                <a:cs typeface="Times New Roman"/>
              </a:rPr>
              <a:t>levels.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Clr>
                <a:srgbClr val="514743"/>
              </a:buClr>
              <a:buFont typeface="Wingdings"/>
              <a:buChar char=""/>
            </a:pPr>
            <a:endParaRPr sz="2000">
              <a:latin typeface="Times New Roman"/>
              <a:cs typeface="Times New Roman"/>
            </a:endParaRPr>
          </a:p>
          <a:p>
            <a:pPr marL="213360" indent="-204470">
              <a:lnSpc>
                <a:spcPct val="100000"/>
              </a:lnSpc>
              <a:buSzPct val="95000"/>
              <a:buFont typeface="Wingdings"/>
              <a:buChar char=""/>
              <a:tabLst>
                <a:tab pos="213360" algn="l"/>
              </a:tabLst>
            </a:pPr>
            <a:r>
              <a:rPr dirty="0" sz="2000" spc="-10">
                <a:solidFill>
                  <a:srgbClr val="514743"/>
                </a:solidFill>
                <a:latin typeface="Times New Roman"/>
                <a:cs typeface="Times New Roman"/>
              </a:rPr>
              <a:t>Mechanical</a:t>
            </a:r>
            <a:r>
              <a:rPr dirty="0" sz="2000" spc="-6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514743"/>
                </a:solidFill>
                <a:latin typeface="Times New Roman"/>
                <a:cs typeface="Times New Roman"/>
              </a:rPr>
              <a:t>Actions:</a:t>
            </a:r>
            <a:endParaRPr sz="20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469265" algn="l"/>
              </a:tabLst>
            </a:pP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Dry</a:t>
            </a:r>
            <a:r>
              <a:rPr dirty="0" sz="2000" spc="-6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 spc="-20">
                <a:solidFill>
                  <a:srgbClr val="514743"/>
                </a:solidFill>
                <a:latin typeface="Times New Roman"/>
                <a:cs typeface="Times New Roman"/>
              </a:rPr>
              <a:t>Waste:</a:t>
            </a:r>
            <a:r>
              <a:rPr dirty="0" sz="2000" spc="-4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Flap</a:t>
            </a:r>
            <a:r>
              <a:rPr dirty="0" sz="2000" spc="-2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moves</a:t>
            </a:r>
            <a:r>
              <a:rPr dirty="0" sz="2000" spc="-1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90</a:t>
            </a:r>
            <a:r>
              <a:rPr dirty="0" sz="2000" spc="-3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-</a:t>
            </a:r>
            <a:r>
              <a:rPr dirty="0" sz="2000" spc="-1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 spc="-25">
                <a:solidFill>
                  <a:srgbClr val="514743"/>
                </a:solidFill>
                <a:latin typeface="Times New Roman"/>
                <a:cs typeface="Times New Roman"/>
              </a:rPr>
              <a:t>45.</a:t>
            </a:r>
            <a:endParaRPr sz="2000">
              <a:latin typeface="Times New Roman"/>
              <a:cs typeface="Times New Roman"/>
            </a:endParaRPr>
          </a:p>
          <a:p>
            <a:pPr marL="528955" indent="-516255">
              <a:lnSpc>
                <a:spcPct val="100000"/>
              </a:lnSpc>
              <a:buAutoNum type="arabicPeriod"/>
              <a:tabLst>
                <a:tab pos="528955" algn="l"/>
              </a:tabLst>
            </a:pPr>
            <a:r>
              <a:rPr dirty="0" sz="2000" spc="-45">
                <a:solidFill>
                  <a:srgbClr val="514743"/>
                </a:solidFill>
                <a:latin typeface="Times New Roman"/>
                <a:cs typeface="Times New Roman"/>
              </a:rPr>
              <a:t>Wet</a:t>
            </a:r>
            <a:r>
              <a:rPr dirty="0" sz="2000" spc="-8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 spc="-20">
                <a:solidFill>
                  <a:srgbClr val="514743"/>
                </a:solidFill>
                <a:latin typeface="Times New Roman"/>
                <a:cs typeface="Times New Roman"/>
              </a:rPr>
              <a:t>Waste:</a:t>
            </a:r>
            <a:r>
              <a:rPr dirty="0" sz="2000" spc="-5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Flap</a:t>
            </a:r>
            <a:r>
              <a:rPr dirty="0" sz="2000" spc="-2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moves</a:t>
            </a:r>
            <a:r>
              <a:rPr dirty="0" sz="2000" spc="-2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90</a:t>
            </a:r>
            <a:r>
              <a:rPr dirty="0" sz="2000" spc="-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-</a:t>
            </a:r>
            <a:r>
              <a:rPr dirty="0" sz="2000" spc="-1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 spc="-20">
                <a:solidFill>
                  <a:srgbClr val="514743"/>
                </a:solidFill>
                <a:latin typeface="Times New Roman"/>
                <a:cs typeface="Times New Roman"/>
              </a:rPr>
              <a:t>135.</a:t>
            </a:r>
            <a:endParaRPr sz="200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buAutoNum type="arabicPeriod"/>
              <a:tabLst>
                <a:tab pos="469265" algn="l"/>
              </a:tabLst>
            </a:pPr>
            <a:r>
              <a:rPr dirty="0" sz="2000" spc="-10">
                <a:solidFill>
                  <a:srgbClr val="514743"/>
                </a:solidFill>
                <a:latin typeface="Times New Roman"/>
                <a:cs typeface="Times New Roman"/>
              </a:rPr>
              <a:t>E-Waste/Haz:</a:t>
            </a:r>
            <a:r>
              <a:rPr dirty="0" sz="2000" spc="-5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Bottom</a:t>
            </a:r>
            <a:r>
              <a:rPr dirty="0" sz="2000" spc="-4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motor</a:t>
            </a:r>
            <a:r>
              <a:rPr dirty="0" sz="2000" spc="-1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aligns</a:t>
            </a:r>
            <a:r>
              <a:rPr dirty="0" sz="2000" spc="-5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bin</a:t>
            </a:r>
            <a:r>
              <a:rPr dirty="0" sz="2000" spc="-2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at</a:t>
            </a:r>
            <a:r>
              <a:rPr dirty="0" sz="2000" spc="-3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 spc="-25">
                <a:solidFill>
                  <a:srgbClr val="514743"/>
                </a:solidFill>
                <a:latin typeface="Times New Roman"/>
                <a:cs typeface="Times New Roman"/>
              </a:rPr>
              <a:t>90.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366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95" b="1">
                <a:latin typeface="Times New Roman"/>
                <a:cs typeface="Times New Roman"/>
              </a:rPr>
              <a:t>RESULTS: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92200" y="1601470"/>
            <a:ext cx="8554085" cy="82676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514743"/>
                </a:solidFill>
                <a:latin typeface="Arial"/>
                <a:cs typeface="Arial"/>
              </a:rPr>
              <a:t>Detection</a:t>
            </a:r>
            <a:r>
              <a:rPr dirty="0" sz="2000" spc="12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2000" spc="80">
                <a:solidFill>
                  <a:srgbClr val="514743"/>
                </a:solidFill>
                <a:latin typeface="Arial"/>
                <a:cs typeface="Arial"/>
              </a:rPr>
              <a:t>of</a:t>
            </a:r>
            <a:r>
              <a:rPr dirty="0" sz="2000" spc="175">
                <a:solidFill>
                  <a:srgbClr val="514743"/>
                </a:solidFill>
                <a:latin typeface="Arial"/>
                <a:cs typeface="Arial"/>
              </a:rPr>
              <a:t> </a:t>
            </a:r>
            <a:r>
              <a:rPr dirty="0" sz="2000" spc="-20">
                <a:solidFill>
                  <a:srgbClr val="514743"/>
                </a:solidFill>
                <a:latin typeface="Arial"/>
                <a:cs typeface="Arial"/>
              </a:rPr>
              <a:t>waste</a:t>
            </a:r>
            <a:endParaRPr sz="20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1500"/>
              </a:spcBef>
              <a:buFont typeface="Wingdings"/>
              <a:buChar char=""/>
              <a:tabLst>
                <a:tab pos="241300" algn="l"/>
              </a:tabLst>
            </a:pP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Classification</a:t>
            </a:r>
            <a:r>
              <a:rPr dirty="0" sz="2000" spc="-5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Categories:</a:t>
            </a:r>
            <a:r>
              <a:rPr dirty="0" sz="2000" spc="-5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Dry</a:t>
            </a:r>
            <a:r>
              <a:rPr dirty="0" sz="2000" spc="-6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 spc="-25">
                <a:solidFill>
                  <a:srgbClr val="514743"/>
                </a:solidFill>
                <a:latin typeface="Times New Roman"/>
                <a:cs typeface="Times New Roman"/>
              </a:rPr>
              <a:t>Waste,</a:t>
            </a:r>
            <a:r>
              <a:rPr dirty="0" sz="2000" spc="-8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 spc="-45">
                <a:solidFill>
                  <a:srgbClr val="514743"/>
                </a:solidFill>
                <a:latin typeface="Times New Roman"/>
                <a:cs typeface="Times New Roman"/>
              </a:rPr>
              <a:t>Wet</a:t>
            </a:r>
            <a:r>
              <a:rPr dirty="0" sz="2000" spc="-8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 spc="-20">
                <a:solidFill>
                  <a:srgbClr val="514743"/>
                </a:solidFill>
                <a:latin typeface="Times New Roman"/>
                <a:cs typeface="Times New Roman"/>
              </a:rPr>
              <a:t>Waste,</a:t>
            </a:r>
            <a:r>
              <a:rPr dirty="0" sz="2000" spc="-4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514743"/>
                </a:solidFill>
                <a:latin typeface="Times New Roman"/>
                <a:cs typeface="Times New Roman"/>
              </a:rPr>
              <a:t>E-</a:t>
            </a:r>
            <a:r>
              <a:rPr dirty="0" sz="2000" spc="-20">
                <a:solidFill>
                  <a:srgbClr val="514743"/>
                </a:solidFill>
                <a:latin typeface="Times New Roman"/>
                <a:cs typeface="Times New Roman"/>
              </a:rPr>
              <a:t>Waste,</a:t>
            </a:r>
            <a:r>
              <a:rPr dirty="0" sz="2000" spc="-4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and</a:t>
            </a:r>
            <a:r>
              <a:rPr dirty="0" sz="2000" spc="-2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Hazardous</a:t>
            </a:r>
            <a:r>
              <a:rPr dirty="0" sz="2000" spc="-9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514743"/>
                </a:solidFill>
                <a:latin typeface="Times New Roman"/>
                <a:cs typeface="Times New Roman"/>
              </a:rPr>
              <a:t>Waste.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5363" y="2547237"/>
            <a:ext cx="6914006" cy="423455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311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92200" y="1593850"/>
            <a:ext cx="9682480" cy="44469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514743"/>
                </a:solidFill>
                <a:latin typeface="Times New Roman"/>
                <a:cs typeface="Times New Roman"/>
              </a:rPr>
              <a:t>Classification</a:t>
            </a:r>
            <a:r>
              <a:rPr dirty="0" sz="2000" spc="-30" b="1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514743"/>
                </a:solidFill>
                <a:latin typeface="Times New Roman"/>
                <a:cs typeface="Times New Roman"/>
              </a:rPr>
              <a:t>Success</a:t>
            </a:r>
            <a:r>
              <a:rPr dirty="0" sz="2000" spc="-114" b="1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514743"/>
                </a:solidFill>
                <a:latin typeface="Times New Roman"/>
                <a:cs typeface="Times New Roman"/>
              </a:rPr>
              <a:t>Automated</a:t>
            </a:r>
            <a:endParaRPr sz="2000">
              <a:latin typeface="Times New Roman"/>
              <a:cs typeface="Times New Roman"/>
            </a:endParaRPr>
          </a:p>
          <a:p>
            <a:pPr marL="241300" marR="5080" indent="-229235">
              <a:lnSpc>
                <a:spcPts val="2160"/>
              </a:lnSpc>
              <a:spcBef>
                <a:spcPts val="1835"/>
              </a:spcBef>
              <a:buFont typeface="Wingdings"/>
              <a:buChar char=""/>
              <a:tabLst>
                <a:tab pos="241300" algn="l"/>
              </a:tabLst>
            </a:pP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The</a:t>
            </a:r>
            <a:r>
              <a:rPr dirty="0" sz="2000" spc="-1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project</a:t>
            </a:r>
            <a:r>
              <a:rPr dirty="0" sz="2000" spc="-6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successfully</a:t>
            </a:r>
            <a:r>
              <a:rPr dirty="0" sz="2000" spc="-4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demonstrated</a:t>
            </a:r>
            <a:r>
              <a:rPr dirty="0" sz="2000" spc="-3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an</a:t>
            </a:r>
            <a:r>
              <a:rPr dirty="0" sz="2000" spc="-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automated</a:t>
            </a:r>
            <a:r>
              <a:rPr dirty="0" sz="2000" spc="-2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trash</a:t>
            </a:r>
            <a:r>
              <a:rPr dirty="0" sz="2000" spc="-2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sorting</a:t>
            </a:r>
            <a:r>
              <a:rPr dirty="0" sz="2000" spc="-4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system</a:t>
            </a:r>
            <a:r>
              <a:rPr dirty="0" sz="2000" spc="-3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using</a:t>
            </a:r>
            <a:r>
              <a:rPr dirty="0" sz="2000" spc="-13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AI</a:t>
            </a:r>
            <a:r>
              <a:rPr dirty="0" sz="2000" spc="-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and</a:t>
            </a:r>
            <a:r>
              <a:rPr dirty="0" sz="2000" spc="-20">
                <a:solidFill>
                  <a:srgbClr val="514743"/>
                </a:solidFill>
                <a:latin typeface="Times New Roman"/>
                <a:cs typeface="Times New Roman"/>
              </a:rPr>
              <a:t> CNN,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capable</a:t>
            </a:r>
            <a:r>
              <a:rPr dirty="0" sz="2000" spc="-4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of</a:t>
            </a:r>
            <a:r>
              <a:rPr dirty="0" sz="2000" spc="-2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classifying</a:t>
            </a:r>
            <a:r>
              <a:rPr dirty="0" sz="2000" spc="-3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waste</a:t>
            </a:r>
            <a:r>
              <a:rPr dirty="0" sz="2000" spc="-2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into</a:t>
            </a:r>
            <a:r>
              <a:rPr dirty="0" sz="2000" spc="-3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multiple</a:t>
            </a:r>
            <a:r>
              <a:rPr dirty="0" sz="2000" spc="-3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categories</a:t>
            </a:r>
            <a:r>
              <a:rPr dirty="0" sz="2000" spc="-4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with</a:t>
            </a:r>
            <a:r>
              <a:rPr dirty="0" sz="2000" spc="-3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high</a:t>
            </a:r>
            <a:r>
              <a:rPr dirty="0" sz="2000" spc="-2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514743"/>
                </a:solidFill>
                <a:latin typeface="Times New Roman"/>
                <a:cs typeface="Times New Roman"/>
              </a:rPr>
              <a:t>accuracy.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25"/>
              </a:spcBef>
            </a:pPr>
            <a:r>
              <a:rPr dirty="0" sz="2000" b="1">
                <a:solidFill>
                  <a:srgbClr val="514743"/>
                </a:solidFill>
                <a:latin typeface="Times New Roman"/>
                <a:cs typeface="Times New Roman"/>
              </a:rPr>
              <a:t>Efficient</a:t>
            </a:r>
            <a:r>
              <a:rPr dirty="0" sz="2000" spc="-20" b="1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514743"/>
                </a:solidFill>
                <a:latin typeface="Times New Roman"/>
                <a:cs typeface="Times New Roman"/>
              </a:rPr>
              <a:t>Dual-Controller</a:t>
            </a:r>
            <a:r>
              <a:rPr dirty="0" sz="2000" spc="-55" b="1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 spc="-10" b="1">
                <a:solidFill>
                  <a:srgbClr val="514743"/>
                </a:solidFill>
                <a:latin typeface="Times New Roman"/>
                <a:cs typeface="Times New Roman"/>
              </a:rPr>
              <a:t>Integration</a:t>
            </a:r>
            <a:endParaRPr sz="2000">
              <a:latin typeface="Times New Roman"/>
              <a:cs typeface="Times New Roman"/>
            </a:endParaRPr>
          </a:p>
          <a:p>
            <a:pPr marL="240665" indent="-227965">
              <a:lnSpc>
                <a:spcPts val="2280"/>
              </a:lnSpc>
              <a:spcBef>
                <a:spcPts val="1560"/>
              </a:spcBef>
              <a:buFont typeface="Wingdings"/>
              <a:buChar char=""/>
              <a:tabLst>
                <a:tab pos="240665" algn="l"/>
              </a:tabLst>
            </a:pP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The</a:t>
            </a:r>
            <a:r>
              <a:rPr dirty="0" sz="2000" spc="-3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integration</a:t>
            </a:r>
            <a:r>
              <a:rPr dirty="0" sz="2000" spc="-4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of</a:t>
            </a:r>
            <a:r>
              <a:rPr dirty="0" sz="2000" spc="-2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Raspberry</a:t>
            </a:r>
            <a:r>
              <a:rPr dirty="0" sz="2000" spc="-4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Pi</a:t>
            </a:r>
            <a:r>
              <a:rPr dirty="0" sz="2000" spc="-2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for</a:t>
            </a:r>
            <a:r>
              <a:rPr dirty="0" sz="2000" spc="-14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AI</a:t>
            </a:r>
            <a:r>
              <a:rPr dirty="0" sz="2000" spc="-1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processing</a:t>
            </a:r>
            <a:r>
              <a:rPr dirty="0" sz="2000" spc="-5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and</a:t>
            </a:r>
            <a:r>
              <a:rPr dirty="0" sz="2000" spc="-12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Arduino</a:t>
            </a:r>
            <a:r>
              <a:rPr dirty="0" sz="2000" spc="-5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UNO</a:t>
            </a:r>
            <a:r>
              <a:rPr dirty="0" sz="2000" spc="-1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for</a:t>
            </a:r>
            <a:r>
              <a:rPr dirty="0" sz="2000" spc="-2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actuation</a:t>
            </a:r>
            <a:r>
              <a:rPr dirty="0" sz="2000" spc="-3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514743"/>
                </a:solidFill>
                <a:latin typeface="Times New Roman"/>
                <a:cs typeface="Times New Roman"/>
              </a:rPr>
              <a:t>control</a:t>
            </a:r>
            <a:endParaRPr sz="2000">
              <a:latin typeface="Times New Roman"/>
              <a:cs typeface="Times New Roman"/>
            </a:endParaRPr>
          </a:p>
          <a:p>
            <a:pPr marL="241300">
              <a:lnSpc>
                <a:spcPts val="2280"/>
              </a:lnSpc>
            </a:pP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proved</a:t>
            </a:r>
            <a:r>
              <a:rPr dirty="0" sz="2000" spc="-4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to</a:t>
            </a:r>
            <a:r>
              <a:rPr dirty="0" sz="2000" spc="-1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be efficient</a:t>
            </a:r>
            <a:r>
              <a:rPr dirty="0" sz="2000" spc="-3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and </a:t>
            </a:r>
            <a:r>
              <a:rPr dirty="0" sz="2000" spc="-10">
                <a:solidFill>
                  <a:srgbClr val="514743"/>
                </a:solidFill>
                <a:latin typeface="Times New Roman"/>
                <a:cs typeface="Times New Roman"/>
              </a:rPr>
              <a:t>cost-effective.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dirty="0" sz="2000" spc="-10" b="1">
                <a:solidFill>
                  <a:srgbClr val="514743"/>
                </a:solidFill>
                <a:latin typeface="Times New Roman"/>
                <a:cs typeface="Times New Roman"/>
              </a:rPr>
              <a:t>Multi-</a:t>
            </a:r>
            <a:r>
              <a:rPr dirty="0" sz="2000" b="1">
                <a:solidFill>
                  <a:srgbClr val="514743"/>
                </a:solidFill>
                <a:latin typeface="Times New Roman"/>
                <a:cs typeface="Times New Roman"/>
              </a:rPr>
              <a:t>Category </a:t>
            </a:r>
            <a:r>
              <a:rPr dirty="0" sz="2000" spc="-10" b="1">
                <a:solidFill>
                  <a:srgbClr val="514743"/>
                </a:solidFill>
                <a:latin typeface="Times New Roman"/>
                <a:cs typeface="Times New Roman"/>
              </a:rPr>
              <a:t>Reliability</a:t>
            </a:r>
            <a:endParaRPr sz="2000">
              <a:latin typeface="Times New Roman"/>
              <a:cs typeface="Times New Roman"/>
            </a:endParaRPr>
          </a:p>
          <a:p>
            <a:pPr marL="241300" indent="-228600">
              <a:lnSpc>
                <a:spcPts val="2280"/>
              </a:lnSpc>
              <a:spcBef>
                <a:spcPts val="1560"/>
              </a:spcBef>
              <a:buFont typeface="Wingdings"/>
              <a:buChar char=""/>
              <a:tabLst>
                <a:tab pos="241300" algn="l"/>
              </a:tabLst>
            </a:pP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The</a:t>
            </a:r>
            <a:r>
              <a:rPr dirty="0" sz="2000" spc="-2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CNN</a:t>
            </a:r>
            <a:r>
              <a:rPr dirty="0" sz="2000" spc="-2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model</a:t>
            </a:r>
            <a:r>
              <a:rPr dirty="0" sz="2000" spc="-4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achieved</a:t>
            </a:r>
            <a:r>
              <a:rPr dirty="0" sz="2000" spc="-5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reliable</a:t>
            </a:r>
            <a:r>
              <a:rPr dirty="0" sz="2000" spc="-4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performance</a:t>
            </a:r>
            <a:r>
              <a:rPr dirty="0" sz="2000" spc="-6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in</a:t>
            </a:r>
            <a:r>
              <a:rPr dirty="0" sz="2000" spc="-3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identifying</a:t>
            </a:r>
            <a:r>
              <a:rPr dirty="0" sz="2000" spc="-6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 spc="-20">
                <a:solidFill>
                  <a:srgbClr val="514743"/>
                </a:solidFill>
                <a:latin typeface="Times New Roman"/>
                <a:cs typeface="Times New Roman"/>
              </a:rPr>
              <a:t>Dry,</a:t>
            </a:r>
            <a:r>
              <a:rPr dirty="0" sz="2000" spc="-6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 spc="-20">
                <a:solidFill>
                  <a:srgbClr val="514743"/>
                </a:solidFill>
                <a:latin typeface="Times New Roman"/>
                <a:cs typeface="Times New Roman"/>
              </a:rPr>
              <a:t>Wet,</a:t>
            </a:r>
            <a:r>
              <a:rPr dirty="0" sz="2000" spc="-5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E-</a:t>
            </a:r>
            <a:r>
              <a:rPr dirty="0" sz="2000" spc="-20">
                <a:solidFill>
                  <a:srgbClr val="514743"/>
                </a:solidFill>
                <a:latin typeface="Times New Roman"/>
                <a:cs typeface="Times New Roman"/>
              </a:rPr>
              <a:t>Waste,</a:t>
            </a:r>
            <a:r>
              <a:rPr dirty="0" sz="2000" spc="-6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 spc="-25">
                <a:solidFill>
                  <a:srgbClr val="514743"/>
                </a:solidFill>
                <a:latin typeface="Times New Roman"/>
                <a:cs typeface="Times New Roman"/>
              </a:rPr>
              <a:t>and</a:t>
            </a:r>
            <a:endParaRPr sz="2000">
              <a:latin typeface="Times New Roman"/>
              <a:cs typeface="Times New Roman"/>
            </a:endParaRPr>
          </a:p>
          <a:p>
            <a:pPr marL="241300">
              <a:lnSpc>
                <a:spcPts val="2280"/>
              </a:lnSpc>
            </a:pP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Hazardous</a:t>
            </a:r>
            <a:r>
              <a:rPr dirty="0" sz="2000" spc="-4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514743"/>
                </a:solidFill>
                <a:latin typeface="Times New Roman"/>
                <a:cs typeface="Times New Roman"/>
              </a:rPr>
              <a:t>waste.</a:t>
            </a:r>
            <a:endParaRPr sz="2000">
              <a:latin typeface="Times New Roman"/>
              <a:cs typeface="Times New Roman"/>
            </a:endParaRPr>
          </a:p>
          <a:p>
            <a:pPr marL="12700" marR="194945">
              <a:lnSpc>
                <a:spcPts val="2160"/>
              </a:lnSpc>
              <a:spcBef>
                <a:spcPts val="1835"/>
              </a:spcBef>
            </a:pP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The</a:t>
            </a:r>
            <a:r>
              <a:rPr dirty="0" sz="2000" spc="-2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model</a:t>
            </a:r>
            <a:r>
              <a:rPr dirty="0" sz="2000" spc="-2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is</a:t>
            </a:r>
            <a:r>
              <a:rPr dirty="0" sz="2000" spc="-2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highly</a:t>
            </a:r>
            <a:r>
              <a:rPr dirty="0" sz="2000" spc="-3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effective</a:t>
            </a:r>
            <a:r>
              <a:rPr dirty="0" sz="2000" spc="-4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for</a:t>
            </a:r>
            <a:r>
              <a:rPr dirty="0" sz="2000" spc="-3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514743"/>
                </a:solidFill>
                <a:latin typeface="Times New Roman"/>
                <a:cs typeface="Times New Roman"/>
              </a:rPr>
              <a:t>real-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world</a:t>
            </a:r>
            <a:r>
              <a:rPr dirty="0" sz="2000" spc="-5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deployment,</a:t>
            </a:r>
            <a:r>
              <a:rPr dirty="0" sz="2000" spc="-2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providing</a:t>
            </a:r>
            <a:r>
              <a:rPr dirty="0" sz="2000" spc="-4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a</a:t>
            </a:r>
            <a:r>
              <a:rPr dirty="0" sz="2000" spc="-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dependable</a:t>
            </a:r>
            <a:r>
              <a:rPr dirty="0" sz="2000" spc="-4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solution</a:t>
            </a:r>
            <a:r>
              <a:rPr dirty="0" sz="2000" spc="-4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 spc="-25">
                <a:solidFill>
                  <a:srgbClr val="514743"/>
                </a:solidFill>
                <a:latin typeface="Times New Roman"/>
                <a:cs typeface="Times New Roman"/>
              </a:rPr>
              <a:t>for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automated</a:t>
            </a:r>
            <a:r>
              <a:rPr dirty="0" sz="2000" spc="-2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waste</a:t>
            </a:r>
            <a:r>
              <a:rPr dirty="0" sz="2000" spc="-10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segregation</a:t>
            </a:r>
            <a:r>
              <a:rPr dirty="0" sz="2000" spc="-4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and</a:t>
            </a:r>
            <a:r>
              <a:rPr dirty="0" sz="2000" spc="-1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514743"/>
                </a:solidFill>
                <a:latin typeface="Times New Roman"/>
                <a:cs typeface="Times New Roman"/>
              </a:rPr>
              <a:t>environmental</a:t>
            </a:r>
            <a:r>
              <a:rPr dirty="0" sz="2000" spc="-45">
                <a:solidFill>
                  <a:srgbClr val="514743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514743"/>
                </a:solidFill>
                <a:latin typeface="Times New Roman"/>
                <a:cs typeface="Times New Roman"/>
              </a:rPr>
              <a:t>management.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92200" y="659384"/>
            <a:ext cx="261620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484755" algn="l"/>
              </a:tabLst>
            </a:pPr>
            <a:r>
              <a:rPr dirty="0" spc="105" b="1">
                <a:latin typeface="Times New Roman"/>
                <a:cs typeface="Times New Roman"/>
              </a:rPr>
              <a:t>REFERENCE</a:t>
            </a:r>
            <a:r>
              <a:rPr dirty="0" b="1">
                <a:latin typeface="Times New Roman"/>
                <a:cs typeface="Times New Roman"/>
              </a:rPr>
              <a:t>	</a:t>
            </a:r>
            <a:r>
              <a:rPr dirty="0" spc="-50" b="1">
                <a:latin typeface="Times New Roman"/>
                <a:cs typeface="Times New Roman"/>
              </a:rPr>
              <a:t>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73660" rIns="0" bIns="0" rtlCol="0" vert="horz">
            <a:spAutoFit/>
          </a:bodyPr>
          <a:lstStyle/>
          <a:p>
            <a:pPr marL="241300" marR="5080" indent="-229235">
              <a:lnSpc>
                <a:spcPct val="80100"/>
              </a:lnSpc>
              <a:spcBef>
                <a:spcPts val="580"/>
              </a:spcBef>
              <a:buFont typeface="Wingdings"/>
              <a:buChar char=""/>
              <a:tabLst>
                <a:tab pos="241300" algn="l"/>
              </a:tabLst>
            </a:pPr>
            <a:r>
              <a:rPr dirty="0"/>
              <a:t>1.</a:t>
            </a:r>
            <a:r>
              <a:rPr dirty="0" spc="-40"/>
              <a:t> </a:t>
            </a:r>
            <a:r>
              <a:rPr dirty="0"/>
              <a:t>D.</a:t>
            </a:r>
            <a:r>
              <a:rPr dirty="0" spc="-25"/>
              <a:t> </a:t>
            </a:r>
            <a:r>
              <a:rPr dirty="0"/>
              <a:t>Khetarpal,</a:t>
            </a:r>
            <a:r>
              <a:rPr dirty="0" spc="-60"/>
              <a:t> </a:t>
            </a:r>
            <a:r>
              <a:rPr dirty="0"/>
              <a:t>I.</a:t>
            </a:r>
            <a:r>
              <a:rPr dirty="0" spc="-20"/>
              <a:t> </a:t>
            </a:r>
            <a:r>
              <a:rPr dirty="0"/>
              <a:t>Khetarpal,</a:t>
            </a:r>
            <a:r>
              <a:rPr dirty="0" spc="-50"/>
              <a:t> </a:t>
            </a:r>
            <a:r>
              <a:rPr dirty="0"/>
              <a:t>D.</a:t>
            </a:r>
            <a:r>
              <a:rPr dirty="0" spc="-20"/>
              <a:t> </a:t>
            </a:r>
            <a:r>
              <a:rPr dirty="0"/>
              <a:t>Rawat,</a:t>
            </a:r>
            <a:r>
              <a:rPr dirty="0" spc="-25"/>
              <a:t> </a:t>
            </a:r>
            <a:r>
              <a:rPr dirty="0"/>
              <a:t>H.</a:t>
            </a:r>
            <a:r>
              <a:rPr dirty="0" spc="-25"/>
              <a:t> </a:t>
            </a:r>
            <a:r>
              <a:rPr dirty="0"/>
              <a:t>Narang,</a:t>
            </a:r>
            <a:r>
              <a:rPr dirty="0" spc="-45"/>
              <a:t> </a:t>
            </a:r>
            <a:r>
              <a:rPr dirty="0"/>
              <a:t>S.</a:t>
            </a:r>
            <a:r>
              <a:rPr dirty="0" spc="-55"/>
              <a:t> </a:t>
            </a:r>
            <a:r>
              <a:rPr dirty="0" spc="-35"/>
              <a:t>Vats,</a:t>
            </a:r>
            <a:r>
              <a:rPr dirty="0" spc="-40"/>
              <a:t> </a:t>
            </a:r>
            <a:r>
              <a:rPr dirty="0"/>
              <a:t>and</a:t>
            </a:r>
            <a:r>
              <a:rPr dirty="0" spc="-55"/>
              <a:t> </a:t>
            </a:r>
            <a:r>
              <a:rPr dirty="0" spc="-140"/>
              <a:t>V.</a:t>
            </a:r>
            <a:r>
              <a:rPr dirty="0" spc="-20"/>
              <a:t> </a:t>
            </a:r>
            <a:r>
              <a:rPr dirty="0"/>
              <a:t>Sharma,</a:t>
            </a:r>
            <a:r>
              <a:rPr dirty="0" spc="-25"/>
              <a:t> </a:t>
            </a:r>
            <a:r>
              <a:rPr dirty="0"/>
              <a:t>"Trash</a:t>
            </a:r>
            <a:r>
              <a:rPr dirty="0" spc="-35"/>
              <a:t> </a:t>
            </a:r>
            <a:r>
              <a:rPr dirty="0" spc="-10"/>
              <a:t>Detection: </a:t>
            </a:r>
            <a:r>
              <a:rPr dirty="0"/>
              <a:t>Advanced</a:t>
            </a:r>
            <a:r>
              <a:rPr dirty="0" spc="-55"/>
              <a:t> </a:t>
            </a:r>
            <a:r>
              <a:rPr dirty="0"/>
              <a:t>Classification</a:t>
            </a:r>
            <a:r>
              <a:rPr dirty="0" spc="-50"/>
              <a:t> </a:t>
            </a:r>
            <a:r>
              <a:rPr dirty="0"/>
              <a:t>of</a:t>
            </a:r>
            <a:r>
              <a:rPr dirty="0" spc="-65"/>
              <a:t> </a:t>
            </a:r>
            <a:r>
              <a:rPr dirty="0" spc="-20"/>
              <a:t>Waste</a:t>
            </a:r>
            <a:r>
              <a:rPr dirty="0" spc="-50"/>
              <a:t> </a:t>
            </a:r>
            <a:r>
              <a:rPr dirty="0"/>
              <a:t>Materials</a:t>
            </a:r>
            <a:r>
              <a:rPr dirty="0" spc="-45"/>
              <a:t> </a:t>
            </a:r>
            <a:r>
              <a:rPr dirty="0"/>
              <a:t>Using</a:t>
            </a:r>
            <a:r>
              <a:rPr dirty="0" spc="-50"/>
              <a:t> </a:t>
            </a:r>
            <a:r>
              <a:rPr dirty="0"/>
              <a:t>ML</a:t>
            </a:r>
            <a:r>
              <a:rPr dirty="0" spc="-120"/>
              <a:t> </a:t>
            </a:r>
            <a:r>
              <a:rPr dirty="0" spc="-10"/>
              <a:t>Techniques,"</a:t>
            </a:r>
            <a:r>
              <a:rPr dirty="0" spc="-65"/>
              <a:t> </a:t>
            </a:r>
            <a:r>
              <a:rPr dirty="0"/>
              <a:t>*Graphic</a:t>
            </a:r>
            <a:r>
              <a:rPr dirty="0" spc="-60"/>
              <a:t> </a:t>
            </a:r>
            <a:r>
              <a:rPr dirty="0"/>
              <a:t>Era</a:t>
            </a:r>
            <a:r>
              <a:rPr dirty="0" spc="-40"/>
              <a:t> </a:t>
            </a:r>
            <a:r>
              <a:rPr dirty="0" spc="-20"/>
              <a:t>Hill </a:t>
            </a:r>
            <a:r>
              <a:rPr dirty="0"/>
              <a:t>University*,</a:t>
            </a:r>
            <a:r>
              <a:rPr dirty="0" spc="-50"/>
              <a:t> </a:t>
            </a:r>
            <a:r>
              <a:rPr dirty="0"/>
              <a:t>Dehradun,</a:t>
            </a:r>
            <a:r>
              <a:rPr dirty="0" spc="-55"/>
              <a:t> </a:t>
            </a:r>
            <a:r>
              <a:rPr dirty="0" spc="-25"/>
              <a:t>In</a:t>
            </a:r>
          </a:p>
          <a:p>
            <a:pPr algn="just" marL="241300" marR="34290" indent="-229235">
              <a:lnSpc>
                <a:spcPts val="1920"/>
              </a:lnSpc>
              <a:spcBef>
                <a:spcPts val="1785"/>
              </a:spcBef>
              <a:buFont typeface="Wingdings"/>
              <a:buChar char=""/>
              <a:tabLst>
                <a:tab pos="241300" algn="l"/>
              </a:tabLst>
            </a:pPr>
            <a:r>
              <a:rPr dirty="0"/>
              <a:t>2.</a:t>
            </a:r>
            <a:r>
              <a:rPr dirty="0" spc="-20"/>
              <a:t> </a:t>
            </a:r>
            <a:r>
              <a:rPr dirty="0"/>
              <a:t>S.</a:t>
            </a:r>
            <a:r>
              <a:rPr dirty="0" spc="-10"/>
              <a:t> </a:t>
            </a:r>
            <a:r>
              <a:rPr dirty="0"/>
              <a:t>Kundu,</a:t>
            </a:r>
            <a:r>
              <a:rPr dirty="0" spc="-45"/>
              <a:t> </a:t>
            </a:r>
            <a:r>
              <a:rPr dirty="0"/>
              <a:t>M.</a:t>
            </a:r>
            <a:r>
              <a:rPr dirty="0" spc="-25"/>
              <a:t> </a:t>
            </a:r>
            <a:r>
              <a:rPr dirty="0"/>
              <a:t>Shanna,</a:t>
            </a:r>
            <a:r>
              <a:rPr dirty="0" spc="-45"/>
              <a:t> </a:t>
            </a:r>
            <a:r>
              <a:rPr dirty="0"/>
              <a:t>and</a:t>
            </a:r>
            <a:r>
              <a:rPr dirty="0" spc="-120"/>
              <a:t> </a:t>
            </a:r>
            <a:r>
              <a:rPr dirty="0"/>
              <a:t>A.</a:t>
            </a:r>
            <a:r>
              <a:rPr dirty="0" spc="-15"/>
              <a:t> </a:t>
            </a:r>
            <a:r>
              <a:rPr dirty="0"/>
              <a:t>S.</a:t>
            </a:r>
            <a:r>
              <a:rPr dirty="0" spc="-10"/>
              <a:t> </a:t>
            </a:r>
            <a:r>
              <a:rPr dirty="0"/>
              <a:t>Pillai,</a:t>
            </a:r>
            <a:r>
              <a:rPr dirty="0" spc="-30"/>
              <a:t> </a:t>
            </a:r>
            <a:r>
              <a:rPr dirty="0"/>
              <a:t>“AI-Powered</a:t>
            </a:r>
            <a:r>
              <a:rPr dirty="0" spc="-90"/>
              <a:t> </a:t>
            </a:r>
            <a:r>
              <a:rPr dirty="0"/>
              <a:t>Trash</a:t>
            </a:r>
            <a:r>
              <a:rPr dirty="0" spc="-25"/>
              <a:t> </a:t>
            </a:r>
            <a:r>
              <a:rPr dirty="0"/>
              <a:t>Classification</a:t>
            </a:r>
            <a:r>
              <a:rPr dirty="0" spc="-50"/>
              <a:t> </a:t>
            </a:r>
            <a:r>
              <a:rPr dirty="0"/>
              <a:t>System</a:t>
            </a:r>
            <a:r>
              <a:rPr dirty="0" spc="-25"/>
              <a:t> </a:t>
            </a:r>
            <a:r>
              <a:rPr dirty="0"/>
              <a:t>for</a:t>
            </a:r>
            <a:r>
              <a:rPr dirty="0" spc="-40"/>
              <a:t> </a:t>
            </a:r>
            <a:r>
              <a:rPr dirty="0" spc="-10"/>
              <a:t>Lakes </a:t>
            </a:r>
            <a:r>
              <a:rPr dirty="0"/>
              <a:t>and</a:t>
            </a:r>
            <a:r>
              <a:rPr dirty="0" spc="-65"/>
              <a:t> </a:t>
            </a:r>
            <a:r>
              <a:rPr dirty="0" spc="-20"/>
              <a:t>Water</a:t>
            </a:r>
            <a:r>
              <a:rPr dirty="0" spc="-40"/>
              <a:t> </a:t>
            </a:r>
            <a:r>
              <a:rPr dirty="0"/>
              <a:t>Bodies</a:t>
            </a:r>
            <a:r>
              <a:rPr dirty="0" spc="-35"/>
              <a:t> </a:t>
            </a:r>
            <a:r>
              <a:rPr dirty="0"/>
              <a:t>Using</a:t>
            </a:r>
            <a:r>
              <a:rPr dirty="0" spc="-60"/>
              <a:t> </a:t>
            </a:r>
            <a:r>
              <a:rPr dirty="0"/>
              <a:t>Transfer</a:t>
            </a:r>
            <a:r>
              <a:rPr dirty="0" spc="-55"/>
              <a:t> </a:t>
            </a:r>
            <a:r>
              <a:rPr dirty="0"/>
              <a:t>Learning,”</a:t>
            </a:r>
            <a:r>
              <a:rPr dirty="0" spc="-55"/>
              <a:t> </a:t>
            </a:r>
            <a:r>
              <a:rPr dirty="0"/>
              <a:t>in</a:t>
            </a:r>
            <a:r>
              <a:rPr dirty="0" spc="-25"/>
              <a:t> </a:t>
            </a:r>
            <a:r>
              <a:rPr dirty="0"/>
              <a:t>Proc.</a:t>
            </a:r>
            <a:r>
              <a:rPr dirty="0" spc="-30"/>
              <a:t> </a:t>
            </a:r>
            <a:r>
              <a:rPr dirty="0"/>
              <a:t>2024</a:t>
            </a:r>
            <a:r>
              <a:rPr dirty="0" spc="-35"/>
              <a:t> </a:t>
            </a:r>
            <a:r>
              <a:rPr dirty="0"/>
              <a:t>3rd</a:t>
            </a:r>
            <a:r>
              <a:rPr dirty="0" spc="-45"/>
              <a:t> </a:t>
            </a:r>
            <a:r>
              <a:rPr dirty="0"/>
              <a:t>Int.</a:t>
            </a:r>
            <a:r>
              <a:rPr dirty="0" spc="-35"/>
              <a:t> </a:t>
            </a:r>
            <a:r>
              <a:rPr dirty="0"/>
              <a:t>Conf.</a:t>
            </a:r>
            <a:r>
              <a:rPr dirty="0" spc="-30"/>
              <a:t> </a:t>
            </a:r>
            <a:r>
              <a:rPr dirty="0"/>
              <a:t>Power,</a:t>
            </a:r>
            <a:r>
              <a:rPr dirty="0" spc="-40"/>
              <a:t> </a:t>
            </a:r>
            <a:r>
              <a:rPr dirty="0"/>
              <a:t>Control</a:t>
            </a:r>
            <a:r>
              <a:rPr dirty="0" spc="-50"/>
              <a:t> </a:t>
            </a:r>
            <a:r>
              <a:rPr dirty="0" spc="-25"/>
              <a:t>and </a:t>
            </a:r>
            <a:r>
              <a:rPr dirty="0"/>
              <a:t>Computing</a:t>
            </a:r>
            <a:r>
              <a:rPr dirty="0" spc="-75"/>
              <a:t> </a:t>
            </a:r>
            <a:r>
              <a:rPr dirty="0" spc="-10"/>
              <a:t>Technologies</a:t>
            </a:r>
            <a:r>
              <a:rPr dirty="0" spc="-55"/>
              <a:t> </a:t>
            </a:r>
            <a:r>
              <a:rPr dirty="0"/>
              <a:t>(ICPC2T),</a:t>
            </a:r>
            <a:r>
              <a:rPr dirty="0" spc="-55"/>
              <a:t> </a:t>
            </a:r>
            <a:r>
              <a:rPr dirty="0" spc="-10"/>
              <a:t>2024.</a:t>
            </a:r>
          </a:p>
          <a:p>
            <a:pPr algn="r" marL="227965" marR="559435" indent="-227965">
              <a:lnSpc>
                <a:spcPts val="2160"/>
              </a:lnSpc>
              <a:spcBef>
                <a:spcPts val="1335"/>
              </a:spcBef>
              <a:buFont typeface="Wingdings"/>
              <a:buChar char=""/>
              <a:tabLst>
                <a:tab pos="227965" algn="l"/>
              </a:tabLst>
            </a:pPr>
            <a:r>
              <a:rPr dirty="0"/>
              <a:t>3.</a:t>
            </a:r>
            <a:r>
              <a:rPr dirty="0" spc="-30"/>
              <a:t> </a:t>
            </a:r>
            <a:r>
              <a:rPr dirty="0"/>
              <a:t>U.</a:t>
            </a:r>
            <a:r>
              <a:rPr dirty="0" spc="-10"/>
              <a:t> </a:t>
            </a:r>
            <a:r>
              <a:rPr dirty="0"/>
              <a:t>L.</a:t>
            </a:r>
            <a:r>
              <a:rPr dirty="0" spc="-25"/>
              <a:t> </a:t>
            </a:r>
            <a:r>
              <a:rPr dirty="0"/>
              <a:t>M.</a:t>
            </a:r>
            <a:r>
              <a:rPr dirty="0" spc="-10"/>
              <a:t> </a:t>
            </a:r>
            <a:r>
              <a:rPr dirty="0"/>
              <a:t>Rijah</a:t>
            </a:r>
            <a:r>
              <a:rPr dirty="0" spc="-15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 spc="-114"/>
              <a:t>P.</a:t>
            </a:r>
            <a:r>
              <a:rPr dirty="0" spc="-20"/>
              <a:t> </a:t>
            </a:r>
            <a:r>
              <a:rPr dirty="0"/>
              <a:t>K.</a:t>
            </a:r>
            <a:r>
              <a:rPr dirty="0" spc="-40"/>
              <a:t> </a:t>
            </a:r>
            <a:r>
              <a:rPr dirty="0" spc="-85"/>
              <a:t>W.</a:t>
            </a:r>
            <a:r>
              <a:rPr dirty="0" spc="-135"/>
              <a:t> </a:t>
            </a:r>
            <a:r>
              <a:rPr dirty="0"/>
              <a:t>Abeygunawardhana,</a:t>
            </a:r>
            <a:r>
              <a:rPr dirty="0" spc="-50"/>
              <a:t> </a:t>
            </a:r>
            <a:r>
              <a:rPr dirty="0"/>
              <a:t>"Smart</a:t>
            </a:r>
            <a:r>
              <a:rPr dirty="0" spc="-50"/>
              <a:t> </a:t>
            </a:r>
            <a:r>
              <a:rPr dirty="0" spc="-20"/>
              <a:t>Waste</a:t>
            </a:r>
            <a:r>
              <a:rPr dirty="0" spc="-45"/>
              <a:t> </a:t>
            </a:r>
            <a:r>
              <a:rPr dirty="0"/>
              <a:t>Segregation</a:t>
            </a:r>
            <a:r>
              <a:rPr dirty="0" spc="-50"/>
              <a:t> </a:t>
            </a:r>
            <a:r>
              <a:rPr dirty="0"/>
              <a:t>for</a:t>
            </a:r>
            <a:r>
              <a:rPr dirty="0" spc="-30"/>
              <a:t> </a:t>
            </a:r>
            <a:r>
              <a:rPr dirty="0" spc="-20"/>
              <a:t>Home</a:t>
            </a:r>
          </a:p>
          <a:p>
            <a:pPr algn="r" marR="603885">
              <a:lnSpc>
                <a:spcPts val="2160"/>
              </a:lnSpc>
            </a:pPr>
            <a:r>
              <a:rPr dirty="0"/>
              <a:t>Environment,"</a:t>
            </a:r>
            <a:r>
              <a:rPr dirty="0" spc="-50"/>
              <a:t> </a:t>
            </a:r>
            <a:r>
              <a:rPr dirty="0"/>
              <a:t>Sri</a:t>
            </a:r>
            <a:r>
              <a:rPr dirty="0" spc="-35"/>
              <a:t> </a:t>
            </a:r>
            <a:r>
              <a:rPr dirty="0"/>
              <a:t>Lanka</a:t>
            </a:r>
            <a:r>
              <a:rPr dirty="0" spc="-25"/>
              <a:t> </a:t>
            </a:r>
            <a:r>
              <a:rPr dirty="0"/>
              <a:t>Institute</a:t>
            </a:r>
            <a:r>
              <a:rPr dirty="0" spc="-45"/>
              <a:t> </a:t>
            </a:r>
            <a:r>
              <a:rPr dirty="0"/>
              <a:t>of</a:t>
            </a:r>
            <a:r>
              <a:rPr dirty="0" spc="-25"/>
              <a:t> </a:t>
            </a:r>
            <a:r>
              <a:rPr dirty="0"/>
              <a:t>Information</a:t>
            </a:r>
            <a:r>
              <a:rPr dirty="0" spc="-75"/>
              <a:t> </a:t>
            </a:r>
            <a:r>
              <a:rPr dirty="0" spc="-25"/>
              <a:t>Technology,</a:t>
            </a:r>
            <a:r>
              <a:rPr dirty="0" spc="-45"/>
              <a:t> </a:t>
            </a:r>
            <a:r>
              <a:rPr dirty="0"/>
              <a:t>Malabe,</a:t>
            </a:r>
            <a:r>
              <a:rPr dirty="0" spc="-15"/>
              <a:t> </a:t>
            </a:r>
            <a:r>
              <a:rPr dirty="0"/>
              <a:t>Sri</a:t>
            </a:r>
            <a:r>
              <a:rPr dirty="0" spc="-35"/>
              <a:t> </a:t>
            </a:r>
            <a:r>
              <a:rPr dirty="0"/>
              <a:t>Lanka,</a:t>
            </a:r>
            <a:r>
              <a:rPr dirty="0" spc="-35"/>
              <a:t> </a:t>
            </a:r>
            <a:r>
              <a:rPr dirty="0" spc="-10"/>
              <a:t>2023.</a:t>
            </a:r>
          </a:p>
          <a:p>
            <a:pPr marL="241300" marR="274955" indent="-229235">
              <a:lnSpc>
                <a:spcPts val="1920"/>
              </a:lnSpc>
              <a:spcBef>
                <a:spcPts val="1785"/>
              </a:spcBef>
              <a:buFont typeface="Wingdings"/>
              <a:buChar char=""/>
              <a:tabLst>
                <a:tab pos="241300" algn="l"/>
              </a:tabLst>
            </a:pPr>
            <a:r>
              <a:rPr dirty="0"/>
              <a:t>4.</a:t>
            </a:r>
            <a:r>
              <a:rPr dirty="0" spc="-5"/>
              <a:t> </a:t>
            </a:r>
            <a:r>
              <a:rPr dirty="0"/>
              <a:t>S. Puig</a:t>
            </a:r>
            <a:r>
              <a:rPr dirty="0" spc="-10"/>
              <a:t> </a:t>
            </a:r>
            <a:r>
              <a:rPr dirty="0"/>
              <a:t>and</a:t>
            </a:r>
            <a:r>
              <a:rPr dirty="0" spc="-15"/>
              <a:t> </a:t>
            </a:r>
            <a:r>
              <a:rPr dirty="0"/>
              <a:t>N.</a:t>
            </a:r>
            <a:r>
              <a:rPr dirty="0" spc="5"/>
              <a:t> </a:t>
            </a:r>
            <a:r>
              <a:rPr dirty="0"/>
              <a:t>Foukia,</a:t>
            </a:r>
            <a:r>
              <a:rPr dirty="0" spc="-30"/>
              <a:t> </a:t>
            </a:r>
            <a:r>
              <a:rPr dirty="0" spc="-10"/>
              <a:t>"CleverTrash:</a:t>
            </a:r>
            <a:r>
              <a:rPr dirty="0" spc="-160"/>
              <a:t> </a:t>
            </a:r>
            <a:r>
              <a:rPr dirty="0"/>
              <a:t>An</a:t>
            </a:r>
            <a:r>
              <a:rPr dirty="0" spc="5"/>
              <a:t> </a:t>
            </a:r>
            <a:r>
              <a:rPr dirty="0" spc="-10"/>
              <a:t>ML-</a:t>
            </a:r>
            <a:r>
              <a:rPr dirty="0"/>
              <a:t>based</a:t>
            </a:r>
            <a:r>
              <a:rPr dirty="0" spc="-30"/>
              <a:t> </a:t>
            </a:r>
            <a:r>
              <a:rPr dirty="0"/>
              <a:t>IoT</a:t>
            </a:r>
            <a:r>
              <a:rPr dirty="0" spc="-55"/>
              <a:t> </a:t>
            </a:r>
            <a:r>
              <a:rPr dirty="0"/>
              <a:t>system</a:t>
            </a:r>
            <a:r>
              <a:rPr dirty="0" spc="-20"/>
              <a:t> </a:t>
            </a:r>
            <a:r>
              <a:rPr dirty="0"/>
              <a:t>for</a:t>
            </a:r>
            <a:r>
              <a:rPr dirty="0" spc="-15"/>
              <a:t> </a:t>
            </a:r>
            <a:r>
              <a:rPr dirty="0"/>
              <a:t>waste</a:t>
            </a:r>
            <a:r>
              <a:rPr dirty="0" spc="-20"/>
              <a:t> </a:t>
            </a:r>
            <a:r>
              <a:rPr dirty="0"/>
              <a:t>sorting</a:t>
            </a:r>
            <a:r>
              <a:rPr dirty="0" spc="-30"/>
              <a:t> </a:t>
            </a:r>
            <a:r>
              <a:rPr dirty="0" spc="-20"/>
              <a:t>with </a:t>
            </a:r>
            <a:r>
              <a:rPr dirty="0"/>
              <a:t>continuous</a:t>
            </a:r>
            <a:r>
              <a:rPr dirty="0" spc="-60"/>
              <a:t> </a:t>
            </a:r>
            <a:r>
              <a:rPr dirty="0"/>
              <a:t>learning</a:t>
            </a:r>
            <a:r>
              <a:rPr dirty="0" spc="-50"/>
              <a:t> </a:t>
            </a:r>
            <a:r>
              <a:rPr dirty="0"/>
              <a:t>cycle,"</a:t>
            </a:r>
            <a:r>
              <a:rPr dirty="0" spc="-20"/>
              <a:t> </a:t>
            </a:r>
            <a:r>
              <a:rPr dirty="0"/>
              <a:t>University</a:t>
            </a:r>
            <a:r>
              <a:rPr dirty="0" spc="-55"/>
              <a:t> </a:t>
            </a:r>
            <a:r>
              <a:rPr dirty="0"/>
              <a:t>of</a:t>
            </a:r>
            <a:r>
              <a:rPr dirty="0" spc="-125"/>
              <a:t> </a:t>
            </a:r>
            <a:r>
              <a:rPr dirty="0"/>
              <a:t>Applied</a:t>
            </a:r>
            <a:r>
              <a:rPr dirty="0" spc="-45"/>
              <a:t> </a:t>
            </a:r>
            <a:r>
              <a:rPr dirty="0"/>
              <a:t>Sciences</a:t>
            </a:r>
            <a:r>
              <a:rPr dirty="0" spc="-35"/>
              <a:t> </a:t>
            </a:r>
            <a:r>
              <a:rPr dirty="0" spc="-10"/>
              <a:t>HES-</a:t>
            </a:r>
            <a:r>
              <a:rPr dirty="0"/>
              <a:t>SO,</a:t>
            </a:r>
            <a:r>
              <a:rPr dirty="0" spc="-30"/>
              <a:t> </a:t>
            </a:r>
            <a:r>
              <a:rPr dirty="0"/>
              <a:t>Geneva,</a:t>
            </a:r>
            <a:r>
              <a:rPr dirty="0" spc="-25"/>
              <a:t> </a:t>
            </a:r>
            <a:r>
              <a:rPr dirty="0" spc="-10"/>
              <a:t>Switzerland, 2023.</a:t>
            </a:r>
          </a:p>
          <a:p>
            <a:pPr algn="just" marL="241300" marR="52705" indent="-229235">
              <a:lnSpc>
                <a:spcPct val="80200"/>
              </a:lnSpc>
              <a:spcBef>
                <a:spcPts val="1815"/>
              </a:spcBef>
              <a:buFont typeface="Wingdings"/>
              <a:buChar char=""/>
              <a:tabLst>
                <a:tab pos="241300" algn="l"/>
              </a:tabLst>
            </a:pPr>
            <a:r>
              <a:rPr dirty="0"/>
              <a:t>5.</a:t>
            </a:r>
            <a:r>
              <a:rPr dirty="0" spc="-75"/>
              <a:t> </a:t>
            </a:r>
            <a:r>
              <a:rPr dirty="0" spc="-145"/>
              <a:t>P.</a:t>
            </a:r>
            <a:r>
              <a:rPr dirty="0" spc="20"/>
              <a:t> </a:t>
            </a:r>
            <a:r>
              <a:rPr dirty="0" spc="-10"/>
              <a:t>Wiriwithya,</a:t>
            </a:r>
            <a:r>
              <a:rPr dirty="0" spc="-35"/>
              <a:t> </a:t>
            </a:r>
            <a:r>
              <a:rPr dirty="0"/>
              <a:t>S. Rungnarongruek,</a:t>
            </a:r>
            <a:r>
              <a:rPr dirty="0" spc="-35"/>
              <a:t> </a:t>
            </a:r>
            <a:r>
              <a:rPr dirty="0"/>
              <a:t>S.</a:t>
            </a:r>
            <a:r>
              <a:rPr dirty="0" spc="5"/>
              <a:t> </a:t>
            </a:r>
            <a:r>
              <a:rPr dirty="0"/>
              <a:t>Pongamphai,</a:t>
            </a:r>
            <a:r>
              <a:rPr dirty="0" spc="-25"/>
              <a:t> </a:t>
            </a:r>
            <a:r>
              <a:rPr dirty="0"/>
              <a:t>S.</a:t>
            </a:r>
            <a:r>
              <a:rPr dirty="0" spc="5"/>
              <a:t> </a:t>
            </a:r>
            <a:r>
              <a:rPr dirty="0"/>
              <a:t>Puapatanakul,</a:t>
            </a:r>
            <a:r>
              <a:rPr dirty="0" spc="-35"/>
              <a:t> </a:t>
            </a:r>
            <a:r>
              <a:rPr dirty="0"/>
              <a:t>and</a:t>
            </a:r>
            <a:r>
              <a:rPr dirty="0" spc="10"/>
              <a:t> </a:t>
            </a:r>
            <a:r>
              <a:rPr dirty="0"/>
              <a:t>R. </a:t>
            </a:r>
            <a:r>
              <a:rPr dirty="0" spc="-10"/>
              <a:t>Chancharoen, </a:t>
            </a:r>
            <a:r>
              <a:rPr dirty="0"/>
              <a:t>"Smart</a:t>
            </a:r>
            <a:r>
              <a:rPr dirty="0" spc="-65"/>
              <a:t> </a:t>
            </a:r>
            <a:r>
              <a:rPr dirty="0"/>
              <a:t>Trash</a:t>
            </a:r>
            <a:r>
              <a:rPr dirty="0" spc="-35"/>
              <a:t> </a:t>
            </a:r>
            <a:r>
              <a:rPr dirty="0"/>
              <a:t>Classification</a:t>
            </a:r>
            <a:r>
              <a:rPr dirty="0" spc="-55"/>
              <a:t> </a:t>
            </a:r>
            <a:r>
              <a:rPr dirty="0"/>
              <a:t>Machine,"</a:t>
            </a:r>
            <a:r>
              <a:rPr dirty="0" spc="-40"/>
              <a:t> </a:t>
            </a:r>
            <a:r>
              <a:rPr dirty="0"/>
              <a:t>in</a:t>
            </a:r>
            <a:r>
              <a:rPr dirty="0" spc="-25"/>
              <a:t> </a:t>
            </a:r>
            <a:r>
              <a:rPr dirty="0"/>
              <a:t>2023</a:t>
            </a:r>
            <a:r>
              <a:rPr dirty="0" spc="-40"/>
              <a:t> </a:t>
            </a:r>
            <a:r>
              <a:rPr dirty="0"/>
              <a:t>9th</a:t>
            </a:r>
            <a:r>
              <a:rPr dirty="0" spc="-35"/>
              <a:t> </a:t>
            </a:r>
            <a:r>
              <a:rPr dirty="0"/>
              <a:t>International</a:t>
            </a:r>
            <a:r>
              <a:rPr dirty="0" spc="-65"/>
              <a:t> </a:t>
            </a:r>
            <a:r>
              <a:rPr dirty="0"/>
              <a:t>Conference</a:t>
            </a:r>
            <a:r>
              <a:rPr dirty="0" spc="-50"/>
              <a:t> </a:t>
            </a:r>
            <a:r>
              <a:rPr dirty="0"/>
              <a:t>on</a:t>
            </a:r>
            <a:r>
              <a:rPr dirty="0" spc="-25"/>
              <a:t> </a:t>
            </a:r>
            <a:r>
              <a:rPr dirty="0" spc="-10"/>
              <a:t>Mechatronics </a:t>
            </a:r>
            <a:r>
              <a:rPr dirty="0"/>
              <a:t>and</a:t>
            </a:r>
            <a:r>
              <a:rPr dirty="0" spc="-25"/>
              <a:t> </a:t>
            </a:r>
            <a:r>
              <a:rPr dirty="0"/>
              <a:t>Robotics</a:t>
            </a:r>
            <a:r>
              <a:rPr dirty="0" spc="-35"/>
              <a:t> </a:t>
            </a:r>
            <a:r>
              <a:rPr dirty="0"/>
              <a:t>Engineering,</a:t>
            </a:r>
            <a:r>
              <a:rPr dirty="0" spc="-40"/>
              <a:t> </a:t>
            </a:r>
            <a:r>
              <a:rPr dirty="0" spc="-10"/>
              <a:t>2023.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5715000"/>
            <a:chOff x="0" y="0"/>
            <a:chExt cx="12192000" cy="5715000"/>
          </a:xfrm>
        </p:grpSpPr>
        <p:sp>
          <p:nvSpPr>
            <p:cNvPr id="3" name="object 3"/>
            <p:cNvSpPr/>
            <p:nvPr/>
          </p:nvSpPr>
          <p:spPr>
            <a:xfrm>
              <a:off x="0" y="2577719"/>
              <a:ext cx="12192000" cy="0"/>
            </a:xfrm>
            <a:custGeom>
              <a:avLst/>
              <a:gdLst/>
              <a:ahLst/>
              <a:cxnLst/>
              <a:rect l="l" t="t" r="r" b="b"/>
              <a:pathLst>
                <a:path w="12192000" h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ln w="38100">
              <a:solidFill>
                <a:srgbClr val="51474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2514600"/>
              <a:ext cx="12192000" cy="0"/>
            </a:xfrm>
            <a:custGeom>
              <a:avLst/>
              <a:gdLst/>
              <a:ahLst/>
              <a:cxnLst/>
              <a:rect l="l" t="t" r="r" b="b"/>
              <a:pathLst>
                <a:path w="12192000" h="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ln w="12700">
              <a:solidFill>
                <a:srgbClr val="51474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0" y="2640838"/>
              <a:ext cx="12192000" cy="2941955"/>
            </a:xfrm>
            <a:custGeom>
              <a:avLst/>
              <a:gdLst/>
              <a:ahLst/>
              <a:cxnLst/>
              <a:rect l="l" t="t" r="r" b="b"/>
              <a:pathLst>
                <a:path w="12192000" h="2941954">
                  <a:moveTo>
                    <a:pt x="12192000" y="0"/>
                  </a:moveTo>
                  <a:lnTo>
                    <a:pt x="0" y="0"/>
                  </a:lnTo>
                  <a:lnTo>
                    <a:pt x="0" y="2941574"/>
                  </a:lnTo>
                  <a:lnTo>
                    <a:pt x="12192000" y="294157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51474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0" y="5645505"/>
              <a:ext cx="12192000" cy="0"/>
            </a:xfrm>
            <a:custGeom>
              <a:avLst/>
              <a:gdLst/>
              <a:ahLst/>
              <a:cxnLst/>
              <a:rect l="l" t="t" r="r" b="b"/>
              <a:pathLst>
                <a:path w="12192000" h="0">
                  <a:moveTo>
                    <a:pt x="12192000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51474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0" y="5708637"/>
              <a:ext cx="12192000" cy="0"/>
            </a:xfrm>
            <a:custGeom>
              <a:avLst/>
              <a:gdLst/>
              <a:ahLst/>
              <a:cxnLst/>
              <a:rect l="l" t="t" r="r" b="b"/>
              <a:pathLst>
                <a:path w="12192000" h="0">
                  <a:moveTo>
                    <a:pt x="1219200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51474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25880" y="0"/>
              <a:ext cx="1783207" cy="2971800"/>
            </a:xfrm>
            <a:prstGeom prst="rect">
              <a:avLst/>
            </a:prstGeom>
          </p:spPr>
        </p:pic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2921254" y="2957576"/>
            <a:ext cx="4435475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229">
                <a:solidFill>
                  <a:srgbClr val="FFFFFF"/>
                </a:solidFill>
                <a:latin typeface="Algerian"/>
                <a:cs typeface="Algerian"/>
              </a:rPr>
              <a:t>THANK</a:t>
            </a:r>
            <a:r>
              <a:rPr dirty="0" sz="6000" spc="655">
                <a:solidFill>
                  <a:srgbClr val="FFFFFF"/>
                </a:solidFill>
                <a:latin typeface="Algerian"/>
                <a:cs typeface="Algerian"/>
              </a:rPr>
              <a:t> </a:t>
            </a:r>
            <a:r>
              <a:rPr dirty="0" sz="6000" spc="145">
                <a:solidFill>
                  <a:srgbClr val="FFFFFF"/>
                </a:solidFill>
                <a:latin typeface="Algerian"/>
                <a:cs typeface="Algerian"/>
              </a:rPr>
              <a:t>YOU</a:t>
            </a:r>
            <a:endParaRPr sz="6000">
              <a:latin typeface="Algerian"/>
              <a:cs typeface="Algeri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Kavitha N.L</dc:creator>
  <dcterms:created xsi:type="dcterms:W3CDTF">2026-01-01T00:43:02Z</dcterms:created>
  <dcterms:modified xsi:type="dcterms:W3CDTF">2026-01-01T00:43:02Z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2025-12-31T00:00:00Z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2026-01-01T00:00:00Z</vt:filetime>
  </property>
  <property fmtid="{D5CDD505-2E9C-101B-9397-08002B2CF9AE}" pid="5" name="Producer">
    <vt:lpwstr>Microsoft® PowerPoint® 2021</vt:lpwstr>
  </property>
</Properties>
</file>